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1, 30 seconds. Introduce the group and one-sentence project purpose. Do not explain the architecture yet.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1, 75 seconds. Explain the user problem first, then connect it to distributed-system concerns: independent nodes, unreliable links, duplicates and concurrent users.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1, 60 seconds. State that current nodes are software simulators with interfaces designed for future ESP32 hardware.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2, 2 minutes. Trace the solid path left to right. Then explain dashed SSE fan-out and simulation commands. Emphasise that each layer can fail or scale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2, 75 seconds. Clearly distinguish simulated sensors from proposed physical sensors. Explain that the ESP32 reads interfaces, converts units, attaches metadata and publishes via Wi-Fi.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2, 90 seconds. Walk through all seven steps. Explain that SSE signals a change and the dashboard then refreshes current data.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2, 90 seconds. This slide directly addresses ICT304. Define idempotency in plain language: repeating the same operation has no additional effect.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3, 60 seconds. This is a real authenticated screenshot. Mention Celsius, percent, hPa, millimetres, kilometres per hour and battery percent.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3, 75 seconds. Do not show real .env values. State clearly that the current broker configuration is development-only and production requires TLS.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3, 90 seconds. Explain that tests cover invalid data and failure paths, not only successful input. The database count is a point-in-time observation and may be higher during the live demo.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3, 75 seconds. Choose two challenges to explain in detail; summarise the remaining two to stay on time.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presenters, 5 minutes. Rehearse with a timer. Start all services before class. Keep this slide visible only while introducing the demo, then switch to the browser. If the system fails, use the screenshot and explain the verified test results.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1, 60 seconds plus questions. Reconnect the conclusion to the original problem and avoid introducing new technical detail.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Invite questions. Be prepared to explain MQTT QoS 1, why duplicates occur, what happens when the Internet fails, the difference between admin and viewer, and which sensors would be used in physical hardware.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2D44"/>
        </a:solidFill>
        <a:effectLst/>
      </p:bgPr>
    </p:bg>
    <p:spTree>
      <p:nvGrpSpPr>
        <p:cNvPr id="1" name=""/>
        <p:cNvGrpSpPr/>
        <p:nvPr/>
      </p:nvGrpSpPr>
      <p:grpSpPr/>
      <p:sp>
        <p:nvSpPr>
          <p:cNvPr id="2" name="TextBox 1"/>
          <p:cNvSpPr txBox="1"/>
          <p:nvPr/>
        </p:nvSpPr>
        <p:spPr>
          <a:xfrm>
            <a:off x="713232" y="603504"/>
            <a:ext cx="2011680" cy="347472"/>
          </a:xfrm>
          <a:prstGeom prst="rect">
            <a:avLst/>
          </a:prstGeom>
          <a:noFill/>
        </p:spPr>
        <p:txBody>
          <a:bodyPr wrap="square" anchor="t">
            <a:spAutoFit/>
          </a:bodyPr>
          <a:lstStyle/>
          <a:p>
            <a:pPr algn="l">
              <a:defRPr sz="1200" b="1">
                <a:solidFill>
                  <a:srgbClr val="68D9CD"/>
                </a:solidFill>
                <a:latin typeface="Aptos"/>
              </a:defRPr>
            </a:pPr>
            <a:r>
              <a:t>ICT304 · ASSESSMENT 3</a:t>
            </a:r>
          </a:p>
        </p:txBody>
      </p:sp>
      <p:sp>
        <p:nvSpPr>
          <p:cNvPr id="3" name="TextBox 2"/>
          <p:cNvSpPr txBox="1"/>
          <p:nvPr/>
        </p:nvSpPr>
        <p:spPr>
          <a:xfrm>
            <a:off x="713232" y="1234440"/>
            <a:ext cx="8138160" cy="713232"/>
          </a:xfrm>
          <a:prstGeom prst="rect">
            <a:avLst/>
          </a:prstGeom>
          <a:noFill/>
        </p:spPr>
        <p:txBody>
          <a:bodyPr wrap="square" anchor="t">
            <a:spAutoFit/>
          </a:bodyPr>
          <a:lstStyle/>
          <a:p>
            <a:pPr algn="l">
              <a:defRPr sz="4000" b="1">
                <a:solidFill>
                  <a:srgbClr val="FFFFFF"/>
                </a:solidFill>
                <a:latin typeface="Aptos"/>
              </a:defRPr>
            </a:pPr>
            <a:r>
              <a:t>WeatherGrid</a:t>
            </a:r>
          </a:p>
        </p:txBody>
      </p:sp>
      <p:sp>
        <p:nvSpPr>
          <p:cNvPr id="4" name="TextBox 3"/>
          <p:cNvSpPr txBox="1"/>
          <p:nvPr/>
        </p:nvSpPr>
        <p:spPr>
          <a:xfrm>
            <a:off x="713232" y="1965960"/>
            <a:ext cx="8595360" cy="594360"/>
          </a:xfrm>
          <a:prstGeom prst="rect">
            <a:avLst/>
          </a:prstGeom>
          <a:noFill/>
        </p:spPr>
        <p:txBody>
          <a:bodyPr wrap="square" anchor="t">
            <a:spAutoFit/>
          </a:bodyPr>
          <a:lstStyle/>
          <a:p>
            <a:pPr algn="l">
              <a:defRPr sz="2400" b="1">
                <a:solidFill>
                  <a:srgbClr val="CFE7EE"/>
                </a:solidFill>
                <a:latin typeface="Aptos"/>
              </a:defRPr>
            </a:pPr>
            <a:r>
              <a:t>Distributed IoT Weather Monitoring System</a:t>
            </a:r>
          </a:p>
        </p:txBody>
      </p:sp>
      <p:sp>
        <p:nvSpPr>
          <p:cNvPr id="5" name="TextBox 4"/>
          <p:cNvSpPr txBox="1"/>
          <p:nvPr/>
        </p:nvSpPr>
        <p:spPr>
          <a:xfrm>
            <a:off x="713232" y="2834640"/>
            <a:ext cx="6766560" cy="640080"/>
          </a:xfrm>
          <a:prstGeom prst="rect">
            <a:avLst/>
          </a:prstGeom>
          <a:noFill/>
        </p:spPr>
        <p:txBody>
          <a:bodyPr wrap="square" anchor="t">
            <a:spAutoFit/>
          </a:bodyPr>
          <a:lstStyle/>
          <a:p>
            <a:pPr algn="l">
              <a:defRPr sz="1800" b="0">
                <a:solidFill>
                  <a:srgbClr val="FFFFFF"/>
                </a:solidFill>
                <a:latin typeface="Aptos"/>
              </a:defRPr>
            </a:pPr>
            <a:r>
              <a:t>Reliable local weather telemetry from sensor node to live web dashboard.</a:t>
            </a:r>
          </a:p>
        </p:txBody>
      </p:sp>
      <p:sp>
        <p:nvSpPr>
          <p:cNvPr id="6" name="Rounded Rectangle 5"/>
          <p:cNvSpPr/>
          <p:nvPr/>
        </p:nvSpPr>
        <p:spPr>
          <a:xfrm>
            <a:off x="713232" y="3822191"/>
            <a:ext cx="1508760" cy="384048"/>
          </a:xfrm>
          <a:prstGeom prst="roundRect">
            <a:avLst/>
          </a:prstGeom>
          <a:solidFill>
            <a:srgbClr val="694E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3831335"/>
            <a:ext cx="1508760" cy="329184"/>
          </a:xfrm>
          <a:prstGeom prst="rect">
            <a:avLst/>
          </a:prstGeom>
          <a:noFill/>
        </p:spPr>
        <p:txBody>
          <a:bodyPr wrap="square" anchor="ctr">
            <a:spAutoFit/>
          </a:bodyPr>
          <a:lstStyle/>
          <a:p>
            <a:pPr algn="ctr">
              <a:defRPr sz="1000" b="1">
                <a:solidFill>
                  <a:srgbClr val="FFFFFF"/>
                </a:solidFill>
                <a:latin typeface="Aptos"/>
              </a:defRPr>
            </a:pPr>
            <a:r>
              <a:t>MQTT QoS 1</a:t>
            </a:r>
          </a:p>
        </p:txBody>
      </p:sp>
      <p:sp>
        <p:nvSpPr>
          <p:cNvPr id="8" name="Rounded Rectangle 7"/>
          <p:cNvSpPr/>
          <p:nvPr/>
        </p:nvSpPr>
        <p:spPr>
          <a:xfrm>
            <a:off x="2359152" y="3822191"/>
            <a:ext cx="1600200" cy="384048"/>
          </a:xfrm>
          <a:prstGeom prst="roundRect">
            <a:avLst/>
          </a:prstGeom>
          <a:solidFill>
            <a:srgbClr val="007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59152" y="3831335"/>
            <a:ext cx="1600200" cy="329184"/>
          </a:xfrm>
          <a:prstGeom prst="rect">
            <a:avLst/>
          </a:prstGeom>
          <a:noFill/>
        </p:spPr>
        <p:txBody>
          <a:bodyPr wrap="square" anchor="ctr">
            <a:spAutoFit/>
          </a:bodyPr>
          <a:lstStyle/>
          <a:p>
            <a:pPr algn="ctr">
              <a:defRPr sz="1000" b="1">
                <a:solidFill>
                  <a:srgbClr val="FFFFFF"/>
                </a:solidFill>
                <a:latin typeface="Aptos"/>
              </a:defRPr>
            </a:pPr>
            <a:r>
              <a:t>Edge buffering</a:t>
            </a:r>
          </a:p>
        </p:txBody>
      </p:sp>
      <p:sp>
        <p:nvSpPr>
          <p:cNvPr id="10" name="Rounded Rectangle 9"/>
          <p:cNvSpPr/>
          <p:nvPr/>
        </p:nvSpPr>
        <p:spPr>
          <a:xfrm>
            <a:off x="4096512" y="3822191"/>
            <a:ext cx="1508760" cy="384048"/>
          </a:xfrm>
          <a:prstGeom prst="roundRect">
            <a:avLst/>
          </a:prstGeom>
          <a:solidFill>
            <a:srgbClr val="2D6C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96512" y="3831335"/>
            <a:ext cx="1508760" cy="329184"/>
          </a:xfrm>
          <a:prstGeom prst="rect">
            <a:avLst/>
          </a:prstGeom>
          <a:noFill/>
        </p:spPr>
        <p:txBody>
          <a:bodyPr wrap="square" anchor="ctr">
            <a:spAutoFit/>
          </a:bodyPr>
          <a:lstStyle/>
          <a:p>
            <a:pPr algn="ctr">
              <a:defRPr sz="1000" b="1">
                <a:solidFill>
                  <a:srgbClr val="FFFFFF"/>
                </a:solidFill>
                <a:latin typeface="Aptos"/>
              </a:defRPr>
            </a:pPr>
            <a:r>
              <a:t>Live SSE</a:t>
            </a:r>
          </a:p>
        </p:txBody>
      </p:sp>
      <p:sp>
        <p:nvSpPr>
          <p:cNvPr id="12" name="Rounded Rectangle 11"/>
          <p:cNvSpPr/>
          <p:nvPr/>
        </p:nvSpPr>
        <p:spPr>
          <a:xfrm>
            <a:off x="5742432" y="3822191"/>
            <a:ext cx="1737360" cy="384048"/>
          </a:xfrm>
          <a:prstGeom prst="roundRect">
            <a:avLst/>
          </a:prstGeom>
          <a:solidFill>
            <a:srgbClr val="B9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831335"/>
            <a:ext cx="1737360" cy="329184"/>
          </a:xfrm>
          <a:prstGeom prst="rect">
            <a:avLst/>
          </a:prstGeom>
          <a:noFill/>
        </p:spPr>
        <p:txBody>
          <a:bodyPr wrap="square" anchor="ctr">
            <a:spAutoFit/>
          </a:bodyPr>
          <a:lstStyle/>
          <a:p>
            <a:pPr algn="ctr">
              <a:defRPr sz="1000" b="1">
                <a:solidFill>
                  <a:srgbClr val="FFFFFF"/>
                </a:solidFill>
                <a:latin typeface="Aptos"/>
              </a:defRPr>
            </a:pPr>
            <a:r>
              <a:t>PostgreSQL</a:t>
            </a:r>
          </a:p>
        </p:txBody>
      </p:sp>
      <p:sp>
        <p:nvSpPr>
          <p:cNvPr id="14" name="TextBox 13"/>
          <p:cNvSpPr txBox="1"/>
          <p:nvPr/>
        </p:nvSpPr>
        <p:spPr>
          <a:xfrm>
            <a:off x="713232" y="5047488"/>
            <a:ext cx="6217920" cy="731520"/>
          </a:xfrm>
          <a:prstGeom prst="rect">
            <a:avLst/>
          </a:prstGeom>
          <a:noFill/>
        </p:spPr>
        <p:txBody>
          <a:bodyPr wrap="square" anchor="t">
            <a:spAutoFit/>
          </a:bodyPr>
          <a:lstStyle/>
          <a:p>
            <a:pPr algn="l">
              <a:defRPr sz="1400" b="0">
                <a:solidFill>
                  <a:srgbClr val="CFE7EE"/>
                </a:solidFill>
                <a:latin typeface="Aptos"/>
              </a:defRPr>
            </a:pPr>
            <a:r>
              <a:t>Group [INSERT NUMBER]</a:t>
            </a:r>
            <a:br/>
            <a:r>
              <a:t>[INSERT NAMES AND STUDENT IDs]</a:t>
            </a:r>
          </a:p>
        </p:txBody>
      </p:sp>
      <p:sp>
        <p:nvSpPr>
          <p:cNvPr id="15" name="TextBox 14"/>
          <p:cNvSpPr txBox="1"/>
          <p:nvPr/>
        </p:nvSpPr>
        <p:spPr>
          <a:xfrm>
            <a:off x="9692640" y="6080760"/>
            <a:ext cx="1737360" cy="228600"/>
          </a:xfrm>
          <a:prstGeom prst="rect">
            <a:avLst/>
          </a:prstGeom>
          <a:noFill/>
        </p:spPr>
        <p:txBody>
          <a:bodyPr wrap="square" anchor="t">
            <a:spAutoFit/>
          </a:bodyPr>
          <a:lstStyle/>
          <a:p>
            <a:pPr algn="r">
              <a:defRPr sz="900" b="0">
                <a:solidFill>
                  <a:srgbClr val="A9C5D0"/>
                </a:solidFill>
                <a:latin typeface="Aptos"/>
              </a:defRPr>
            </a:pPr>
            <a:r>
              <a:t>15-minute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566928" y="310896"/>
            <a:ext cx="502920" cy="347472"/>
          </a:xfrm>
          <a:prstGeom prst="rect">
            <a:avLst/>
          </a:prstGeom>
          <a:noFill/>
        </p:spPr>
        <p:txBody>
          <a:bodyPr wrap="square" anchor="t">
            <a:spAutoFit/>
          </a:bodyPr>
          <a:lstStyle/>
          <a:p>
            <a:pPr algn="l">
              <a:defRPr sz="1300" b="1">
                <a:solidFill>
                  <a:srgbClr val="007E89"/>
                </a:solidFill>
                <a:latin typeface="Aptos"/>
              </a:defRPr>
            </a:pPr>
            <a:r>
              <a:t>02</a:t>
            </a:r>
          </a:p>
        </p:txBody>
      </p:sp>
      <p:sp>
        <p:nvSpPr>
          <p:cNvPr id="3" name="TextBox 2"/>
          <p:cNvSpPr txBox="1"/>
          <p:nvPr/>
        </p:nvSpPr>
        <p:spPr>
          <a:xfrm>
            <a:off x="1078992" y="228600"/>
            <a:ext cx="10469880" cy="475488"/>
          </a:xfrm>
          <a:prstGeom prst="rect">
            <a:avLst/>
          </a:prstGeom>
          <a:noFill/>
        </p:spPr>
        <p:txBody>
          <a:bodyPr wrap="square" anchor="t">
            <a:spAutoFit/>
          </a:bodyPr>
          <a:lstStyle/>
          <a:p>
            <a:pPr algn="l">
              <a:defRPr sz="2600" b="1">
                <a:solidFill>
                  <a:srgbClr val="122D44"/>
                </a:solidFill>
                <a:latin typeface="Aptos"/>
              </a:defRPr>
            </a:pPr>
            <a:r>
              <a:t>Problem and project objectives</a:t>
            </a:r>
          </a:p>
        </p:txBody>
      </p:sp>
      <p:sp>
        <p:nvSpPr>
          <p:cNvPr id="4" name="TextBox 3"/>
          <p:cNvSpPr txBox="1"/>
          <p:nvPr/>
        </p:nvSpPr>
        <p:spPr>
          <a:xfrm>
            <a:off x="1078992" y="722376"/>
            <a:ext cx="10149840" cy="347472"/>
          </a:xfrm>
          <a:prstGeom prst="rect">
            <a:avLst/>
          </a:prstGeom>
          <a:noFill/>
        </p:spPr>
        <p:txBody>
          <a:bodyPr wrap="square" anchor="t">
            <a:spAutoFit/>
          </a:bodyPr>
          <a:lstStyle/>
          <a:p>
            <a:pPr algn="l">
              <a:defRPr sz="1100" b="0">
                <a:solidFill>
                  <a:srgbClr val="556575"/>
                </a:solidFill>
                <a:latin typeface="Aptos"/>
              </a:defRPr>
            </a:pPr>
            <a:r>
              <a:t>Why a distributed weather platform is needed</a:t>
            </a:r>
          </a:p>
        </p:txBody>
      </p:sp>
      <p:sp>
        <p:nvSpPr>
          <p:cNvPr id="5" name="Rectangle 4"/>
          <p:cNvSpPr/>
          <p:nvPr/>
        </p:nvSpPr>
        <p:spPr>
          <a:xfrm>
            <a:off x="566928" y="1097280"/>
            <a:ext cx="11018520" cy="22860"/>
          </a:xfrm>
          <a:prstGeom prst="rect">
            <a:avLst/>
          </a:prstGeom>
          <a:solidFill>
            <a:srgbClr val="D8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 y="1399032"/>
            <a:ext cx="3383280" cy="4389120"/>
          </a:xfrm>
          <a:prstGeom prst="roundRect">
            <a:avLst/>
          </a:prstGeom>
          <a:solidFill>
            <a:srgbClr val="FFFFFF"/>
          </a:solidFill>
          <a:ln w="1270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 y="1399032"/>
            <a:ext cx="64008" cy="4389120"/>
          </a:xfrm>
          <a:prstGeom prst="rect">
            <a:avLst/>
          </a:prstGeom>
          <a:solidFill>
            <a:srgbClr val="C238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0392" y="1563624"/>
            <a:ext cx="2971800" cy="347472"/>
          </a:xfrm>
          <a:prstGeom prst="rect">
            <a:avLst/>
          </a:prstGeom>
          <a:noFill/>
        </p:spPr>
        <p:txBody>
          <a:bodyPr wrap="square" anchor="t">
            <a:spAutoFit/>
          </a:bodyPr>
          <a:lstStyle/>
          <a:p>
            <a:pPr algn="l">
              <a:defRPr sz="1800" b="1">
                <a:solidFill>
                  <a:srgbClr val="122D44"/>
                </a:solidFill>
                <a:latin typeface="Aptos"/>
              </a:defRPr>
            </a:pPr>
            <a:r>
              <a:t>The problem</a:t>
            </a:r>
          </a:p>
        </p:txBody>
      </p:sp>
      <p:sp>
        <p:nvSpPr>
          <p:cNvPr id="9" name="TextBox 8"/>
          <p:cNvSpPr txBox="1"/>
          <p:nvPr/>
        </p:nvSpPr>
        <p:spPr>
          <a:xfrm>
            <a:off x="850392" y="2020824"/>
            <a:ext cx="2971800" cy="3639312"/>
          </a:xfrm>
          <a:prstGeom prst="rect">
            <a:avLst/>
          </a:prstGeom>
          <a:noFill/>
        </p:spPr>
        <p:txBody>
          <a:bodyPr wrap="square" anchor="t">
            <a:spAutoFit/>
          </a:bodyPr>
          <a:lstStyle/>
          <a:p>
            <a:pPr algn="l">
              <a:defRPr sz="1500" b="0">
                <a:solidFill>
                  <a:srgbClr val="556575"/>
                </a:solidFill>
                <a:latin typeface="Aptos"/>
              </a:defRPr>
            </a:pPr>
            <a:r>
              <a:t>Broad public forecasts may not represent a specific farm, campus or facility. Local operators need current, site-level observations and alerts, even when connectivity is unreliable.</a:t>
            </a:r>
          </a:p>
        </p:txBody>
      </p:sp>
      <p:sp>
        <p:nvSpPr>
          <p:cNvPr id="10" name="Rounded Rectangle 9"/>
          <p:cNvSpPr/>
          <p:nvPr/>
        </p:nvSpPr>
        <p:spPr>
          <a:xfrm>
            <a:off x="4242816" y="1399032"/>
            <a:ext cx="3383280" cy="4389120"/>
          </a:xfrm>
          <a:prstGeom prst="roundRect">
            <a:avLst/>
          </a:prstGeom>
          <a:solidFill>
            <a:srgbClr val="FFFFFF"/>
          </a:solidFill>
          <a:ln w="1270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42816" y="1399032"/>
            <a:ext cx="64008" cy="4389120"/>
          </a:xfrm>
          <a:prstGeom prst="rect">
            <a:avLst/>
          </a:prstGeom>
          <a:solidFill>
            <a:srgbClr val="694E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71416" y="1563624"/>
            <a:ext cx="2971800" cy="347472"/>
          </a:xfrm>
          <a:prstGeom prst="rect">
            <a:avLst/>
          </a:prstGeom>
          <a:noFill/>
        </p:spPr>
        <p:txBody>
          <a:bodyPr wrap="square" anchor="t">
            <a:spAutoFit/>
          </a:bodyPr>
          <a:lstStyle/>
          <a:p>
            <a:pPr algn="l">
              <a:defRPr sz="1800" b="1">
                <a:solidFill>
                  <a:srgbClr val="122D44"/>
                </a:solidFill>
                <a:latin typeface="Aptos"/>
              </a:defRPr>
            </a:pPr>
            <a:r>
              <a:t>Technical challenge</a:t>
            </a:r>
          </a:p>
        </p:txBody>
      </p:sp>
      <p:sp>
        <p:nvSpPr>
          <p:cNvPr id="13" name="TextBox 12"/>
          <p:cNvSpPr txBox="1"/>
          <p:nvPr/>
        </p:nvSpPr>
        <p:spPr>
          <a:xfrm>
            <a:off x="4471416" y="2020824"/>
            <a:ext cx="2971800" cy="3639312"/>
          </a:xfrm>
          <a:prstGeom prst="rect">
            <a:avLst/>
          </a:prstGeom>
          <a:noFill/>
        </p:spPr>
        <p:txBody>
          <a:bodyPr wrap="square" anchor="t">
            <a:spAutoFit/>
          </a:bodyPr>
          <a:lstStyle/>
          <a:p>
            <a:pPr algn="l">
              <a:defRPr sz="1500" b="0">
                <a:solidFill>
                  <a:srgbClr val="556575"/>
                </a:solidFill>
                <a:latin typeface="Aptos"/>
              </a:defRPr>
            </a:pPr>
            <a:r>
              <a:t>Sensors are geographically distributed. Messages may be delayed or duplicated. Multiple users need consistent, secure access while services can fail independently.</a:t>
            </a:r>
          </a:p>
        </p:txBody>
      </p:sp>
      <p:sp>
        <p:nvSpPr>
          <p:cNvPr id="14" name="Rounded Rectangle 13"/>
          <p:cNvSpPr/>
          <p:nvPr/>
        </p:nvSpPr>
        <p:spPr>
          <a:xfrm>
            <a:off x="7863840" y="1399032"/>
            <a:ext cx="3383280" cy="4389120"/>
          </a:xfrm>
          <a:prstGeom prst="roundRect">
            <a:avLst/>
          </a:prstGeom>
          <a:solidFill>
            <a:srgbClr val="FFFFFF"/>
          </a:solidFill>
          <a:ln w="1270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863840" y="1399032"/>
            <a:ext cx="64008" cy="4389120"/>
          </a:xfrm>
          <a:prstGeom prst="rect">
            <a:avLst/>
          </a:prstGeom>
          <a:solidFill>
            <a:srgbClr val="007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92440" y="1563624"/>
            <a:ext cx="2971800" cy="347472"/>
          </a:xfrm>
          <a:prstGeom prst="rect">
            <a:avLst/>
          </a:prstGeom>
          <a:noFill/>
        </p:spPr>
        <p:txBody>
          <a:bodyPr wrap="square" anchor="t">
            <a:spAutoFit/>
          </a:bodyPr>
          <a:lstStyle/>
          <a:p>
            <a:pPr algn="l">
              <a:defRPr sz="1800" b="1">
                <a:solidFill>
                  <a:srgbClr val="122D44"/>
                </a:solidFill>
                <a:latin typeface="Aptos"/>
              </a:defRPr>
            </a:pPr>
            <a:r>
              <a:t>Our objective</a:t>
            </a:r>
          </a:p>
        </p:txBody>
      </p:sp>
      <p:sp>
        <p:nvSpPr>
          <p:cNvPr id="17" name="TextBox 16"/>
          <p:cNvSpPr txBox="1"/>
          <p:nvPr/>
        </p:nvSpPr>
        <p:spPr>
          <a:xfrm>
            <a:off x="8092440" y="2020824"/>
            <a:ext cx="2971800" cy="3639312"/>
          </a:xfrm>
          <a:prstGeom prst="rect">
            <a:avLst/>
          </a:prstGeom>
          <a:noFill/>
        </p:spPr>
        <p:txBody>
          <a:bodyPr wrap="square" anchor="t">
            <a:spAutoFit/>
          </a:bodyPr>
          <a:lstStyle/>
          <a:p>
            <a:pPr algn="l">
              <a:defRPr sz="1500" b="0">
                <a:solidFill>
                  <a:srgbClr val="556575"/>
                </a:solidFill>
                <a:latin typeface="Aptos"/>
              </a:defRPr>
            </a:pPr>
            <a:r>
              <a:t>Collect six weather measures from multiple stations, deliver them reliably, store each reading once, detect abnormalities and present live information through an authenticated web application.</a:t>
            </a:r>
          </a:p>
        </p:txBody>
      </p:sp>
      <p:sp>
        <p:nvSpPr>
          <p:cNvPr id="18" name="TextBox 17"/>
          <p:cNvSpPr txBox="1"/>
          <p:nvPr/>
        </p:nvSpPr>
        <p:spPr>
          <a:xfrm>
            <a:off x="576072" y="6519672"/>
            <a:ext cx="4754880" cy="182880"/>
          </a:xfrm>
          <a:prstGeom prst="rect">
            <a:avLst/>
          </a:prstGeom>
          <a:noFill/>
        </p:spPr>
        <p:txBody>
          <a:bodyPr wrap="square" anchor="t">
            <a:spAutoFit/>
          </a:bodyPr>
          <a:lstStyle/>
          <a:p>
            <a:pPr algn="l">
              <a:defRPr sz="800" b="0">
                <a:solidFill>
                  <a:srgbClr val="556575"/>
                </a:solidFill>
                <a:latin typeface="Aptos"/>
              </a:defRPr>
            </a:pPr>
            <a:r>
              <a:t>ICT304 | WeatherGrid</a:t>
            </a:r>
          </a:p>
        </p:txBody>
      </p:sp>
      <p:sp>
        <p:nvSpPr>
          <p:cNvPr id="19" name="TextBox 18"/>
          <p:cNvSpPr txBox="1"/>
          <p:nvPr/>
        </p:nvSpPr>
        <p:spPr>
          <a:xfrm>
            <a:off x="10789920" y="6519672"/>
            <a:ext cx="731520" cy="182880"/>
          </a:xfrm>
          <a:prstGeom prst="rect">
            <a:avLst/>
          </a:prstGeom>
          <a:noFill/>
        </p:spPr>
        <p:txBody>
          <a:bodyPr wrap="square" anchor="t">
            <a:spAutoFit/>
          </a:bodyPr>
          <a:lstStyle/>
          <a:p>
            <a:pPr algn="r">
              <a:defRPr sz="800" b="0">
                <a:solidFill>
                  <a:srgbClr val="556575"/>
                </a:solidFill>
                <a:latin typeface="Aptos"/>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566928" y="310896"/>
            <a:ext cx="502920" cy="347472"/>
          </a:xfrm>
          <a:prstGeom prst="rect">
            <a:avLst/>
          </a:prstGeom>
          <a:noFill/>
        </p:spPr>
        <p:txBody>
          <a:bodyPr wrap="square" anchor="t">
            <a:spAutoFit/>
          </a:bodyPr>
          <a:lstStyle/>
          <a:p>
            <a:pPr algn="l">
              <a:defRPr sz="1300" b="1">
                <a:solidFill>
                  <a:srgbClr val="007E89"/>
                </a:solidFill>
                <a:latin typeface="Aptos"/>
              </a:defRPr>
            </a:pPr>
            <a:r>
              <a:t>03</a:t>
            </a:r>
          </a:p>
        </p:txBody>
      </p:sp>
      <p:sp>
        <p:nvSpPr>
          <p:cNvPr id="3" name="TextBox 2"/>
          <p:cNvSpPr txBox="1"/>
          <p:nvPr/>
        </p:nvSpPr>
        <p:spPr>
          <a:xfrm>
            <a:off x="1078992" y="228600"/>
            <a:ext cx="10469880" cy="475488"/>
          </a:xfrm>
          <a:prstGeom prst="rect">
            <a:avLst/>
          </a:prstGeom>
          <a:noFill/>
        </p:spPr>
        <p:txBody>
          <a:bodyPr wrap="square" anchor="t">
            <a:spAutoFit/>
          </a:bodyPr>
          <a:lstStyle/>
          <a:p>
            <a:pPr algn="l">
              <a:defRPr sz="2600" b="1">
                <a:solidFill>
                  <a:srgbClr val="122D44"/>
                </a:solidFill>
                <a:latin typeface="Aptos"/>
              </a:defRPr>
            </a:pPr>
            <a:r>
              <a:t>Solution at a glance</a:t>
            </a:r>
          </a:p>
        </p:txBody>
      </p:sp>
      <p:sp>
        <p:nvSpPr>
          <p:cNvPr id="4" name="TextBox 3"/>
          <p:cNvSpPr txBox="1"/>
          <p:nvPr/>
        </p:nvSpPr>
        <p:spPr>
          <a:xfrm>
            <a:off x="1078992" y="722376"/>
            <a:ext cx="10149840" cy="347472"/>
          </a:xfrm>
          <a:prstGeom prst="rect">
            <a:avLst/>
          </a:prstGeom>
          <a:noFill/>
        </p:spPr>
        <p:txBody>
          <a:bodyPr wrap="square" anchor="t">
            <a:spAutoFit/>
          </a:bodyPr>
          <a:lstStyle/>
          <a:p>
            <a:pPr algn="l">
              <a:defRPr sz="1100" b="0">
                <a:solidFill>
                  <a:srgbClr val="556575"/>
                </a:solidFill>
                <a:latin typeface="Aptos"/>
              </a:defRPr>
            </a:pPr>
            <a:r>
              <a:t>Three stations, one fault-tolerant data path</a:t>
            </a:r>
          </a:p>
        </p:txBody>
      </p:sp>
      <p:sp>
        <p:nvSpPr>
          <p:cNvPr id="5" name="Rectangle 4"/>
          <p:cNvSpPr/>
          <p:nvPr/>
        </p:nvSpPr>
        <p:spPr>
          <a:xfrm>
            <a:off x="566928" y="1097280"/>
            <a:ext cx="11018520" cy="22860"/>
          </a:xfrm>
          <a:prstGeom prst="rect">
            <a:avLst/>
          </a:prstGeom>
          <a:solidFill>
            <a:srgbClr val="D8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17320"/>
            <a:ext cx="2971800" cy="1325880"/>
          </a:xfrm>
          <a:prstGeom prst="roundRect">
            <a:avLst/>
          </a:prstGeom>
          <a:solidFill>
            <a:srgbClr val="FFFFFF"/>
          </a:solidFill>
          <a:ln w="1270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17320"/>
            <a:ext cx="64008" cy="1325880"/>
          </a:xfrm>
          <a:prstGeom prst="rect">
            <a:avLst/>
          </a:prstGeom>
          <a:solidFill>
            <a:srgbClr val="2D6C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81912"/>
            <a:ext cx="2560320" cy="347472"/>
          </a:xfrm>
          <a:prstGeom prst="rect">
            <a:avLst/>
          </a:prstGeom>
          <a:noFill/>
        </p:spPr>
        <p:txBody>
          <a:bodyPr wrap="square" anchor="t">
            <a:spAutoFit/>
          </a:bodyPr>
          <a:lstStyle/>
          <a:p>
            <a:pPr algn="l">
              <a:defRPr sz="1800" b="1">
                <a:solidFill>
                  <a:srgbClr val="122D44"/>
                </a:solidFill>
                <a:latin typeface="Aptos"/>
              </a:defRPr>
            </a:pPr>
            <a:r>
              <a:t>SYDNEY</a:t>
            </a:r>
          </a:p>
        </p:txBody>
      </p:sp>
      <p:sp>
        <p:nvSpPr>
          <p:cNvPr id="9" name="TextBox 8"/>
          <p:cNvSpPr txBox="1"/>
          <p:nvPr/>
        </p:nvSpPr>
        <p:spPr>
          <a:xfrm>
            <a:off x="960120" y="2039112"/>
            <a:ext cx="2560320" cy="576072"/>
          </a:xfrm>
          <a:prstGeom prst="rect">
            <a:avLst/>
          </a:prstGeom>
          <a:noFill/>
        </p:spPr>
        <p:txBody>
          <a:bodyPr wrap="square" anchor="t">
            <a:spAutoFit/>
          </a:bodyPr>
          <a:lstStyle/>
          <a:p>
            <a:pPr algn="l">
              <a:defRPr sz="1400" b="0">
                <a:solidFill>
                  <a:srgbClr val="556575"/>
                </a:solidFill>
                <a:latin typeface="Aptos"/>
              </a:defRPr>
            </a:pPr>
            <a:r>
              <a:t>WX-SYD-001</a:t>
            </a:r>
          </a:p>
        </p:txBody>
      </p:sp>
      <p:sp>
        <p:nvSpPr>
          <p:cNvPr id="10" name="Rounded Rectangle 9"/>
          <p:cNvSpPr/>
          <p:nvPr/>
        </p:nvSpPr>
        <p:spPr>
          <a:xfrm>
            <a:off x="4251960" y="1417320"/>
            <a:ext cx="2971800" cy="1325880"/>
          </a:xfrm>
          <a:prstGeom prst="roundRect">
            <a:avLst/>
          </a:prstGeom>
          <a:solidFill>
            <a:srgbClr val="FFFFFF"/>
          </a:solidFill>
          <a:ln w="1270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51960" y="1417320"/>
            <a:ext cx="64008" cy="1325880"/>
          </a:xfrm>
          <a:prstGeom prst="rect">
            <a:avLst/>
          </a:prstGeom>
          <a:solidFill>
            <a:srgbClr val="2D6C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581912"/>
            <a:ext cx="2560320" cy="347472"/>
          </a:xfrm>
          <a:prstGeom prst="rect">
            <a:avLst/>
          </a:prstGeom>
          <a:noFill/>
        </p:spPr>
        <p:txBody>
          <a:bodyPr wrap="square" anchor="t">
            <a:spAutoFit/>
          </a:bodyPr>
          <a:lstStyle/>
          <a:p>
            <a:pPr algn="l">
              <a:defRPr sz="1800" b="1">
                <a:solidFill>
                  <a:srgbClr val="122D44"/>
                </a:solidFill>
                <a:latin typeface="Aptos"/>
              </a:defRPr>
            </a:pPr>
            <a:r>
              <a:t>MELBOURNE</a:t>
            </a:r>
          </a:p>
        </p:txBody>
      </p:sp>
      <p:sp>
        <p:nvSpPr>
          <p:cNvPr id="13" name="TextBox 12"/>
          <p:cNvSpPr txBox="1"/>
          <p:nvPr/>
        </p:nvSpPr>
        <p:spPr>
          <a:xfrm>
            <a:off x="4480560" y="2039112"/>
            <a:ext cx="2560320" cy="576072"/>
          </a:xfrm>
          <a:prstGeom prst="rect">
            <a:avLst/>
          </a:prstGeom>
          <a:noFill/>
        </p:spPr>
        <p:txBody>
          <a:bodyPr wrap="square" anchor="t">
            <a:spAutoFit/>
          </a:bodyPr>
          <a:lstStyle/>
          <a:p>
            <a:pPr algn="l">
              <a:defRPr sz="1400" b="0">
                <a:solidFill>
                  <a:srgbClr val="556575"/>
                </a:solidFill>
                <a:latin typeface="Aptos"/>
              </a:defRPr>
            </a:pPr>
            <a:r>
              <a:t>WX-MEL-001</a:t>
            </a:r>
          </a:p>
        </p:txBody>
      </p:sp>
      <p:sp>
        <p:nvSpPr>
          <p:cNvPr id="14" name="Rounded Rectangle 13"/>
          <p:cNvSpPr/>
          <p:nvPr/>
        </p:nvSpPr>
        <p:spPr>
          <a:xfrm>
            <a:off x="7772400" y="1417320"/>
            <a:ext cx="2971800" cy="1325880"/>
          </a:xfrm>
          <a:prstGeom prst="roundRect">
            <a:avLst/>
          </a:prstGeom>
          <a:solidFill>
            <a:srgbClr val="FFFFFF"/>
          </a:solidFill>
          <a:ln w="1270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0" y="1417320"/>
            <a:ext cx="64008" cy="1325880"/>
          </a:xfrm>
          <a:prstGeom prst="rect">
            <a:avLst/>
          </a:prstGeom>
          <a:solidFill>
            <a:srgbClr val="2D6C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01000" y="1581912"/>
            <a:ext cx="2560320" cy="347472"/>
          </a:xfrm>
          <a:prstGeom prst="rect">
            <a:avLst/>
          </a:prstGeom>
          <a:noFill/>
        </p:spPr>
        <p:txBody>
          <a:bodyPr wrap="square" anchor="t">
            <a:spAutoFit/>
          </a:bodyPr>
          <a:lstStyle/>
          <a:p>
            <a:pPr algn="l">
              <a:defRPr sz="1800" b="1">
                <a:solidFill>
                  <a:srgbClr val="122D44"/>
                </a:solidFill>
                <a:latin typeface="Aptos"/>
              </a:defRPr>
            </a:pPr>
            <a:r>
              <a:t>BRISBANE</a:t>
            </a:r>
          </a:p>
        </p:txBody>
      </p:sp>
      <p:sp>
        <p:nvSpPr>
          <p:cNvPr id="17" name="TextBox 16"/>
          <p:cNvSpPr txBox="1"/>
          <p:nvPr/>
        </p:nvSpPr>
        <p:spPr>
          <a:xfrm>
            <a:off x="8001000" y="2039112"/>
            <a:ext cx="2560320" cy="576072"/>
          </a:xfrm>
          <a:prstGeom prst="rect">
            <a:avLst/>
          </a:prstGeom>
          <a:noFill/>
        </p:spPr>
        <p:txBody>
          <a:bodyPr wrap="square" anchor="t">
            <a:spAutoFit/>
          </a:bodyPr>
          <a:lstStyle/>
          <a:p>
            <a:pPr algn="l">
              <a:defRPr sz="1400" b="0">
                <a:solidFill>
                  <a:srgbClr val="556575"/>
                </a:solidFill>
                <a:latin typeface="Aptos"/>
              </a:defRPr>
            </a:pPr>
            <a:r>
              <a:t>WX-BNE-001</a:t>
            </a:r>
          </a:p>
        </p:txBody>
      </p:sp>
      <p:sp>
        <p:nvSpPr>
          <p:cNvPr id="18" name="TextBox 17"/>
          <p:cNvSpPr txBox="1"/>
          <p:nvPr/>
        </p:nvSpPr>
        <p:spPr>
          <a:xfrm>
            <a:off x="777240" y="3218688"/>
            <a:ext cx="10607040" cy="457200"/>
          </a:xfrm>
          <a:prstGeom prst="rect">
            <a:avLst/>
          </a:prstGeom>
          <a:noFill/>
        </p:spPr>
        <p:txBody>
          <a:bodyPr wrap="square" anchor="t">
            <a:spAutoFit/>
          </a:bodyPr>
          <a:lstStyle/>
          <a:p>
            <a:pPr algn="ctr">
              <a:defRPr sz="1900" b="1">
                <a:solidFill>
                  <a:srgbClr val="122D44"/>
                </a:solidFill>
                <a:latin typeface="Aptos"/>
              </a:defRPr>
            </a:pPr>
            <a:r>
              <a:t>Temperature  ·  Humidity  ·  Pressure  ·  Rainfall  ·  Wind speed  ·  Battery</a:t>
            </a:r>
          </a:p>
        </p:txBody>
      </p:sp>
      <p:sp>
        <p:nvSpPr>
          <p:cNvPr id="19" name="Oval 18"/>
          <p:cNvSpPr/>
          <p:nvPr/>
        </p:nvSpPr>
        <p:spPr>
          <a:xfrm>
            <a:off x="914400" y="4160520"/>
            <a:ext cx="566928" cy="566928"/>
          </a:xfrm>
          <a:prstGeom prst="ellipse">
            <a:avLst/>
          </a:prstGeom>
          <a:solidFill>
            <a:srgbClr val="694E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251960"/>
            <a:ext cx="566928" cy="274320"/>
          </a:xfrm>
          <a:prstGeom prst="rect">
            <a:avLst/>
          </a:prstGeom>
          <a:noFill/>
        </p:spPr>
        <p:txBody>
          <a:bodyPr wrap="square" anchor="t">
            <a:spAutoFit/>
          </a:bodyPr>
          <a:lstStyle/>
          <a:p>
            <a:pPr algn="ctr">
              <a:defRPr sz="1300" b="1">
                <a:solidFill>
                  <a:srgbClr val="FFFFFF"/>
                </a:solidFill>
                <a:latin typeface="Aptos"/>
              </a:defRPr>
            </a:pPr>
            <a:r>
              <a:t>1</a:t>
            </a:r>
          </a:p>
        </p:txBody>
      </p:sp>
      <p:sp>
        <p:nvSpPr>
          <p:cNvPr id="21" name="TextBox 20"/>
          <p:cNvSpPr txBox="1"/>
          <p:nvPr/>
        </p:nvSpPr>
        <p:spPr>
          <a:xfrm>
            <a:off x="658368" y="4892040"/>
            <a:ext cx="1097280" cy="320040"/>
          </a:xfrm>
          <a:prstGeom prst="rect">
            <a:avLst/>
          </a:prstGeom>
          <a:noFill/>
        </p:spPr>
        <p:txBody>
          <a:bodyPr wrap="square" anchor="t">
            <a:spAutoFit/>
          </a:bodyPr>
          <a:lstStyle/>
          <a:p>
            <a:pPr algn="ctr">
              <a:defRPr sz="1200" b="1">
                <a:solidFill>
                  <a:srgbClr val="1E2D3A"/>
                </a:solidFill>
                <a:latin typeface="Aptos"/>
              </a:defRPr>
            </a:pPr>
            <a:r>
              <a:t>Publish</a:t>
            </a:r>
          </a:p>
        </p:txBody>
      </p:sp>
      <p:sp>
        <p:nvSpPr>
          <p:cNvPr id="22" name="TextBox 21"/>
          <p:cNvSpPr txBox="1"/>
          <p:nvPr/>
        </p:nvSpPr>
        <p:spPr>
          <a:xfrm>
            <a:off x="1965960" y="4224528"/>
            <a:ext cx="594360" cy="274320"/>
          </a:xfrm>
          <a:prstGeom prst="rect">
            <a:avLst/>
          </a:prstGeom>
          <a:noFill/>
        </p:spPr>
        <p:txBody>
          <a:bodyPr wrap="square" anchor="t">
            <a:spAutoFit/>
          </a:bodyPr>
          <a:lstStyle/>
          <a:p>
            <a:pPr algn="ctr">
              <a:defRPr sz="2400" b="1">
                <a:solidFill>
                  <a:srgbClr val="556575"/>
                </a:solidFill>
                <a:latin typeface="Aptos"/>
              </a:defRPr>
            </a:pPr>
            <a:r>
              <a:t>→</a:t>
            </a:r>
          </a:p>
        </p:txBody>
      </p:sp>
      <p:sp>
        <p:nvSpPr>
          <p:cNvPr id="23" name="Oval 22"/>
          <p:cNvSpPr/>
          <p:nvPr/>
        </p:nvSpPr>
        <p:spPr>
          <a:xfrm>
            <a:off x="3127248" y="4160520"/>
            <a:ext cx="566928" cy="566928"/>
          </a:xfrm>
          <a:prstGeom prst="ellipse">
            <a:avLst/>
          </a:prstGeom>
          <a:solidFill>
            <a:srgbClr val="007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27248" y="4251960"/>
            <a:ext cx="566928" cy="274320"/>
          </a:xfrm>
          <a:prstGeom prst="rect">
            <a:avLst/>
          </a:prstGeom>
          <a:noFill/>
        </p:spPr>
        <p:txBody>
          <a:bodyPr wrap="square" anchor="t">
            <a:spAutoFit/>
          </a:bodyPr>
          <a:lstStyle/>
          <a:p>
            <a:pPr algn="ctr">
              <a:defRPr sz="1300" b="1">
                <a:solidFill>
                  <a:srgbClr val="FFFFFF"/>
                </a:solidFill>
                <a:latin typeface="Aptos"/>
              </a:defRPr>
            </a:pPr>
            <a:r>
              <a:t>2</a:t>
            </a:r>
          </a:p>
        </p:txBody>
      </p:sp>
      <p:sp>
        <p:nvSpPr>
          <p:cNvPr id="25" name="TextBox 24"/>
          <p:cNvSpPr txBox="1"/>
          <p:nvPr/>
        </p:nvSpPr>
        <p:spPr>
          <a:xfrm>
            <a:off x="2871215" y="4892040"/>
            <a:ext cx="1097280" cy="320040"/>
          </a:xfrm>
          <a:prstGeom prst="rect">
            <a:avLst/>
          </a:prstGeom>
          <a:noFill/>
        </p:spPr>
        <p:txBody>
          <a:bodyPr wrap="square" anchor="t">
            <a:spAutoFit/>
          </a:bodyPr>
          <a:lstStyle/>
          <a:p>
            <a:pPr algn="ctr">
              <a:defRPr sz="1200" b="1">
                <a:solidFill>
                  <a:srgbClr val="1E2D3A"/>
                </a:solidFill>
                <a:latin typeface="Aptos"/>
              </a:defRPr>
            </a:pPr>
            <a:r>
              <a:t>Validate</a:t>
            </a:r>
          </a:p>
        </p:txBody>
      </p:sp>
      <p:sp>
        <p:nvSpPr>
          <p:cNvPr id="26" name="TextBox 25"/>
          <p:cNvSpPr txBox="1"/>
          <p:nvPr/>
        </p:nvSpPr>
        <p:spPr>
          <a:xfrm>
            <a:off x="4178808" y="4224528"/>
            <a:ext cx="594360" cy="274320"/>
          </a:xfrm>
          <a:prstGeom prst="rect">
            <a:avLst/>
          </a:prstGeom>
          <a:noFill/>
        </p:spPr>
        <p:txBody>
          <a:bodyPr wrap="square" anchor="t">
            <a:spAutoFit/>
          </a:bodyPr>
          <a:lstStyle/>
          <a:p>
            <a:pPr algn="ctr">
              <a:defRPr sz="2400" b="1">
                <a:solidFill>
                  <a:srgbClr val="556575"/>
                </a:solidFill>
                <a:latin typeface="Aptos"/>
              </a:defRPr>
            </a:pPr>
            <a:r>
              <a:t>→</a:t>
            </a:r>
          </a:p>
        </p:txBody>
      </p:sp>
      <p:sp>
        <p:nvSpPr>
          <p:cNvPr id="27" name="Oval 26"/>
          <p:cNvSpPr/>
          <p:nvPr/>
        </p:nvSpPr>
        <p:spPr>
          <a:xfrm>
            <a:off x="5340096" y="4160520"/>
            <a:ext cx="566928" cy="566928"/>
          </a:xfrm>
          <a:prstGeom prst="ellipse">
            <a:avLst/>
          </a:prstGeom>
          <a:solidFill>
            <a:srgbClr val="B9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40096" y="4251960"/>
            <a:ext cx="566928" cy="274320"/>
          </a:xfrm>
          <a:prstGeom prst="rect">
            <a:avLst/>
          </a:prstGeom>
          <a:noFill/>
        </p:spPr>
        <p:txBody>
          <a:bodyPr wrap="square" anchor="t">
            <a:spAutoFit/>
          </a:bodyPr>
          <a:lstStyle/>
          <a:p>
            <a:pPr algn="ctr">
              <a:defRPr sz="1300" b="1">
                <a:solidFill>
                  <a:srgbClr val="FFFFFF"/>
                </a:solidFill>
                <a:latin typeface="Aptos"/>
              </a:defRPr>
            </a:pPr>
            <a:r>
              <a:t>3</a:t>
            </a:r>
          </a:p>
        </p:txBody>
      </p:sp>
      <p:sp>
        <p:nvSpPr>
          <p:cNvPr id="29" name="TextBox 28"/>
          <p:cNvSpPr txBox="1"/>
          <p:nvPr/>
        </p:nvSpPr>
        <p:spPr>
          <a:xfrm>
            <a:off x="5084064" y="4892040"/>
            <a:ext cx="1097280" cy="320040"/>
          </a:xfrm>
          <a:prstGeom prst="rect">
            <a:avLst/>
          </a:prstGeom>
          <a:noFill/>
        </p:spPr>
        <p:txBody>
          <a:bodyPr wrap="square" anchor="t">
            <a:spAutoFit/>
          </a:bodyPr>
          <a:lstStyle/>
          <a:p>
            <a:pPr algn="ctr">
              <a:defRPr sz="1200" b="1">
                <a:solidFill>
                  <a:srgbClr val="1E2D3A"/>
                </a:solidFill>
                <a:latin typeface="Aptos"/>
              </a:defRPr>
            </a:pPr>
            <a:r>
              <a:t>Persist</a:t>
            </a:r>
          </a:p>
        </p:txBody>
      </p:sp>
      <p:sp>
        <p:nvSpPr>
          <p:cNvPr id="30" name="TextBox 29"/>
          <p:cNvSpPr txBox="1"/>
          <p:nvPr/>
        </p:nvSpPr>
        <p:spPr>
          <a:xfrm>
            <a:off x="6391656" y="4224528"/>
            <a:ext cx="594360" cy="274320"/>
          </a:xfrm>
          <a:prstGeom prst="rect">
            <a:avLst/>
          </a:prstGeom>
          <a:noFill/>
        </p:spPr>
        <p:txBody>
          <a:bodyPr wrap="square" anchor="t">
            <a:spAutoFit/>
          </a:bodyPr>
          <a:lstStyle/>
          <a:p>
            <a:pPr algn="ctr">
              <a:defRPr sz="2400" b="1">
                <a:solidFill>
                  <a:srgbClr val="556575"/>
                </a:solidFill>
                <a:latin typeface="Aptos"/>
              </a:defRPr>
            </a:pPr>
            <a:r>
              <a:t>→</a:t>
            </a:r>
          </a:p>
        </p:txBody>
      </p:sp>
      <p:sp>
        <p:nvSpPr>
          <p:cNvPr id="31" name="Oval 30"/>
          <p:cNvSpPr/>
          <p:nvPr/>
        </p:nvSpPr>
        <p:spPr>
          <a:xfrm>
            <a:off x="7552944" y="4160520"/>
            <a:ext cx="566928" cy="566928"/>
          </a:xfrm>
          <a:prstGeom prst="ellipse">
            <a:avLst/>
          </a:prstGeom>
          <a:solidFill>
            <a:srgbClr val="C238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52944" y="4251960"/>
            <a:ext cx="566928" cy="274320"/>
          </a:xfrm>
          <a:prstGeom prst="rect">
            <a:avLst/>
          </a:prstGeom>
          <a:noFill/>
        </p:spPr>
        <p:txBody>
          <a:bodyPr wrap="square" anchor="t">
            <a:spAutoFit/>
          </a:bodyPr>
          <a:lstStyle/>
          <a:p>
            <a:pPr algn="ctr">
              <a:defRPr sz="1300" b="1">
                <a:solidFill>
                  <a:srgbClr val="FFFFFF"/>
                </a:solidFill>
                <a:latin typeface="Aptos"/>
              </a:defRPr>
            </a:pPr>
            <a:r>
              <a:t>4</a:t>
            </a:r>
          </a:p>
        </p:txBody>
      </p:sp>
      <p:sp>
        <p:nvSpPr>
          <p:cNvPr id="33" name="TextBox 32"/>
          <p:cNvSpPr txBox="1"/>
          <p:nvPr/>
        </p:nvSpPr>
        <p:spPr>
          <a:xfrm>
            <a:off x="7296912" y="4892040"/>
            <a:ext cx="1097280" cy="320040"/>
          </a:xfrm>
          <a:prstGeom prst="rect">
            <a:avLst/>
          </a:prstGeom>
          <a:noFill/>
        </p:spPr>
        <p:txBody>
          <a:bodyPr wrap="square" anchor="t">
            <a:spAutoFit/>
          </a:bodyPr>
          <a:lstStyle/>
          <a:p>
            <a:pPr algn="ctr">
              <a:defRPr sz="1200" b="1">
                <a:solidFill>
                  <a:srgbClr val="1E2D3A"/>
                </a:solidFill>
                <a:latin typeface="Aptos"/>
              </a:defRPr>
            </a:pPr>
            <a:r>
              <a:t>Alert</a:t>
            </a:r>
          </a:p>
        </p:txBody>
      </p:sp>
      <p:sp>
        <p:nvSpPr>
          <p:cNvPr id="34" name="TextBox 33"/>
          <p:cNvSpPr txBox="1"/>
          <p:nvPr/>
        </p:nvSpPr>
        <p:spPr>
          <a:xfrm>
            <a:off x="8604504" y="4224528"/>
            <a:ext cx="594360" cy="274320"/>
          </a:xfrm>
          <a:prstGeom prst="rect">
            <a:avLst/>
          </a:prstGeom>
          <a:noFill/>
        </p:spPr>
        <p:txBody>
          <a:bodyPr wrap="square" anchor="t">
            <a:spAutoFit/>
          </a:bodyPr>
          <a:lstStyle/>
          <a:p>
            <a:pPr algn="ctr">
              <a:defRPr sz="2400" b="1">
                <a:solidFill>
                  <a:srgbClr val="556575"/>
                </a:solidFill>
                <a:latin typeface="Aptos"/>
              </a:defRPr>
            </a:pPr>
            <a:r>
              <a:t>→</a:t>
            </a:r>
          </a:p>
        </p:txBody>
      </p:sp>
      <p:sp>
        <p:nvSpPr>
          <p:cNvPr id="35" name="Oval 34"/>
          <p:cNvSpPr/>
          <p:nvPr/>
        </p:nvSpPr>
        <p:spPr>
          <a:xfrm>
            <a:off x="9765792" y="4160520"/>
            <a:ext cx="566928" cy="566928"/>
          </a:xfrm>
          <a:prstGeom prst="ellipse">
            <a:avLst/>
          </a:prstGeom>
          <a:solidFill>
            <a:srgbClr val="2D6C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65792" y="4251960"/>
            <a:ext cx="566928" cy="274320"/>
          </a:xfrm>
          <a:prstGeom prst="rect">
            <a:avLst/>
          </a:prstGeom>
          <a:noFill/>
        </p:spPr>
        <p:txBody>
          <a:bodyPr wrap="square" anchor="t">
            <a:spAutoFit/>
          </a:bodyPr>
          <a:lstStyle/>
          <a:p>
            <a:pPr algn="ctr">
              <a:defRPr sz="1300" b="1">
                <a:solidFill>
                  <a:srgbClr val="FFFFFF"/>
                </a:solidFill>
                <a:latin typeface="Aptos"/>
              </a:defRPr>
            </a:pPr>
            <a:r>
              <a:t>5</a:t>
            </a:r>
          </a:p>
        </p:txBody>
      </p:sp>
      <p:sp>
        <p:nvSpPr>
          <p:cNvPr id="37" name="TextBox 36"/>
          <p:cNvSpPr txBox="1"/>
          <p:nvPr/>
        </p:nvSpPr>
        <p:spPr>
          <a:xfrm>
            <a:off x="9509760" y="4892040"/>
            <a:ext cx="1097280" cy="320040"/>
          </a:xfrm>
          <a:prstGeom prst="rect">
            <a:avLst/>
          </a:prstGeom>
          <a:noFill/>
        </p:spPr>
        <p:txBody>
          <a:bodyPr wrap="square" anchor="t">
            <a:spAutoFit/>
          </a:bodyPr>
          <a:lstStyle/>
          <a:p>
            <a:pPr algn="ctr">
              <a:defRPr sz="1200" b="1">
                <a:solidFill>
                  <a:srgbClr val="1E2D3A"/>
                </a:solidFill>
                <a:latin typeface="Aptos"/>
              </a:defRPr>
            </a:pPr>
            <a:r>
              <a:t>Visualise</a:t>
            </a:r>
          </a:p>
        </p:txBody>
      </p:sp>
      <p:sp>
        <p:nvSpPr>
          <p:cNvPr id="38" name="TextBox 37"/>
          <p:cNvSpPr txBox="1"/>
          <p:nvPr/>
        </p:nvSpPr>
        <p:spPr>
          <a:xfrm>
            <a:off x="576072" y="6519672"/>
            <a:ext cx="4754880" cy="182880"/>
          </a:xfrm>
          <a:prstGeom prst="rect">
            <a:avLst/>
          </a:prstGeom>
          <a:noFill/>
        </p:spPr>
        <p:txBody>
          <a:bodyPr wrap="square" anchor="t">
            <a:spAutoFit/>
          </a:bodyPr>
          <a:lstStyle/>
          <a:p>
            <a:pPr algn="l">
              <a:defRPr sz="800" b="0">
                <a:solidFill>
                  <a:srgbClr val="556575"/>
                </a:solidFill>
                <a:latin typeface="Aptos"/>
              </a:defRPr>
            </a:pPr>
            <a:r>
              <a:t>ICT304 | WeatherGrid</a:t>
            </a:r>
          </a:p>
        </p:txBody>
      </p:sp>
      <p:sp>
        <p:nvSpPr>
          <p:cNvPr id="39" name="TextBox 38"/>
          <p:cNvSpPr txBox="1"/>
          <p:nvPr/>
        </p:nvSpPr>
        <p:spPr>
          <a:xfrm>
            <a:off x="10789920" y="6519672"/>
            <a:ext cx="731520" cy="182880"/>
          </a:xfrm>
          <a:prstGeom prst="rect">
            <a:avLst/>
          </a:prstGeom>
          <a:noFill/>
        </p:spPr>
        <p:txBody>
          <a:bodyPr wrap="square" anchor="t">
            <a:spAutoFit/>
          </a:bodyPr>
          <a:lstStyle/>
          <a:p>
            <a:pPr algn="r">
              <a:defRPr sz="800" b="0">
                <a:solidFill>
                  <a:srgbClr val="556575"/>
                </a:solidFill>
                <a:latin typeface="Aptos"/>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566928" y="310896"/>
            <a:ext cx="502920" cy="347472"/>
          </a:xfrm>
          <a:prstGeom prst="rect">
            <a:avLst/>
          </a:prstGeom>
          <a:noFill/>
        </p:spPr>
        <p:txBody>
          <a:bodyPr wrap="square" anchor="t">
            <a:spAutoFit/>
          </a:bodyPr>
          <a:lstStyle/>
          <a:p>
            <a:pPr algn="l">
              <a:defRPr sz="1300" b="1">
                <a:solidFill>
                  <a:srgbClr val="007E89"/>
                </a:solidFill>
                <a:latin typeface="Aptos"/>
              </a:defRPr>
            </a:pPr>
            <a:r>
              <a:t>04</a:t>
            </a:r>
          </a:p>
        </p:txBody>
      </p:sp>
      <p:sp>
        <p:nvSpPr>
          <p:cNvPr id="3" name="TextBox 2"/>
          <p:cNvSpPr txBox="1"/>
          <p:nvPr/>
        </p:nvSpPr>
        <p:spPr>
          <a:xfrm>
            <a:off x="1078992" y="228600"/>
            <a:ext cx="10469880" cy="475488"/>
          </a:xfrm>
          <a:prstGeom prst="rect">
            <a:avLst/>
          </a:prstGeom>
          <a:noFill/>
        </p:spPr>
        <p:txBody>
          <a:bodyPr wrap="square" anchor="t">
            <a:spAutoFit/>
          </a:bodyPr>
          <a:lstStyle/>
          <a:p>
            <a:pPr algn="l">
              <a:defRPr sz="2600" b="1">
                <a:solidFill>
                  <a:srgbClr val="122D44"/>
                </a:solidFill>
                <a:latin typeface="Aptos"/>
              </a:defRPr>
            </a:pPr>
            <a:r>
              <a:t>High-level architecture</a:t>
            </a:r>
          </a:p>
        </p:txBody>
      </p:sp>
      <p:sp>
        <p:nvSpPr>
          <p:cNvPr id="4" name="TextBox 3"/>
          <p:cNvSpPr txBox="1"/>
          <p:nvPr/>
        </p:nvSpPr>
        <p:spPr>
          <a:xfrm>
            <a:off x="1078992" y="722376"/>
            <a:ext cx="10149840" cy="347472"/>
          </a:xfrm>
          <a:prstGeom prst="rect">
            <a:avLst/>
          </a:prstGeom>
          <a:noFill/>
        </p:spPr>
        <p:txBody>
          <a:bodyPr wrap="square" anchor="t">
            <a:spAutoFit/>
          </a:bodyPr>
          <a:lstStyle/>
          <a:p>
            <a:pPr algn="l">
              <a:defRPr sz="1100" b="0">
                <a:solidFill>
                  <a:srgbClr val="556575"/>
                </a:solidFill>
                <a:latin typeface="Aptos"/>
              </a:defRPr>
            </a:pPr>
            <a:r>
              <a:t>Independent layers communicate through explicit contracts</a:t>
            </a:r>
          </a:p>
        </p:txBody>
      </p:sp>
      <p:sp>
        <p:nvSpPr>
          <p:cNvPr id="5" name="Rectangle 4"/>
          <p:cNvSpPr/>
          <p:nvPr/>
        </p:nvSpPr>
        <p:spPr>
          <a:xfrm>
            <a:off x="566928" y="1097280"/>
            <a:ext cx="11018520" cy="22860"/>
          </a:xfrm>
          <a:prstGeom prst="rect">
            <a:avLst/>
          </a:prstGeom>
          <a:solidFill>
            <a:srgbClr val="D8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weathergrid-high-level-architecture-generated.png"/>
          <p:cNvPicPr>
            <a:picLocks noChangeAspect="1"/>
          </p:cNvPicPr>
          <p:nvPr/>
        </p:nvPicPr>
        <p:blipFill>
          <a:blip r:embed="rId2"/>
          <a:stretch>
            <a:fillRect/>
          </a:stretch>
        </p:blipFill>
        <p:spPr>
          <a:xfrm>
            <a:off x="1536192" y="1207008"/>
            <a:ext cx="9134855" cy="5074919"/>
          </a:xfrm>
          <a:prstGeom prst="rect">
            <a:avLst/>
          </a:prstGeom>
        </p:spPr>
      </p:pic>
      <p:sp>
        <p:nvSpPr>
          <p:cNvPr id="7" name="TextBox 6"/>
          <p:cNvSpPr txBox="1"/>
          <p:nvPr/>
        </p:nvSpPr>
        <p:spPr>
          <a:xfrm>
            <a:off x="576072" y="6519672"/>
            <a:ext cx="4754880" cy="182880"/>
          </a:xfrm>
          <a:prstGeom prst="rect">
            <a:avLst/>
          </a:prstGeom>
          <a:noFill/>
        </p:spPr>
        <p:txBody>
          <a:bodyPr wrap="square" anchor="t">
            <a:spAutoFit/>
          </a:bodyPr>
          <a:lstStyle/>
          <a:p>
            <a:pPr algn="l">
              <a:defRPr sz="800" b="0">
                <a:solidFill>
                  <a:srgbClr val="556575"/>
                </a:solidFill>
                <a:latin typeface="Aptos"/>
              </a:defRPr>
            </a:pPr>
            <a:r>
              <a:t>ICT304 | WeatherGrid</a:t>
            </a:r>
          </a:p>
        </p:txBody>
      </p:sp>
      <p:sp>
        <p:nvSpPr>
          <p:cNvPr id="8" name="TextBox 7"/>
          <p:cNvSpPr txBox="1"/>
          <p:nvPr/>
        </p:nvSpPr>
        <p:spPr>
          <a:xfrm>
            <a:off x="10789920" y="6519672"/>
            <a:ext cx="731520" cy="182880"/>
          </a:xfrm>
          <a:prstGeom prst="rect">
            <a:avLst/>
          </a:prstGeom>
          <a:noFill/>
        </p:spPr>
        <p:txBody>
          <a:bodyPr wrap="square" anchor="t">
            <a:spAutoFit/>
          </a:bodyPr>
          <a:lstStyle/>
          <a:p>
            <a:pPr algn="r">
              <a:defRPr sz="800" b="0">
                <a:solidFill>
                  <a:srgbClr val="556575"/>
                </a:solidFill>
                <a:latin typeface="Aptos"/>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566928" y="310896"/>
            <a:ext cx="502920" cy="347472"/>
          </a:xfrm>
          <a:prstGeom prst="rect">
            <a:avLst/>
          </a:prstGeom>
          <a:noFill/>
        </p:spPr>
        <p:txBody>
          <a:bodyPr wrap="square" anchor="t">
            <a:spAutoFit/>
          </a:bodyPr>
          <a:lstStyle/>
          <a:p>
            <a:pPr algn="l">
              <a:defRPr sz="1300" b="1">
                <a:solidFill>
                  <a:srgbClr val="007E89"/>
                </a:solidFill>
                <a:latin typeface="Aptos"/>
              </a:defRPr>
            </a:pPr>
            <a:r>
              <a:t>05</a:t>
            </a:r>
          </a:p>
        </p:txBody>
      </p:sp>
      <p:sp>
        <p:nvSpPr>
          <p:cNvPr id="3" name="TextBox 2"/>
          <p:cNvSpPr txBox="1"/>
          <p:nvPr/>
        </p:nvSpPr>
        <p:spPr>
          <a:xfrm>
            <a:off x="1078992" y="228600"/>
            <a:ext cx="10469880" cy="475488"/>
          </a:xfrm>
          <a:prstGeom prst="rect">
            <a:avLst/>
          </a:prstGeom>
          <a:noFill/>
        </p:spPr>
        <p:txBody>
          <a:bodyPr wrap="square" anchor="t">
            <a:spAutoFit/>
          </a:bodyPr>
          <a:lstStyle/>
          <a:p>
            <a:pPr algn="l">
              <a:defRPr sz="2600" b="1">
                <a:solidFill>
                  <a:srgbClr val="122D44"/>
                </a:solidFill>
                <a:latin typeface="Aptos"/>
              </a:defRPr>
            </a:pPr>
            <a:r>
              <a:t>How weather data is collected</a:t>
            </a:r>
          </a:p>
        </p:txBody>
      </p:sp>
      <p:sp>
        <p:nvSpPr>
          <p:cNvPr id="4" name="TextBox 3"/>
          <p:cNvSpPr txBox="1"/>
          <p:nvPr/>
        </p:nvSpPr>
        <p:spPr>
          <a:xfrm>
            <a:off x="1078992" y="722376"/>
            <a:ext cx="10149840" cy="347472"/>
          </a:xfrm>
          <a:prstGeom prst="rect">
            <a:avLst/>
          </a:prstGeom>
          <a:noFill/>
        </p:spPr>
        <p:txBody>
          <a:bodyPr wrap="square" anchor="t">
            <a:spAutoFit/>
          </a:bodyPr>
          <a:lstStyle/>
          <a:p>
            <a:pPr algn="l">
              <a:defRPr sz="1100" b="0">
                <a:solidFill>
                  <a:srgbClr val="556575"/>
                </a:solidFill>
                <a:latin typeface="Aptos"/>
              </a:defRPr>
            </a:pPr>
            <a:r>
              <a:t>Current simulator and future physical-node design</a:t>
            </a:r>
          </a:p>
        </p:txBody>
      </p:sp>
      <p:sp>
        <p:nvSpPr>
          <p:cNvPr id="5" name="Rectangle 4"/>
          <p:cNvSpPr/>
          <p:nvPr/>
        </p:nvSpPr>
        <p:spPr>
          <a:xfrm>
            <a:off x="566928" y="1097280"/>
            <a:ext cx="11018520" cy="22860"/>
          </a:xfrm>
          <a:prstGeom prst="rect">
            <a:avLst/>
          </a:prstGeom>
          <a:solidFill>
            <a:srgbClr val="D8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417320"/>
            <a:ext cx="2926080" cy="502920"/>
          </a:xfrm>
          <a:prstGeom prst="rect">
            <a:avLst/>
          </a:prstGeom>
          <a:solidFill>
            <a:srgbClr val="12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508760"/>
            <a:ext cx="2743200" cy="274320"/>
          </a:xfrm>
          <a:prstGeom prst="rect">
            <a:avLst/>
          </a:prstGeom>
          <a:noFill/>
        </p:spPr>
        <p:txBody>
          <a:bodyPr wrap="square" anchor="t">
            <a:spAutoFit/>
          </a:bodyPr>
          <a:lstStyle/>
          <a:p>
            <a:pPr algn="l">
              <a:defRPr sz="1000" b="1">
                <a:solidFill>
                  <a:srgbClr val="FFFFFF"/>
                </a:solidFill>
                <a:latin typeface="Aptos"/>
              </a:defRPr>
            </a:pPr>
            <a:r>
              <a:t>MEASURE</a:t>
            </a:r>
          </a:p>
        </p:txBody>
      </p:sp>
      <p:sp>
        <p:nvSpPr>
          <p:cNvPr id="8" name="Rectangle 7"/>
          <p:cNvSpPr/>
          <p:nvPr/>
        </p:nvSpPr>
        <p:spPr>
          <a:xfrm>
            <a:off x="3611880" y="1417320"/>
            <a:ext cx="3108960" cy="502920"/>
          </a:xfrm>
          <a:prstGeom prst="rect">
            <a:avLst/>
          </a:prstGeom>
          <a:solidFill>
            <a:srgbClr val="12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21608" y="1508760"/>
            <a:ext cx="2926079" cy="274320"/>
          </a:xfrm>
          <a:prstGeom prst="rect">
            <a:avLst/>
          </a:prstGeom>
          <a:noFill/>
        </p:spPr>
        <p:txBody>
          <a:bodyPr wrap="square" anchor="t">
            <a:spAutoFit/>
          </a:bodyPr>
          <a:lstStyle/>
          <a:p>
            <a:pPr algn="l">
              <a:defRPr sz="1000" b="1">
                <a:solidFill>
                  <a:srgbClr val="FFFFFF"/>
                </a:solidFill>
                <a:latin typeface="Aptos"/>
              </a:defRPr>
            </a:pPr>
            <a:r>
              <a:t>EXAMPLE SENSOR</a:t>
            </a:r>
          </a:p>
        </p:txBody>
      </p:sp>
      <p:sp>
        <p:nvSpPr>
          <p:cNvPr id="10" name="Rectangle 9"/>
          <p:cNvSpPr/>
          <p:nvPr/>
        </p:nvSpPr>
        <p:spPr>
          <a:xfrm>
            <a:off x="6720840" y="1417320"/>
            <a:ext cx="2377440" cy="502920"/>
          </a:xfrm>
          <a:prstGeom prst="rect">
            <a:avLst/>
          </a:prstGeom>
          <a:solidFill>
            <a:srgbClr val="12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30568" y="1508760"/>
            <a:ext cx="2194560" cy="274320"/>
          </a:xfrm>
          <a:prstGeom prst="rect">
            <a:avLst/>
          </a:prstGeom>
          <a:noFill/>
        </p:spPr>
        <p:txBody>
          <a:bodyPr wrap="square" anchor="t">
            <a:spAutoFit/>
          </a:bodyPr>
          <a:lstStyle/>
          <a:p>
            <a:pPr algn="l">
              <a:defRPr sz="1000" b="1">
                <a:solidFill>
                  <a:srgbClr val="FFFFFF"/>
                </a:solidFill>
                <a:latin typeface="Aptos"/>
              </a:defRPr>
            </a:pPr>
            <a:r>
              <a:t>CONNECTION</a:t>
            </a:r>
          </a:p>
        </p:txBody>
      </p:sp>
      <p:sp>
        <p:nvSpPr>
          <p:cNvPr id="12" name="Rectangle 11"/>
          <p:cNvSpPr/>
          <p:nvPr/>
        </p:nvSpPr>
        <p:spPr>
          <a:xfrm>
            <a:off x="9098280" y="1417320"/>
            <a:ext cx="1417320" cy="502920"/>
          </a:xfrm>
          <a:prstGeom prst="rect">
            <a:avLst/>
          </a:prstGeom>
          <a:solidFill>
            <a:srgbClr val="12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08007" y="1508760"/>
            <a:ext cx="1234440" cy="274320"/>
          </a:xfrm>
          <a:prstGeom prst="rect">
            <a:avLst/>
          </a:prstGeom>
          <a:noFill/>
        </p:spPr>
        <p:txBody>
          <a:bodyPr wrap="square" anchor="t">
            <a:spAutoFit/>
          </a:bodyPr>
          <a:lstStyle/>
          <a:p>
            <a:pPr algn="l">
              <a:defRPr sz="1000" b="1">
                <a:solidFill>
                  <a:srgbClr val="FFFFFF"/>
                </a:solidFill>
                <a:latin typeface="Aptos"/>
              </a:defRPr>
            </a:pPr>
            <a:r>
              <a:t>UNIT</a:t>
            </a:r>
          </a:p>
        </p:txBody>
      </p:sp>
      <p:sp>
        <p:nvSpPr>
          <p:cNvPr id="14" name="Rectangle 13"/>
          <p:cNvSpPr/>
          <p:nvPr/>
        </p:nvSpPr>
        <p:spPr>
          <a:xfrm>
            <a:off x="685800" y="1920240"/>
            <a:ext cx="2926080" cy="658368"/>
          </a:xfrm>
          <a:prstGeom prst="rect">
            <a:avLst/>
          </a:prstGeom>
          <a:solidFill>
            <a:srgbClr val="FFFFFF"/>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8" y="2075688"/>
            <a:ext cx="2724912" cy="320040"/>
          </a:xfrm>
          <a:prstGeom prst="rect">
            <a:avLst/>
          </a:prstGeom>
          <a:noFill/>
        </p:spPr>
        <p:txBody>
          <a:bodyPr wrap="square" anchor="t">
            <a:spAutoFit/>
          </a:bodyPr>
          <a:lstStyle/>
          <a:p>
            <a:pPr algn="l">
              <a:defRPr sz="1100" b="1">
                <a:solidFill>
                  <a:srgbClr val="1E2D3A"/>
                </a:solidFill>
                <a:latin typeface="Aptos"/>
              </a:defRPr>
            </a:pPr>
            <a:r>
              <a:t>Temperature / humidity</a:t>
            </a:r>
          </a:p>
        </p:txBody>
      </p:sp>
      <p:sp>
        <p:nvSpPr>
          <p:cNvPr id="16" name="Rectangle 15"/>
          <p:cNvSpPr/>
          <p:nvPr/>
        </p:nvSpPr>
        <p:spPr>
          <a:xfrm>
            <a:off x="3611880" y="1920240"/>
            <a:ext cx="3108960" cy="658368"/>
          </a:xfrm>
          <a:prstGeom prst="rect">
            <a:avLst/>
          </a:prstGeom>
          <a:solidFill>
            <a:srgbClr val="FFFFFF"/>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21608" y="2075688"/>
            <a:ext cx="2907791" cy="320040"/>
          </a:xfrm>
          <a:prstGeom prst="rect">
            <a:avLst/>
          </a:prstGeom>
          <a:noFill/>
        </p:spPr>
        <p:txBody>
          <a:bodyPr wrap="square" anchor="t">
            <a:spAutoFit/>
          </a:bodyPr>
          <a:lstStyle/>
          <a:p>
            <a:pPr algn="l">
              <a:defRPr sz="1100" b="0">
                <a:solidFill>
                  <a:srgbClr val="1E2D3A"/>
                </a:solidFill>
                <a:latin typeface="Aptos"/>
              </a:defRPr>
            </a:pPr>
            <a:r>
              <a:t>DHT22 or BME280</a:t>
            </a:r>
          </a:p>
        </p:txBody>
      </p:sp>
      <p:sp>
        <p:nvSpPr>
          <p:cNvPr id="18" name="Rectangle 17"/>
          <p:cNvSpPr/>
          <p:nvPr/>
        </p:nvSpPr>
        <p:spPr>
          <a:xfrm>
            <a:off x="6720840" y="1920240"/>
            <a:ext cx="2377440" cy="658368"/>
          </a:xfrm>
          <a:prstGeom prst="rect">
            <a:avLst/>
          </a:prstGeom>
          <a:solidFill>
            <a:srgbClr val="FFFFFF"/>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30568" y="2075688"/>
            <a:ext cx="2176272" cy="320040"/>
          </a:xfrm>
          <a:prstGeom prst="rect">
            <a:avLst/>
          </a:prstGeom>
          <a:noFill/>
        </p:spPr>
        <p:txBody>
          <a:bodyPr wrap="square" anchor="t">
            <a:spAutoFit/>
          </a:bodyPr>
          <a:lstStyle/>
          <a:p>
            <a:pPr algn="l">
              <a:defRPr sz="1100" b="0">
                <a:solidFill>
                  <a:srgbClr val="1E2D3A"/>
                </a:solidFill>
                <a:latin typeface="Aptos"/>
              </a:defRPr>
            </a:pPr>
            <a:r>
              <a:t>Digital bus</a:t>
            </a:r>
          </a:p>
        </p:txBody>
      </p:sp>
      <p:sp>
        <p:nvSpPr>
          <p:cNvPr id="20" name="Rectangle 19"/>
          <p:cNvSpPr/>
          <p:nvPr/>
        </p:nvSpPr>
        <p:spPr>
          <a:xfrm>
            <a:off x="9098280" y="1920240"/>
            <a:ext cx="1417320" cy="658368"/>
          </a:xfrm>
          <a:prstGeom prst="rect">
            <a:avLst/>
          </a:prstGeom>
          <a:solidFill>
            <a:srgbClr val="FFFFFF"/>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08007" y="2075688"/>
            <a:ext cx="1216152" cy="320040"/>
          </a:xfrm>
          <a:prstGeom prst="rect">
            <a:avLst/>
          </a:prstGeom>
          <a:noFill/>
        </p:spPr>
        <p:txBody>
          <a:bodyPr wrap="square" anchor="t">
            <a:spAutoFit/>
          </a:bodyPr>
          <a:lstStyle/>
          <a:p>
            <a:pPr algn="l">
              <a:defRPr sz="1100" b="0">
                <a:solidFill>
                  <a:srgbClr val="1E2D3A"/>
                </a:solidFill>
                <a:latin typeface="Aptos"/>
              </a:defRPr>
            </a:pPr>
            <a:r>
              <a:t>°C / %</a:t>
            </a:r>
          </a:p>
        </p:txBody>
      </p:sp>
      <p:sp>
        <p:nvSpPr>
          <p:cNvPr id="22" name="Rectangle 21"/>
          <p:cNvSpPr/>
          <p:nvPr/>
        </p:nvSpPr>
        <p:spPr>
          <a:xfrm>
            <a:off x="685800" y="2578608"/>
            <a:ext cx="2926080" cy="658368"/>
          </a:xfrm>
          <a:prstGeom prst="rect">
            <a:avLst/>
          </a:prstGeom>
          <a:solidFill>
            <a:srgbClr val="ECF3F7"/>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5528" y="2734056"/>
            <a:ext cx="2724912" cy="320040"/>
          </a:xfrm>
          <a:prstGeom prst="rect">
            <a:avLst/>
          </a:prstGeom>
          <a:noFill/>
        </p:spPr>
        <p:txBody>
          <a:bodyPr wrap="square" anchor="t">
            <a:spAutoFit/>
          </a:bodyPr>
          <a:lstStyle/>
          <a:p>
            <a:pPr algn="l">
              <a:defRPr sz="1100" b="0">
                <a:solidFill>
                  <a:srgbClr val="1E2D3A"/>
                </a:solidFill>
                <a:latin typeface="Aptos"/>
              </a:defRPr>
            </a:pPr>
            <a:r>
              <a:t>Atmospheric pressure</a:t>
            </a:r>
          </a:p>
        </p:txBody>
      </p:sp>
      <p:sp>
        <p:nvSpPr>
          <p:cNvPr id="24" name="Rectangle 23"/>
          <p:cNvSpPr/>
          <p:nvPr/>
        </p:nvSpPr>
        <p:spPr>
          <a:xfrm>
            <a:off x="3611880" y="2578608"/>
            <a:ext cx="3108960" cy="658368"/>
          </a:xfrm>
          <a:prstGeom prst="rect">
            <a:avLst/>
          </a:prstGeom>
          <a:solidFill>
            <a:srgbClr val="ECF3F7"/>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21608" y="2734056"/>
            <a:ext cx="2907791" cy="320040"/>
          </a:xfrm>
          <a:prstGeom prst="rect">
            <a:avLst/>
          </a:prstGeom>
          <a:noFill/>
        </p:spPr>
        <p:txBody>
          <a:bodyPr wrap="square" anchor="t">
            <a:spAutoFit/>
          </a:bodyPr>
          <a:lstStyle/>
          <a:p>
            <a:pPr algn="l">
              <a:defRPr sz="1100" b="0">
                <a:solidFill>
                  <a:srgbClr val="1E2D3A"/>
                </a:solidFill>
                <a:latin typeface="Aptos"/>
              </a:defRPr>
            </a:pPr>
            <a:r>
              <a:t>BME280</a:t>
            </a:r>
          </a:p>
        </p:txBody>
      </p:sp>
      <p:sp>
        <p:nvSpPr>
          <p:cNvPr id="26" name="Rectangle 25"/>
          <p:cNvSpPr/>
          <p:nvPr/>
        </p:nvSpPr>
        <p:spPr>
          <a:xfrm>
            <a:off x="6720840" y="2578608"/>
            <a:ext cx="2377440" cy="658368"/>
          </a:xfrm>
          <a:prstGeom prst="rect">
            <a:avLst/>
          </a:prstGeom>
          <a:solidFill>
            <a:srgbClr val="ECF3F7"/>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30568" y="2734056"/>
            <a:ext cx="2176272" cy="320040"/>
          </a:xfrm>
          <a:prstGeom prst="rect">
            <a:avLst/>
          </a:prstGeom>
          <a:noFill/>
        </p:spPr>
        <p:txBody>
          <a:bodyPr wrap="square" anchor="t">
            <a:spAutoFit/>
          </a:bodyPr>
          <a:lstStyle/>
          <a:p>
            <a:pPr algn="l">
              <a:defRPr sz="1100" b="0">
                <a:solidFill>
                  <a:srgbClr val="1E2D3A"/>
                </a:solidFill>
                <a:latin typeface="Aptos"/>
              </a:defRPr>
            </a:pPr>
            <a:r>
              <a:t>I²C</a:t>
            </a:r>
          </a:p>
        </p:txBody>
      </p:sp>
      <p:sp>
        <p:nvSpPr>
          <p:cNvPr id="28" name="Rectangle 27"/>
          <p:cNvSpPr/>
          <p:nvPr/>
        </p:nvSpPr>
        <p:spPr>
          <a:xfrm>
            <a:off x="9098280" y="2578608"/>
            <a:ext cx="1417320" cy="658368"/>
          </a:xfrm>
          <a:prstGeom prst="rect">
            <a:avLst/>
          </a:prstGeom>
          <a:solidFill>
            <a:srgbClr val="ECF3F7"/>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08007" y="2734056"/>
            <a:ext cx="1216152" cy="320040"/>
          </a:xfrm>
          <a:prstGeom prst="rect">
            <a:avLst/>
          </a:prstGeom>
          <a:noFill/>
        </p:spPr>
        <p:txBody>
          <a:bodyPr wrap="square" anchor="t">
            <a:spAutoFit/>
          </a:bodyPr>
          <a:lstStyle/>
          <a:p>
            <a:pPr algn="l">
              <a:defRPr sz="1100" b="0">
                <a:solidFill>
                  <a:srgbClr val="1E2D3A"/>
                </a:solidFill>
                <a:latin typeface="Aptos"/>
              </a:defRPr>
            </a:pPr>
            <a:r>
              <a:t>hPa</a:t>
            </a:r>
          </a:p>
        </p:txBody>
      </p:sp>
      <p:sp>
        <p:nvSpPr>
          <p:cNvPr id="30" name="Rectangle 29"/>
          <p:cNvSpPr/>
          <p:nvPr/>
        </p:nvSpPr>
        <p:spPr>
          <a:xfrm>
            <a:off x="685800" y="3236976"/>
            <a:ext cx="2926080" cy="658368"/>
          </a:xfrm>
          <a:prstGeom prst="rect">
            <a:avLst/>
          </a:prstGeom>
          <a:solidFill>
            <a:srgbClr val="FFFFFF"/>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5528" y="3392424"/>
            <a:ext cx="2724912" cy="320040"/>
          </a:xfrm>
          <a:prstGeom prst="rect">
            <a:avLst/>
          </a:prstGeom>
          <a:noFill/>
        </p:spPr>
        <p:txBody>
          <a:bodyPr wrap="square" anchor="t">
            <a:spAutoFit/>
          </a:bodyPr>
          <a:lstStyle/>
          <a:p>
            <a:pPr algn="l">
              <a:defRPr sz="1100" b="0">
                <a:solidFill>
                  <a:srgbClr val="1E2D3A"/>
                </a:solidFill>
                <a:latin typeface="Aptos"/>
              </a:defRPr>
            </a:pPr>
            <a:r>
              <a:t>Rainfall</a:t>
            </a:r>
          </a:p>
        </p:txBody>
      </p:sp>
      <p:sp>
        <p:nvSpPr>
          <p:cNvPr id="32" name="Rectangle 31"/>
          <p:cNvSpPr/>
          <p:nvPr/>
        </p:nvSpPr>
        <p:spPr>
          <a:xfrm>
            <a:off x="3611880" y="3236976"/>
            <a:ext cx="3108960" cy="658368"/>
          </a:xfrm>
          <a:prstGeom prst="rect">
            <a:avLst/>
          </a:prstGeom>
          <a:solidFill>
            <a:srgbClr val="FFFFFF"/>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721608" y="3392424"/>
            <a:ext cx="2907791" cy="320040"/>
          </a:xfrm>
          <a:prstGeom prst="rect">
            <a:avLst/>
          </a:prstGeom>
          <a:noFill/>
        </p:spPr>
        <p:txBody>
          <a:bodyPr wrap="square" anchor="t">
            <a:spAutoFit/>
          </a:bodyPr>
          <a:lstStyle/>
          <a:p>
            <a:pPr algn="l">
              <a:defRPr sz="1100" b="0">
                <a:solidFill>
                  <a:srgbClr val="1E2D3A"/>
                </a:solidFill>
                <a:latin typeface="Aptos"/>
              </a:defRPr>
            </a:pPr>
            <a:r>
              <a:t>Tipping-bucket gauge</a:t>
            </a:r>
          </a:p>
        </p:txBody>
      </p:sp>
      <p:sp>
        <p:nvSpPr>
          <p:cNvPr id="34" name="Rectangle 33"/>
          <p:cNvSpPr/>
          <p:nvPr/>
        </p:nvSpPr>
        <p:spPr>
          <a:xfrm>
            <a:off x="6720840" y="3236976"/>
            <a:ext cx="2377440" cy="658368"/>
          </a:xfrm>
          <a:prstGeom prst="rect">
            <a:avLst/>
          </a:prstGeom>
          <a:solidFill>
            <a:srgbClr val="FFFFFF"/>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30568" y="3392424"/>
            <a:ext cx="2176272" cy="320040"/>
          </a:xfrm>
          <a:prstGeom prst="rect">
            <a:avLst/>
          </a:prstGeom>
          <a:noFill/>
        </p:spPr>
        <p:txBody>
          <a:bodyPr wrap="square" anchor="t">
            <a:spAutoFit/>
          </a:bodyPr>
          <a:lstStyle/>
          <a:p>
            <a:pPr algn="l">
              <a:defRPr sz="1100" b="0">
                <a:solidFill>
                  <a:srgbClr val="1E2D3A"/>
                </a:solidFill>
                <a:latin typeface="Aptos"/>
              </a:defRPr>
            </a:pPr>
            <a:r>
              <a:t>Pulse input</a:t>
            </a:r>
          </a:p>
        </p:txBody>
      </p:sp>
      <p:sp>
        <p:nvSpPr>
          <p:cNvPr id="36" name="Rectangle 35"/>
          <p:cNvSpPr/>
          <p:nvPr/>
        </p:nvSpPr>
        <p:spPr>
          <a:xfrm>
            <a:off x="9098280" y="3236976"/>
            <a:ext cx="1417320" cy="658368"/>
          </a:xfrm>
          <a:prstGeom prst="rect">
            <a:avLst/>
          </a:prstGeom>
          <a:solidFill>
            <a:srgbClr val="FFFFFF"/>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08007" y="3392424"/>
            <a:ext cx="1216152" cy="320040"/>
          </a:xfrm>
          <a:prstGeom prst="rect">
            <a:avLst/>
          </a:prstGeom>
          <a:noFill/>
        </p:spPr>
        <p:txBody>
          <a:bodyPr wrap="square" anchor="t">
            <a:spAutoFit/>
          </a:bodyPr>
          <a:lstStyle/>
          <a:p>
            <a:pPr algn="l">
              <a:defRPr sz="1100" b="0">
                <a:solidFill>
                  <a:srgbClr val="1E2D3A"/>
                </a:solidFill>
                <a:latin typeface="Aptos"/>
              </a:defRPr>
            </a:pPr>
            <a:r>
              <a:t>mm</a:t>
            </a:r>
          </a:p>
        </p:txBody>
      </p:sp>
      <p:sp>
        <p:nvSpPr>
          <p:cNvPr id="38" name="Rectangle 37"/>
          <p:cNvSpPr/>
          <p:nvPr/>
        </p:nvSpPr>
        <p:spPr>
          <a:xfrm>
            <a:off x="685800" y="3895344"/>
            <a:ext cx="2926080" cy="658368"/>
          </a:xfrm>
          <a:prstGeom prst="rect">
            <a:avLst/>
          </a:prstGeom>
          <a:solidFill>
            <a:srgbClr val="ECF3F7"/>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95528" y="4050791"/>
            <a:ext cx="2724912" cy="320040"/>
          </a:xfrm>
          <a:prstGeom prst="rect">
            <a:avLst/>
          </a:prstGeom>
          <a:noFill/>
        </p:spPr>
        <p:txBody>
          <a:bodyPr wrap="square" anchor="t">
            <a:spAutoFit/>
          </a:bodyPr>
          <a:lstStyle/>
          <a:p>
            <a:pPr algn="l">
              <a:defRPr sz="1100" b="0">
                <a:solidFill>
                  <a:srgbClr val="1E2D3A"/>
                </a:solidFill>
                <a:latin typeface="Aptos"/>
              </a:defRPr>
            </a:pPr>
            <a:r>
              <a:t>Wind speed</a:t>
            </a:r>
          </a:p>
        </p:txBody>
      </p:sp>
      <p:sp>
        <p:nvSpPr>
          <p:cNvPr id="40" name="Rectangle 39"/>
          <p:cNvSpPr/>
          <p:nvPr/>
        </p:nvSpPr>
        <p:spPr>
          <a:xfrm>
            <a:off x="3611880" y="3895344"/>
            <a:ext cx="3108960" cy="658368"/>
          </a:xfrm>
          <a:prstGeom prst="rect">
            <a:avLst/>
          </a:prstGeom>
          <a:solidFill>
            <a:srgbClr val="ECF3F7"/>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721608" y="4050791"/>
            <a:ext cx="2907791" cy="320040"/>
          </a:xfrm>
          <a:prstGeom prst="rect">
            <a:avLst/>
          </a:prstGeom>
          <a:noFill/>
        </p:spPr>
        <p:txBody>
          <a:bodyPr wrap="square" anchor="t">
            <a:spAutoFit/>
          </a:bodyPr>
          <a:lstStyle/>
          <a:p>
            <a:pPr algn="l">
              <a:defRPr sz="1100" b="0">
                <a:solidFill>
                  <a:srgbClr val="1E2D3A"/>
                </a:solidFill>
                <a:latin typeface="Aptos"/>
              </a:defRPr>
            </a:pPr>
            <a:r>
              <a:t>Cup anemometer</a:t>
            </a:r>
          </a:p>
        </p:txBody>
      </p:sp>
      <p:sp>
        <p:nvSpPr>
          <p:cNvPr id="42" name="Rectangle 41"/>
          <p:cNvSpPr/>
          <p:nvPr/>
        </p:nvSpPr>
        <p:spPr>
          <a:xfrm>
            <a:off x="6720840" y="3895344"/>
            <a:ext cx="2377440" cy="658368"/>
          </a:xfrm>
          <a:prstGeom prst="rect">
            <a:avLst/>
          </a:prstGeom>
          <a:solidFill>
            <a:srgbClr val="ECF3F7"/>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30568" y="4050791"/>
            <a:ext cx="2176272" cy="320040"/>
          </a:xfrm>
          <a:prstGeom prst="rect">
            <a:avLst/>
          </a:prstGeom>
          <a:noFill/>
        </p:spPr>
        <p:txBody>
          <a:bodyPr wrap="square" anchor="t">
            <a:spAutoFit/>
          </a:bodyPr>
          <a:lstStyle/>
          <a:p>
            <a:pPr algn="l">
              <a:defRPr sz="1100" b="0">
                <a:solidFill>
                  <a:srgbClr val="1E2D3A"/>
                </a:solidFill>
                <a:latin typeface="Aptos"/>
              </a:defRPr>
            </a:pPr>
            <a:r>
              <a:t>Pulse / ADC</a:t>
            </a:r>
          </a:p>
        </p:txBody>
      </p:sp>
      <p:sp>
        <p:nvSpPr>
          <p:cNvPr id="44" name="Rectangle 43"/>
          <p:cNvSpPr/>
          <p:nvPr/>
        </p:nvSpPr>
        <p:spPr>
          <a:xfrm>
            <a:off x="9098280" y="3895344"/>
            <a:ext cx="1417320" cy="658368"/>
          </a:xfrm>
          <a:prstGeom prst="rect">
            <a:avLst/>
          </a:prstGeom>
          <a:solidFill>
            <a:srgbClr val="ECF3F7"/>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08007" y="4050791"/>
            <a:ext cx="1216152" cy="320040"/>
          </a:xfrm>
          <a:prstGeom prst="rect">
            <a:avLst/>
          </a:prstGeom>
          <a:noFill/>
        </p:spPr>
        <p:txBody>
          <a:bodyPr wrap="square" anchor="t">
            <a:spAutoFit/>
          </a:bodyPr>
          <a:lstStyle/>
          <a:p>
            <a:pPr algn="l">
              <a:defRPr sz="1100" b="0">
                <a:solidFill>
                  <a:srgbClr val="1E2D3A"/>
                </a:solidFill>
                <a:latin typeface="Aptos"/>
              </a:defRPr>
            </a:pPr>
            <a:r>
              <a:t>km/h</a:t>
            </a:r>
          </a:p>
        </p:txBody>
      </p:sp>
      <p:sp>
        <p:nvSpPr>
          <p:cNvPr id="46" name="Rectangle 45"/>
          <p:cNvSpPr/>
          <p:nvPr/>
        </p:nvSpPr>
        <p:spPr>
          <a:xfrm>
            <a:off x="685800" y="4553712"/>
            <a:ext cx="2926080" cy="658368"/>
          </a:xfrm>
          <a:prstGeom prst="rect">
            <a:avLst/>
          </a:prstGeom>
          <a:solidFill>
            <a:srgbClr val="FFFFFF"/>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95528" y="4709160"/>
            <a:ext cx="2724912" cy="320040"/>
          </a:xfrm>
          <a:prstGeom prst="rect">
            <a:avLst/>
          </a:prstGeom>
          <a:noFill/>
        </p:spPr>
        <p:txBody>
          <a:bodyPr wrap="square" anchor="t">
            <a:spAutoFit/>
          </a:bodyPr>
          <a:lstStyle/>
          <a:p>
            <a:pPr algn="l">
              <a:defRPr sz="1100" b="0">
                <a:solidFill>
                  <a:srgbClr val="1E2D3A"/>
                </a:solidFill>
                <a:latin typeface="Aptos"/>
              </a:defRPr>
            </a:pPr>
            <a:r>
              <a:t>Battery</a:t>
            </a:r>
          </a:p>
        </p:txBody>
      </p:sp>
      <p:sp>
        <p:nvSpPr>
          <p:cNvPr id="48" name="Rectangle 47"/>
          <p:cNvSpPr/>
          <p:nvPr/>
        </p:nvSpPr>
        <p:spPr>
          <a:xfrm>
            <a:off x="3611880" y="4553712"/>
            <a:ext cx="3108960" cy="658368"/>
          </a:xfrm>
          <a:prstGeom prst="rect">
            <a:avLst/>
          </a:prstGeom>
          <a:solidFill>
            <a:srgbClr val="FFFFFF"/>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721608" y="4709160"/>
            <a:ext cx="2907791" cy="320040"/>
          </a:xfrm>
          <a:prstGeom prst="rect">
            <a:avLst/>
          </a:prstGeom>
          <a:noFill/>
        </p:spPr>
        <p:txBody>
          <a:bodyPr wrap="square" anchor="t">
            <a:spAutoFit/>
          </a:bodyPr>
          <a:lstStyle/>
          <a:p>
            <a:pPr algn="l">
              <a:defRPr sz="1100" b="0">
                <a:solidFill>
                  <a:srgbClr val="1E2D3A"/>
                </a:solidFill>
                <a:latin typeface="Aptos"/>
              </a:defRPr>
            </a:pPr>
            <a:r>
              <a:t>Voltage divider</a:t>
            </a:r>
          </a:p>
        </p:txBody>
      </p:sp>
      <p:sp>
        <p:nvSpPr>
          <p:cNvPr id="50" name="Rectangle 49"/>
          <p:cNvSpPr/>
          <p:nvPr/>
        </p:nvSpPr>
        <p:spPr>
          <a:xfrm>
            <a:off x="6720840" y="4553712"/>
            <a:ext cx="2377440" cy="658368"/>
          </a:xfrm>
          <a:prstGeom prst="rect">
            <a:avLst/>
          </a:prstGeom>
          <a:solidFill>
            <a:srgbClr val="FFFFFF"/>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830568" y="4709160"/>
            <a:ext cx="2176272" cy="320040"/>
          </a:xfrm>
          <a:prstGeom prst="rect">
            <a:avLst/>
          </a:prstGeom>
          <a:noFill/>
        </p:spPr>
        <p:txBody>
          <a:bodyPr wrap="square" anchor="t">
            <a:spAutoFit/>
          </a:bodyPr>
          <a:lstStyle/>
          <a:p>
            <a:pPr algn="l">
              <a:defRPr sz="1100" b="0">
                <a:solidFill>
                  <a:srgbClr val="1E2D3A"/>
                </a:solidFill>
                <a:latin typeface="Aptos"/>
              </a:defRPr>
            </a:pPr>
            <a:r>
              <a:t>ADC</a:t>
            </a:r>
          </a:p>
        </p:txBody>
      </p:sp>
      <p:sp>
        <p:nvSpPr>
          <p:cNvPr id="52" name="Rectangle 51"/>
          <p:cNvSpPr/>
          <p:nvPr/>
        </p:nvSpPr>
        <p:spPr>
          <a:xfrm>
            <a:off x="9098280" y="4553712"/>
            <a:ext cx="1417320" cy="658368"/>
          </a:xfrm>
          <a:prstGeom prst="rect">
            <a:avLst/>
          </a:prstGeom>
          <a:solidFill>
            <a:srgbClr val="FFFFFF"/>
          </a:solidFill>
          <a:ln>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208007" y="4709160"/>
            <a:ext cx="1216152" cy="320040"/>
          </a:xfrm>
          <a:prstGeom prst="rect">
            <a:avLst/>
          </a:prstGeom>
          <a:noFill/>
        </p:spPr>
        <p:txBody>
          <a:bodyPr wrap="square" anchor="t">
            <a:spAutoFit/>
          </a:bodyPr>
          <a:lstStyle/>
          <a:p>
            <a:pPr algn="l">
              <a:defRPr sz="1100" b="0">
                <a:solidFill>
                  <a:srgbClr val="1E2D3A"/>
                </a:solidFill>
                <a:latin typeface="Aptos"/>
              </a:defRPr>
            </a:pPr>
            <a:r>
              <a:t>%</a:t>
            </a:r>
          </a:p>
        </p:txBody>
      </p:sp>
      <p:sp>
        <p:nvSpPr>
          <p:cNvPr id="54" name="TextBox 53"/>
          <p:cNvSpPr txBox="1"/>
          <p:nvPr/>
        </p:nvSpPr>
        <p:spPr>
          <a:xfrm>
            <a:off x="694944" y="5440680"/>
            <a:ext cx="10424160" cy="566928"/>
          </a:xfrm>
          <a:prstGeom prst="rect">
            <a:avLst/>
          </a:prstGeom>
          <a:noFill/>
        </p:spPr>
        <p:txBody>
          <a:bodyPr wrap="square" anchor="t">
            <a:spAutoFit/>
          </a:bodyPr>
          <a:lstStyle/>
          <a:p>
            <a:pPr algn="l">
              <a:defRPr sz="1400" b="1">
                <a:solidFill>
                  <a:srgbClr val="C23851"/>
                </a:solidFill>
                <a:latin typeface="Aptos"/>
              </a:defRPr>
            </a:pPr>
            <a:r>
              <a:t>Prototype truth: these values are currently generated by independent Python device processes. Physical calibration is future work.</a:t>
            </a:r>
          </a:p>
        </p:txBody>
      </p:sp>
      <p:sp>
        <p:nvSpPr>
          <p:cNvPr id="55" name="TextBox 54"/>
          <p:cNvSpPr txBox="1"/>
          <p:nvPr/>
        </p:nvSpPr>
        <p:spPr>
          <a:xfrm>
            <a:off x="576072" y="6519672"/>
            <a:ext cx="4754880" cy="182880"/>
          </a:xfrm>
          <a:prstGeom prst="rect">
            <a:avLst/>
          </a:prstGeom>
          <a:noFill/>
        </p:spPr>
        <p:txBody>
          <a:bodyPr wrap="square" anchor="t">
            <a:spAutoFit/>
          </a:bodyPr>
          <a:lstStyle/>
          <a:p>
            <a:pPr algn="l">
              <a:defRPr sz="800" b="0">
                <a:solidFill>
                  <a:srgbClr val="556575"/>
                </a:solidFill>
                <a:latin typeface="Aptos"/>
              </a:defRPr>
            </a:pPr>
            <a:r>
              <a:t>ICT304 | WeatherGrid</a:t>
            </a:r>
          </a:p>
        </p:txBody>
      </p:sp>
      <p:sp>
        <p:nvSpPr>
          <p:cNvPr id="56" name="TextBox 55"/>
          <p:cNvSpPr txBox="1"/>
          <p:nvPr/>
        </p:nvSpPr>
        <p:spPr>
          <a:xfrm>
            <a:off x="10789920" y="6519672"/>
            <a:ext cx="731520" cy="182880"/>
          </a:xfrm>
          <a:prstGeom prst="rect">
            <a:avLst/>
          </a:prstGeom>
          <a:noFill/>
        </p:spPr>
        <p:txBody>
          <a:bodyPr wrap="square" anchor="t">
            <a:spAutoFit/>
          </a:bodyPr>
          <a:lstStyle/>
          <a:p>
            <a:pPr algn="r">
              <a:defRPr sz="800" b="0">
                <a:solidFill>
                  <a:srgbClr val="556575"/>
                </a:solidFill>
                <a:latin typeface="Aptos"/>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566928" y="310896"/>
            <a:ext cx="502920" cy="347472"/>
          </a:xfrm>
          <a:prstGeom prst="rect">
            <a:avLst/>
          </a:prstGeom>
          <a:noFill/>
        </p:spPr>
        <p:txBody>
          <a:bodyPr wrap="square" anchor="t">
            <a:spAutoFit/>
          </a:bodyPr>
          <a:lstStyle/>
          <a:p>
            <a:pPr algn="l">
              <a:defRPr sz="1300" b="1">
                <a:solidFill>
                  <a:srgbClr val="007E89"/>
                </a:solidFill>
                <a:latin typeface="Aptos"/>
              </a:defRPr>
            </a:pPr>
            <a:r>
              <a:t>06</a:t>
            </a:r>
          </a:p>
        </p:txBody>
      </p:sp>
      <p:sp>
        <p:nvSpPr>
          <p:cNvPr id="3" name="TextBox 2"/>
          <p:cNvSpPr txBox="1"/>
          <p:nvPr/>
        </p:nvSpPr>
        <p:spPr>
          <a:xfrm>
            <a:off x="1078992" y="228600"/>
            <a:ext cx="10469880" cy="475488"/>
          </a:xfrm>
          <a:prstGeom prst="rect">
            <a:avLst/>
          </a:prstGeom>
          <a:noFill/>
        </p:spPr>
        <p:txBody>
          <a:bodyPr wrap="square" anchor="t">
            <a:spAutoFit/>
          </a:bodyPr>
          <a:lstStyle/>
          <a:p>
            <a:pPr algn="l">
              <a:defRPr sz="2600" b="1">
                <a:solidFill>
                  <a:srgbClr val="122D44"/>
                </a:solidFill>
                <a:latin typeface="Aptos"/>
              </a:defRPr>
            </a:pPr>
            <a:r>
              <a:t>End-to-end telemetry flow</a:t>
            </a:r>
          </a:p>
        </p:txBody>
      </p:sp>
      <p:sp>
        <p:nvSpPr>
          <p:cNvPr id="4" name="TextBox 3"/>
          <p:cNvSpPr txBox="1"/>
          <p:nvPr/>
        </p:nvSpPr>
        <p:spPr>
          <a:xfrm>
            <a:off x="1078992" y="722376"/>
            <a:ext cx="10149840" cy="347472"/>
          </a:xfrm>
          <a:prstGeom prst="rect">
            <a:avLst/>
          </a:prstGeom>
          <a:noFill/>
        </p:spPr>
        <p:txBody>
          <a:bodyPr wrap="square" anchor="t">
            <a:spAutoFit/>
          </a:bodyPr>
          <a:lstStyle/>
          <a:p>
            <a:pPr algn="l">
              <a:defRPr sz="1100" b="0">
                <a:solidFill>
                  <a:srgbClr val="556575"/>
                </a:solidFill>
                <a:latin typeface="Aptos"/>
              </a:defRPr>
            </a:pPr>
            <a:r>
              <a:t>From observation to a value displayed with units</a:t>
            </a:r>
          </a:p>
        </p:txBody>
      </p:sp>
      <p:sp>
        <p:nvSpPr>
          <p:cNvPr id="5" name="Rectangle 4"/>
          <p:cNvSpPr/>
          <p:nvPr/>
        </p:nvSpPr>
        <p:spPr>
          <a:xfrm>
            <a:off x="566928" y="1097280"/>
            <a:ext cx="11018520" cy="22860"/>
          </a:xfrm>
          <a:prstGeom prst="rect">
            <a:avLst/>
          </a:prstGeom>
          <a:solidFill>
            <a:srgbClr val="D8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weathergrid-telemetry-flow.png"/>
          <p:cNvPicPr>
            <a:picLocks noChangeAspect="1"/>
          </p:cNvPicPr>
          <p:nvPr/>
        </p:nvPicPr>
        <p:blipFill>
          <a:blip r:embed="rId2"/>
          <a:stretch>
            <a:fillRect/>
          </a:stretch>
        </p:blipFill>
        <p:spPr>
          <a:xfrm>
            <a:off x="457200" y="1480600"/>
            <a:ext cx="11292840" cy="4363142"/>
          </a:xfrm>
          <a:prstGeom prst="rect">
            <a:avLst/>
          </a:prstGeom>
        </p:spPr>
      </p:pic>
      <p:sp>
        <p:nvSpPr>
          <p:cNvPr id="7" name="Rounded Rectangle 6"/>
          <p:cNvSpPr/>
          <p:nvPr/>
        </p:nvSpPr>
        <p:spPr>
          <a:xfrm>
            <a:off x="3931920" y="5989320"/>
            <a:ext cx="4343400" cy="384048"/>
          </a:xfrm>
          <a:prstGeom prst="roundRect">
            <a:avLst/>
          </a:prstGeom>
          <a:solidFill>
            <a:srgbClr val="694E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931920" y="5998464"/>
            <a:ext cx="4343400" cy="329184"/>
          </a:xfrm>
          <a:prstGeom prst="rect">
            <a:avLst/>
          </a:prstGeom>
          <a:noFill/>
        </p:spPr>
        <p:txBody>
          <a:bodyPr wrap="square" anchor="ctr">
            <a:spAutoFit/>
          </a:bodyPr>
          <a:lstStyle/>
          <a:p>
            <a:pPr algn="ctr">
              <a:defRPr sz="1000" b="1">
                <a:solidFill>
                  <a:srgbClr val="FFFFFF"/>
                </a:solidFill>
                <a:latin typeface="Aptos"/>
              </a:defRPr>
            </a:pPr>
            <a:r>
              <a:t>Failure path: SQLite queue → bounded retry</a:t>
            </a:r>
          </a:p>
        </p:txBody>
      </p:sp>
      <p:sp>
        <p:nvSpPr>
          <p:cNvPr id="9" name="TextBox 8"/>
          <p:cNvSpPr txBox="1"/>
          <p:nvPr/>
        </p:nvSpPr>
        <p:spPr>
          <a:xfrm>
            <a:off x="576072" y="6519672"/>
            <a:ext cx="4754880" cy="182880"/>
          </a:xfrm>
          <a:prstGeom prst="rect">
            <a:avLst/>
          </a:prstGeom>
          <a:noFill/>
        </p:spPr>
        <p:txBody>
          <a:bodyPr wrap="square" anchor="t">
            <a:spAutoFit/>
          </a:bodyPr>
          <a:lstStyle/>
          <a:p>
            <a:pPr algn="l">
              <a:defRPr sz="800" b="0">
                <a:solidFill>
                  <a:srgbClr val="556575"/>
                </a:solidFill>
                <a:latin typeface="Aptos"/>
              </a:defRPr>
            </a:pPr>
            <a:r>
              <a:t>ICT304 | WeatherGrid</a:t>
            </a:r>
          </a:p>
        </p:txBody>
      </p:sp>
      <p:sp>
        <p:nvSpPr>
          <p:cNvPr id="10" name="TextBox 9"/>
          <p:cNvSpPr txBox="1"/>
          <p:nvPr/>
        </p:nvSpPr>
        <p:spPr>
          <a:xfrm>
            <a:off x="10789920" y="6519672"/>
            <a:ext cx="731520" cy="182880"/>
          </a:xfrm>
          <a:prstGeom prst="rect">
            <a:avLst/>
          </a:prstGeom>
          <a:noFill/>
        </p:spPr>
        <p:txBody>
          <a:bodyPr wrap="square" anchor="t">
            <a:spAutoFit/>
          </a:bodyPr>
          <a:lstStyle/>
          <a:p>
            <a:pPr algn="r">
              <a:defRPr sz="800" b="0">
                <a:solidFill>
                  <a:srgbClr val="556575"/>
                </a:solidFill>
                <a:latin typeface="Aptos"/>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566928" y="310896"/>
            <a:ext cx="502920" cy="347472"/>
          </a:xfrm>
          <a:prstGeom prst="rect">
            <a:avLst/>
          </a:prstGeom>
          <a:noFill/>
        </p:spPr>
        <p:txBody>
          <a:bodyPr wrap="square" anchor="t">
            <a:spAutoFit/>
          </a:bodyPr>
          <a:lstStyle/>
          <a:p>
            <a:pPr algn="l">
              <a:defRPr sz="1300" b="1">
                <a:solidFill>
                  <a:srgbClr val="007E89"/>
                </a:solidFill>
                <a:latin typeface="Aptos"/>
              </a:defRPr>
            </a:pPr>
            <a:r>
              <a:t>07</a:t>
            </a:r>
          </a:p>
        </p:txBody>
      </p:sp>
      <p:sp>
        <p:nvSpPr>
          <p:cNvPr id="3" name="TextBox 2"/>
          <p:cNvSpPr txBox="1"/>
          <p:nvPr/>
        </p:nvSpPr>
        <p:spPr>
          <a:xfrm>
            <a:off x="1078992" y="228600"/>
            <a:ext cx="10469880" cy="475488"/>
          </a:xfrm>
          <a:prstGeom prst="rect">
            <a:avLst/>
          </a:prstGeom>
          <a:noFill/>
        </p:spPr>
        <p:txBody>
          <a:bodyPr wrap="square" anchor="t">
            <a:spAutoFit/>
          </a:bodyPr>
          <a:lstStyle/>
          <a:p>
            <a:pPr algn="l">
              <a:defRPr sz="2600" b="1">
                <a:solidFill>
                  <a:srgbClr val="122D44"/>
                </a:solidFill>
                <a:latin typeface="Aptos"/>
              </a:defRPr>
            </a:pPr>
            <a:r>
              <a:t>Distributed computing principles</a:t>
            </a:r>
          </a:p>
        </p:txBody>
      </p:sp>
      <p:sp>
        <p:nvSpPr>
          <p:cNvPr id="4" name="TextBox 3"/>
          <p:cNvSpPr txBox="1"/>
          <p:nvPr/>
        </p:nvSpPr>
        <p:spPr>
          <a:xfrm>
            <a:off x="1078992" y="722376"/>
            <a:ext cx="10149840" cy="347472"/>
          </a:xfrm>
          <a:prstGeom prst="rect">
            <a:avLst/>
          </a:prstGeom>
          <a:noFill/>
        </p:spPr>
        <p:txBody>
          <a:bodyPr wrap="square" anchor="t">
            <a:spAutoFit/>
          </a:bodyPr>
          <a:lstStyle/>
          <a:p>
            <a:pPr algn="l">
              <a:defRPr sz="1100" b="0">
                <a:solidFill>
                  <a:srgbClr val="556575"/>
                </a:solidFill>
                <a:latin typeface="Aptos"/>
              </a:defRPr>
            </a:pPr>
            <a:r>
              <a:t>The design choices that make WeatherGrid reliable</a:t>
            </a:r>
          </a:p>
        </p:txBody>
      </p:sp>
      <p:sp>
        <p:nvSpPr>
          <p:cNvPr id="5" name="Rectangle 4"/>
          <p:cNvSpPr/>
          <p:nvPr/>
        </p:nvSpPr>
        <p:spPr>
          <a:xfrm>
            <a:off x="566928" y="1097280"/>
            <a:ext cx="11018520" cy="22860"/>
          </a:xfrm>
          <a:prstGeom prst="rect">
            <a:avLst/>
          </a:prstGeom>
          <a:solidFill>
            <a:srgbClr val="D8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417320"/>
            <a:ext cx="5257800" cy="1874519"/>
          </a:xfrm>
          <a:prstGeom prst="roundRect">
            <a:avLst/>
          </a:prstGeom>
          <a:solidFill>
            <a:srgbClr val="FFFFFF"/>
          </a:solidFill>
          <a:ln w="1270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417320"/>
            <a:ext cx="64008" cy="1874519"/>
          </a:xfrm>
          <a:prstGeom prst="rect">
            <a:avLst/>
          </a:prstGeom>
          <a:solidFill>
            <a:srgbClr val="694E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581912"/>
            <a:ext cx="4846320" cy="347472"/>
          </a:xfrm>
          <a:prstGeom prst="rect">
            <a:avLst/>
          </a:prstGeom>
          <a:noFill/>
        </p:spPr>
        <p:txBody>
          <a:bodyPr wrap="square" anchor="t">
            <a:spAutoFit/>
          </a:bodyPr>
          <a:lstStyle/>
          <a:p>
            <a:pPr algn="l">
              <a:defRPr sz="1800" b="1">
                <a:solidFill>
                  <a:srgbClr val="122D44"/>
                </a:solidFill>
                <a:latin typeface="Aptos"/>
              </a:defRPr>
            </a:pPr>
            <a:r>
              <a:t>Decoupling</a:t>
            </a:r>
          </a:p>
        </p:txBody>
      </p:sp>
      <p:sp>
        <p:nvSpPr>
          <p:cNvPr id="9" name="TextBox 8"/>
          <p:cNvSpPr txBox="1"/>
          <p:nvPr/>
        </p:nvSpPr>
        <p:spPr>
          <a:xfrm>
            <a:off x="914400" y="2039112"/>
            <a:ext cx="4846320" cy="1124712"/>
          </a:xfrm>
          <a:prstGeom prst="rect">
            <a:avLst/>
          </a:prstGeom>
          <a:noFill/>
        </p:spPr>
        <p:txBody>
          <a:bodyPr wrap="square" anchor="t">
            <a:spAutoFit/>
          </a:bodyPr>
          <a:lstStyle/>
          <a:p>
            <a:pPr algn="l">
              <a:defRPr sz="1400" b="0">
                <a:solidFill>
                  <a:srgbClr val="556575"/>
                </a:solidFill>
                <a:latin typeface="Aptos"/>
              </a:defRPr>
            </a:pPr>
            <a:r>
              <a:t>MQTT publishers do not know which consumer receives the message. Broker topics separate devices from the application.</a:t>
            </a:r>
          </a:p>
        </p:txBody>
      </p:sp>
      <p:sp>
        <p:nvSpPr>
          <p:cNvPr id="10" name="Rounded Rectangle 9"/>
          <p:cNvSpPr/>
          <p:nvPr/>
        </p:nvSpPr>
        <p:spPr>
          <a:xfrm>
            <a:off x="6245352" y="1417320"/>
            <a:ext cx="5257800" cy="1874519"/>
          </a:xfrm>
          <a:prstGeom prst="roundRect">
            <a:avLst/>
          </a:prstGeom>
          <a:solidFill>
            <a:srgbClr val="FFFFFF"/>
          </a:solidFill>
          <a:ln w="1270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45352" y="1417320"/>
            <a:ext cx="64008" cy="1874519"/>
          </a:xfrm>
          <a:prstGeom prst="rect">
            <a:avLst/>
          </a:prstGeom>
          <a:solidFill>
            <a:srgbClr val="007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1581912"/>
            <a:ext cx="4846320" cy="347472"/>
          </a:xfrm>
          <a:prstGeom prst="rect">
            <a:avLst/>
          </a:prstGeom>
          <a:noFill/>
        </p:spPr>
        <p:txBody>
          <a:bodyPr wrap="square" anchor="t">
            <a:spAutoFit/>
          </a:bodyPr>
          <a:lstStyle/>
          <a:p>
            <a:pPr algn="l">
              <a:defRPr sz="1800" b="1">
                <a:solidFill>
                  <a:srgbClr val="122D44"/>
                </a:solidFill>
                <a:latin typeface="Aptos"/>
              </a:defRPr>
            </a:pPr>
            <a:r>
              <a:t>Fault tolerance</a:t>
            </a:r>
          </a:p>
        </p:txBody>
      </p:sp>
      <p:sp>
        <p:nvSpPr>
          <p:cNvPr id="13" name="TextBox 12"/>
          <p:cNvSpPr txBox="1"/>
          <p:nvPr/>
        </p:nvSpPr>
        <p:spPr>
          <a:xfrm>
            <a:off x="6473952" y="2039112"/>
            <a:ext cx="4846320" cy="1124712"/>
          </a:xfrm>
          <a:prstGeom prst="rect">
            <a:avLst/>
          </a:prstGeom>
          <a:noFill/>
        </p:spPr>
        <p:txBody>
          <a:bodyPr wrap="square" anchor="t">
            <a:spAutoFit/>
          </a:bodyPr>
          <a:lstStyle/>
          <a:p>
            <a:pPr algn="l">
              <a:defRPr sz="1400" b="0">
                <a:solidFill>
                  <a:srgbClr val="556575"/>
                </a:solidFill>
                <a:latin typeface="Aptos"/>
              </a:defRPr>
            </a:pPr>
            <a:r>
              <a:t>The edge gateway stores temporary failures in SQLite and retries using bounded exponential backoff.</a:t>
            </a:r>
          </a:p>
        </p:txBody>
      </p:sp>
      <p:sp>
        <p:nvSpPr>
          <p:cNvPr id="14" name="Rounded Rectangle 13"/>
          <p:cNvSpPr/>
          <p:nvPr/>
        </p:nvSpPr>
        <p:spPr>
          <a:xfrm>
            <a:off x="685800" y="3593592"/>
            <a:ext cx="5257800" cy="1874519"/>
          </a:xfrm>
          <a:prstGeom prst="roundRect">
            <a:avLst/>
          </a:prstGeom>
          <a:solidFill>
            <a:srgbClr val="FFFFFF"/>
          </a:solidFill>
          <a:ln w="1270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3593592"/>
            <a:ext cx="64008" cy="1874519"/>
          </a:xfrm>
          <a:prstGeom prst="rect">
            <a:avLst/>
          </a:prstGeom>
          <a:solidFill>
            <a:srgbClr val="B9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758184"/>
            <a:ext cx="4846320" cy="347472"/>
          </a:xfrm>
          <a:prstGeom prst="rect">
            <a:avLst/>
          </a:prstGeom>
          <a:noFill/>
        </p:spPr>
        <p:txBody>
          <a:bodyPr wrap="square" anchor="t">
            <a:spAutoFit/>
          </a:bodyPr>
          <a:lstStyle/>
          <a:p>
            <a:pPr algn="l">
              <a:defRPr sz="1800" b="1">
                <a:solidFill>
                  <a:srgbClr val="122D44"/>
                </a:solidFill>
                <a:latin typeface="Aptos"/>
              </a:defRPr>
            </a:pPr>
            <a:r>
              <a:t>Idempotency</a:t>
            </a:r>
          </a:p>
        </p:txBody>
      </p:sp>
      <p:sp>
        <p:nvSpPr>
          <p:cNvPr id="17" name="TextBox 16"/>
          <p:cNvSpPr txBox="1"/>
          <p:nvPr/>
        </p:nvSpPr>
        <p:spPr>
          <a:xfrm>
            <a:off x="914400" y="4215384"/>
            <a:ext cx="4846320" cy="1124712"/>
          </a:xfrm>
          <a:prstGeom prst="rect">
            <a:avLst/>
          </a:prstGeom>
          <a:noFill/>
        </p:spPr>
        <p:txBody>
          <a:bodyPr wrap="square" anchor="t">
            <a:spAutoFit/>
          </a:bodyPr>
          <a:lstStyle/>
          <a:p>
            <a:pPr algn="l">
              <a:defRPr sz="1400" b="0">
                <a:solidFill>
                  <a:srgbClr val="556575"/>
                </a:solidFill>
                <a:latin typeface="Aptos"/>
              </a:defRPr>
            </a:pPr>
            <a:r>
              <a:t>QoS 1 can redeliver. Device ID plus sequence number prevents a repeated message from creating a second reading.</a:t>
            </a:r>
          </a:p>
        </p:txBody>
      </p:sp>
      <p:sp>
        <p:nvSpPr>
          <p:cNvPr id="18" name="Rounded Rectangle 17"/>
          <p:cNvSpPr/>
          <p:nvPr/>
        </p:nvSpPr>
        <p:spPr>
          <a:xfrm>
            <a:off x="6245352" y="3593592"/>
            <a:ext cx="5257800" cy="1874519"/>
          </a:xfrm>
          <a:prstGeom prst="roundRect">
            <a:avLst/>
          </a:prstGeom>
          <a:solidFill>
            <a:srgbClr val="FFFFFF"/>
          </a:solidFill>
          <a:ln w="1270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45352" y="3593592"/>
            <a:ext cx="64008" cy="1874519"/>
          </a:xfrm>
          <a:prstGeom prst="rect">
            <a:avLst/>
          </a:prstGeom>
          <a:solidFill>
            <a:srgbClr val="2D6C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73952" y="3758184"/>
            <a:ext cx="4846320" cy="347472"/>
          </a:xfrm>
          <a:prstGeom prst="rect">
            <a:avLst/>
          </a:prstGeom>
          <a:noFill/>
        </p:spPr>
        <p:txBody>
          <a:bodyPr wrap="square" anchor="t">
            <a:spAutoFit/>
          </a:bodyPr>
          <a:lstStyle/>
          <a:p>
            <a:pPr algn="l">
              <a:defRPr sz="1800" b="1">
                <a:solidFill>
                  <a:srgbClr val="122D44"/>
                </a:solidFill>
                <a:latin typeface="Aptos"/>
              </a:defRPr>
            </a:pPr>
            <a:r>
              <a:t>Concurrency and fan-out</a:t>
            </a:r>
          </a:p>
        </p:txBody>
      </p:sp>
      <p:sp>
        <p:nvSpPr>
          <p:cNvPr id="21" name="TextBox 20"/>
          <p:cNvSpPr txBox="1"/>
          <p:nvPr/>
        </p:nvSpPr>
        <p:spPr>
          <a:xfrm>
            <a:off x="6473952" y="4215384"/>
            <a:ext cx="4846320" cy="1124712"/>
          </a:xfrm>
          <a:prstGeom prst="rect">
            <a:avLst/>
          </a:prstGeom>
          <a:noFill/>
        </p:spPr>
        <p:txBody>
          <a:bodyPr wrap="square" anchor="t">
            <a:spAutoFit/>
          </a:bodyPr>
          <a:lstStyle/>
          <a:p>
            <a:pPr algn="l">
              <a:defRPr sz="1400" b="0">
                <a:solidFill>
                  <a:srgbClr val="556575"/>
                </a:solidFill>
                <a:latin typeface="Aptos"/>
              </a:defRPr>
            </a:pPr>
            <a:r>
              <a:t>PostgreSQL transactions protect shared state. SSE distributes live change events to authenticated browser clients.</a:t>
            </a:r>
          </a:p>
        </p:txBody>
      </p:sp>
      <p:sp>
        <p:nvSpPr>
          <p:cNvPr id="22" name="TextBox 21"/>
          <p:cNvSpPr txBox="1"/>
          <p:nvPr/>
        </p:nvSpPr>
        <p:spPr>
          <a:xfrm>
            <a:off x="576072" y="6519672"/>
            <a:ext cx="4754880" cy="182880"/>
          </a:xfrm>
          <a:prstGeom prst="rect">
            <a:avLst/>
          </a:prstGeom>
          <a:noFill/>
        </p:spPr>
        <p:txBody>
          <a:bodyPr wrap="square" anchor="t">
            <a:spAutoFit/>
          </a:bodyPr>
          <a:lstStyle/>
          <a:p>
            <a:pPr algn="l">
              <a:defRPr sz="800" b="0">
                <a:solidFill>
                  <a:srgbClr val="556575"/>
                </a:solidFill>
                <a:latin typeface="Aptos"/>
              </a:defRPr>
            </a:pPr>
            <a:r>
              <a:t>ICT304 | WeatherGrid</a:t>
            </a:r>
          </a:p>
        </p:txBody>
      </p:sp>
      <p:sp>
        <p:nvSpPr>
          <p:cNvPr id="23" name="TextBox 22"/>
          <p:cNvSpPr txBox="1"/>
          <p:nvPr/>
        </p:nvSpPr>
        <p:spPr>
          <a:xfrm>
            <a:off x="10789920" y="6519672"/>
            <a:ext cx="731520" cy="182880"/>
          </a:xfrm>
          <a:prstGeom prst="rect">
            <a:avLst/>
          </a:prstGeom>
          <a:noFill/>
        </p:spPr>
        <p:txBody>
          <a:bodyPr wrap="square" anchor="t">
            <a:spAutoFit/>
          </a:bodyPr>
          <a:lstStyle/>
          <a:p>
            <a:pPr algn="r">
              <a:defRPr sz="800" b="0">
                <a:solidFill>
                  <a:srgbClr val="556575"/>
                </a:solidFill>
                <a:latin typeface="Aptos"/>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566928" y="310896"/>
            <a:ext cx="502920" cy="347472"/>
          </a:xfrm>
          <a:prstGeom prst="rect">
            <a:avLst/>
          </a:prstGeom>
          <a:noFill/>
        </p:spPr>
        <p:txBody>
          <a:bodyPr wrap="square" anchor="t">
            <a:spAutoFit/>
          </a:bodyPr>
          <a:lstStyle/>
          <a:p>
            <a:pPr algn="l">
              <a:defRPr sz="1300" b="1">
                <a:solidFill>
                  <a:srgbClr val="007E89"/>
                </a:solidFill>
                <a:latin typeface="Aptos"/>
              </a:defRPr>
            </a:pPr>
            <a:r>
              <a:t>08</a:t>
            </a:r>
          </a:p>
        </p:txBody>
      </p:sp>
      <p:sp>
        <p:nvSpPr>
          <p:cNvPr id="3" name="TextBox 2"/>
          <p:cNvSpPr txBox="1"/>
          <p:nvPr/>
        </p:nvSpPr>
        <p:spPr>
          <a:xfrm>
            <a:off x="1078992" y="228600"/>
            <a:ext cx="10469880" cy="475488"/>
          </a:xfrm>
          <a:prstGeom prst="rect">
            <a:avLst/>
          </a:prstGeom>
          <a:noFill/>
        </p:spPr>
        <p:txBody>
          <a:bodyPr wrap="square" anchor="t">
            <a:spAutoFit/>
          </a:bodyPr>
          <a:lstStyle/>
          <a:p>
            <a:pPr algn="l">
              <a:defRPr sz="2600" b="1">
                <a:solidFill>
                  <a:srgbClr val="122D44"/>
                </a:solidFill>
                <a:latin typeface="Aptos"/>
              </a:defRPr>
            </a:pPr>
            <a:r>
              <a:t>Working prototype</a:t>
            </a:r>
          </a:p>
        </p:txBody>
      </p:sp>
      <p:sp>
        <p:nvSpPr>
          <p:cNvPr id="4" name="TextBox 3"/>
          <p:cNvSpPr txBox="1"/>
          <p:nvPr/>
        </p:nvSpPr>
        <p:spPr>
          <a:xfrm>
            <a:off x="1078992" y="722376"/>
            <a:ext cx="10149840" cy="347472"/>
          </a:xfrm>
          <a:prstGeom prst="rect">
            <a:avLst/>
          </a:prstGeom>
          <a:noFill/>
        </p:spPr>
        <p:txBody>
          <a:bodyPr wrap="square" anchor="t">
            <a:spAutoFit/>
          </a:bodyPr>
          <a:lstStyle/>
          <a:p>
            <a:pPr algn="l">
              <a:defRPr sz="1100" b="0">
                <a:solidFill>
                  <a:srgbClr val="556575"/>
                </a:solidFill>
                <a:latin typeface="Aptos"/>
              </a:defRPr>
            </a:pPr>
            <a:r>
              <a:t>Responsive live monitoring with explicit engineering units</a:t>
            </a:r>
          </a:p>
        </p:txBody>
      </p:sp>
      <p:sp>
        <p:nvSpPr>
          <p:cNvPr id="5" name="Rectangle 4"/>
          <p:cNvSpPr/>
          <p:nvPr/>
        </p:nvSpPr>
        <p:spPr>
          <a:xfrm>
            <a:off x="566928" y="1097280"/>
            <a:ext cx="11018520" cy="22860"/>
          </a:xfrm>
          <a:prstGeom prst="rect">
            <a:avLst/>
          </a:prstGeom>
          <a:solidFill>
            <a:srgbClr val="D8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weathergrid-live-monitoring.png"/>
          <p:cNvPicPr>
            <a:picLocks noChangeAspect="1"/>
          </p:cNvPicPr>
          <p:nvPr/>
        </p:nvPicPr>
        <p:blipFill>
          <a:blip r:embed="rId2"/>
          <a:stretch>
            <a:fillRect/>
          </a:stretch>
        </p:blipFill>
        <p:spPr>
          <a:xfrm>
            <a:off x="745235" y="1234440"/>
            <a:ext cx="7242048" cy="5029200"/>
          </a:xfrm>
          <a:prstGeom prst="rect">
            <a:avLst/>
          </a:prstGeom>
        </p:spPr>
      </p:pic>
      <p:sp>
        <p:nvSpPr>
          <p:cNvPr id="7" name="Rounded Rectangle 6"/>
          <p:cNvSpPr/>
          <p:nvPr/>
        </p:nvSpPr>
        <p:spPr>
          <a:xfrm>
            <a:off x="8430768" y="1371600"/>
            <a:ext cx="3063240" cy="1143000"/>
          </a:xfrm>
          <a:prstGeom prst="roundRect">
            <a:avLst/>
          </a:prstGeom>
          <a:solidFill>
            <a:srgbClr val="FFFFFF"/>
          </a:solidFill>
          <a:ln w="1270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30768" y="1371600"/>
            <a:ext cx="64008" cy="1143000"/>
          </a:xfrm>
          <a:prstGeom prst="rect">
            <a:avLst/>
          </a:prstGeom>
          <a:solidFill>
            <a:srgbClr val="2D6C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59368" y="1536192"/>
            <a:ext cx="2651760" cy="347472"/>
          </a:xfrm>
          <a:prstGeom prst="rect">
            <a:avLst/>
          </a:prstGeom>
          <a:noFill/>
        </p:spPr>
        <p:txBody>
          <a:bodyPr wrap="square" anchor="t">
            <a:spAutoFit/>
          </a:bodyPr>
          <a:lstStyle/>
          <a:p>
            <a:pPr algn="l">
              <a:defRPr sz="1500" b="1">
                <a:solidFill>
                  <a:srgbClr val="122D44"/>
                </a:solidFill>
                <a:latin typeface="Aptos"/>
              </a:defRPr>
            </a:pPr>
            <a:r>
              <a:t>Monitor</a:t>
            </a:r>
          </a:p>
        </p:txBody>
      </p:sp>
      <p:sp>
        <p:nvSpPr>
          <p:cNvPr id="10" name="TextBox 9"/>
          <p:cNvSpPr txBox="1"/>
          <p:nvPr/>
        </p:nvSpPr>
        <p:spPr>
          <a:xfrm>
            <a:off x="8659368" y="1993392"/>
            <a:ext cx="2651760" cy="393192"/>
          </a:xfrm>
          <a:prstGeom prst="rect">
            <a:avLst/>
          </a:prstGeom>
          <a:noFill/>
        </p:spPr>
        <p:txBody>
          <a:bodyPr wrap="square" anchor="t">
            <a:spAutoFit/>
          </a:bodyPr>
          <a:lstStyle/>
          <a:p>
            <a:pPr algn="l">
              <a:defRPr sz="1100" b="0">
                <a:solidFill>
                  <a:srgbClr val="556575"/>
                </a:solidFill>
                <a:latin typeface="Aptos"/>
              </a:defRPr>
            </a:pPr>
            <a:r>
              <a:t>Overview, live values, history and map</a:t>
            </a:r>
          </a:p>
        </p:txBody>
      </p:sp>
      <p:sp>
        <p:nvSpPr>
          <p:cNvPr id="11" name="Rounded Rectangle 10"/>
          <p:cNvSpPr/>
          <p:nvPr/>
        </p:nvSpPr>
        <p:spPr>
          <a:xfrm>
            <a:off x="8430768" y="2697480"/>
            <a:ext cx="3063240" cy="1143000"/>
          </a:xfrm>
          <a:prstGeom prst="roundRect">
            <a:avLst/>
          </a:prstGeom>
          <a:solidFill>
            <a:srgbClr val="FFFFFF"/>
          </a:solidFill>
          <a:ln w="1270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30768" y="2697480"/>
            <a:ext cx="64008" cy="1143000"/>
          </a:xfrm>
          <a:prstGeom prst="rect">
            <a:avLst/>
          </a:prstGeom>
          <a:solidFill>
            <a:srgbClr val="007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59368" y="2862072"/>
            <a:ext cx="2651760" cy="347472"/>
          </a:xfrm>
          <a:prstGeom prst="rect">
            <a:avLst/>
          </a:prstGeom>
          <a:noFill/>
        </p:spPr>
        <p:txBody>
          <a:bodyPr wrap="square" anchor="t">
            <a:spAutoFit/>
          </a:bodyPr>
          <a:lstStyle/>
          <a:p>
            <a:pPr algn="l">
              <a:defRPr sz="1500" b="1">
                <a:solidFill>
                  <a:srgbClr val="122D44"/>
                </a:solidFill>
                <a:latin typeface="Aptos"/>
              </a:defRPr>
            </a:pPr>
            <a:r>
              <a:t>Operate</a:t>
            </a:r>
          </a:p>
        </p:txBody>
      </p:sp>
      <p:sp>
        <p:nvSpPr>
          <p:cNvPr id="14" name="TextBox 13"/>
          <p:cNvSpPr txBox="1"/>
          <p:nvPr/>
        </p:nvSpPr>
        <p:spPr>
          <a:xfrm>
            <a:off x="8659368" y="3319272"/>
            <a:ext cx="2651760" cy="393192"/>
          </a:xfrm>
          <a:prstGeom prst="rect">
            <a:avLst/>
          </a:prstGeom>
          <a:noFill/>
        </p:spPr>
        <p:txBody>
          <a:bodyPr wrap="square" anchor="t">
            <a:spAutoFit/>
          </a:bodyPr>
          <a:lstStyle/>
          <a:p>
            <a:pPr algn="l">
              <a:defRPr sz="1100" b="0">
                <a:solidFill>
                  <a:srgbClr val="556575"/>
                </a:solidFill>
                <a:latin typeface="Aptos"/>
              </a:defRPr>
            </a:pPr>
            <a:r>
              <a:t>Devices, alerts, notifications and reports</a:t>
            </a:r>
          </a:p>
        </p:txBody>
      </p:sp>
      <p:sp>
        <p:nvSpPr>
          <p:cNvPr id="15" name="Rounded Rectangle 14"/>
          <p:cNvSpPr/>
          <p:nvPr/>
        </p:nvSpPr>
        <p:spPr>
          <a:xfrm>
            <a:off x="8430768" y="4023360"/>
            <a:ext cx="3063240" cy="1143000"/>
          </a:xfrm>
          <a:prstGeom prst="roundRect">
            <a:avLst/>
          </a:prstGeom>
          <a:solidFill>
            <a:srgbClr val="FFFFFF"/>
          </a:solidFill>
          <a:ln w="1270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30768" y="4023360"/>
            <a:ext cx="64008" cy="1143000"/>
          </a:xfrm>
          <a:prstGeom prst="rect">
            <a:avLst/>
          </a:prstGeom>
          <a:solidFill>
            <a:srgbClr val="694E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59368" y="4187952"/>
            <a:ext cx="2651760" cy="347472"/>
          </a:xfrm>
          <a:prstGeom prst="rect">
            <a:avLst/>
          </a:prstGeom>
          <a:noFill/>
        </p:spPr>
        <p:txBody>
          <a:bodyPr wrap="square" anchor="t">
            <a:spAutoFit/>
          </a:bodyPr>
          <a:lstStyle/>
          <a:p>
            <a:pPr algn="l">
              <a:defRPr sz="1500" b="1">
                <a:solidFill>
                  <a:srgbClr val="122D44"/>
                </a:solidFill>
                <a:latin typeface="Aptos"/>
              </a:defRPr>
            </a:pPr>
            <a:r>
              <a:t>Demonstrate</a:t>
            </a:r>
          </a:p>
        </p:txBody>
      </p:sp>
      <p:sp>
        <p:nvSpPr>
          <p:cNvPr id="18" name="TextBox 17"/>
          <p:cNvSpPr txBox="1"/>
          <p:nvPr/>
        </p:nvSpPr>
        <p:spPr>
          <a:xfrm>
            <a:off x="8659368" y="4645152"/>
            <a:ext cx="2651760" cy="393192"/>
          </a:xfrm>
          <a:prstGeom prst="rect">
            <a:avLst/>
          </a:prstGeom>
          <a:noFill/>
        </p:spPr>
        <p:txBody>
          <a:bodyPr wrap="square" anchor="t">
            <a:spAutoFit/>
          </a:bodyPr>
          <a:lstStyle/>
          <a:p>
            <a:pPr algn="l">
              <a:defRPr sz="1100" b="0">
                <a:solidFill>
                  <a:srgbClr val="556575"/>
                </a:solidFill>
                <a:latin typeface="Aptos"/>
              </a:defRPr>
            </a:pPr>
            <a:r>
              <a:t>Controlled scenarios and acknowledgements</a:t>
            </a:r>
          </a:p>
        </p:txBody>
      </p:sp>
      <p:sp>
        <p:nvSpPr>
          <p:cNvPr id="19" name="Rounded Rectangle 18"/>
          <p:cNvSpPr/>
          <p:nvPr/>
        </p:nvSpPr>
        <p:spPr>
          <a:xfrm>
            <a:off x="8430768" y="5422392"/>
            <a:ext cx="3063240" cy="384048"/>
          </a:xfrm>
          <a:prstGeom prst="roundRect">
            <a:avLst/>
          </a:prstGeom>
          <a:solidFill>
            <a:srgbClr val="12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30768" y="5431536"/>
            <a:ext cx="3063240" cy="329184"/>
          </a:xfrm>
          <a:prstGeom prst="rect">
            <a:avLst/>
          </a:prstGeom>
          <a:noFill/>
        </p:spPr>
        <p:txBody>
          <a:bodyPr wrap="square" anchor="ctr">
            <a:spAutoFit/>
          </a:bodyPr>
          <a:lstStyle/>
          <a:p>
            <a:pPr algn="ctr">
              <a:defRPr sz="1000" b="1">
                <a:solidFill>
                  <a:srgbClr val="FFFFFF"/>
                </a:solidFill>
                <a:latin typeface="Aptos"/>
              </a:defRPr>
            </a:pPr>
            <a:r>
              <a:t>Admin + viewer roles</a:t>
            </a:r>
          </a:p>
        </p:txBody>
      </p:sp>
      <p:sp>
        <p:nvSpPr>
          <p:cNvPr id="21" name="TextBox 20"/>
          <p:cNvSpPr txBox="1"/>
          <p:nvPr/>
        </p:nvSpPr>
        <p:spPr>
          <a:xfrm>
            <a:off x="576072" y="6519672"/>
            <a:ext cx="4754880" cy="182880"/>
          </a:xfrm>
          <a:prstGeom prst="rect">
            <a:avLst/>
          </a:prstGeom>
          <a:noFill/>
        </p:spPr>
        <p:txBody>
          <a:bodyPr wrap="square" anchor="t">
            <a:spAutoFit/>
          </a:bodyPr>
          <a:lstStyle/>
          <a:p>
            <a:pPr algn="l">
              <a:defRPr sz="800" b="0">
                <a:solidFill>
                  <a:srgbClr val="556575"/>
                </a:solidFill>
                <a:latin typeface="Aptos"/>
              </a:defRPr>
            </a:pPr>
            <a:r>
              <a:t>ICT304 | WeatherGrid</a:t>
            </a:r>
          </a:p>
        </p:txBody>
      </p:sp>
      <p:sp>
        <p:nvSpPr>
          <p:cNvPr id="22" name="TextBox 21"/>
          <p:cNvSpPr txBox="1"/>
          <p:nvPr/>
        </p:nvSpPr>
        <p:spPr>
          <a:xfrm>
            <a:off x="10789920" y="6519672"/>
            <a:ext cx="731520" cy="182880"/>
          </a:xfrm>
          <a:prstGeom prst="rect">
            <a:avLst/>
          </a:prstGeom>
          <a:noFill/>
        </p:spPr>
        <p:txBody>
          <a:bodyPr wrap="square" anchor="t">
            <a:spAutoFit/>
          </a:bodyPr>
          <a:lstStyle/>
          <a:p>
            <a:pPr algn="r">
              <a:defRPr sz="800" b="0">
                <a:solidFill>
                  <a:srgbClr val="556575"/>
                </a:solidFill>
                <a:latin typeface="Aptos"/>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566928" y="310896"/>
            <a:ext cx="502920" cy="347472"/>
          </a:xfrm>
          <a:prstGeom prst="rect">
            <a:avLst/>
          </a:prstGeom>
          <a:noFill/>
        </p:spPr>
        <p:txBody>
          <a:bodyPr wrap="square" anchor="t">
            <a:spAutoFit/>
          </a:bodyPr>
          <a:lstStyle/>
          <a:p>
            <a:pPr algn="l">
              <a:defRPr sz="1300" b="1">
                <a:solidFill>
                  <a:srgbClr val="007E89"/>
                </a:solidFill>
                <a:latin typeface="Aptos"/>
              </a:defRPr>
            </a:pPr>
            <a:r>
              <a:t>09</a:t>
            </a:r>
          </a:p>
        </p:txBody>
      </p:sp>
      <p:sp>
        <p:nvSpPr>
          <p:cNvPr id="3" name="TextBox 2"/>
          <p:cNvSpPr txBox="1"/>
          <p:nvPr/>
        </p:nvSpPr>
        <p:spPr>
          <a:xfrm>
            <a:off x="1078992" y="228600"/>
            <a:ext cx="10469880" cy="475488"/>
          </a:xfrm>
          <a:prstGeom prst="rect">
            <a:avLst/>
          </a:prstGeom>
          <a:noFill/>
        </p:spPr>
        <p:txBody>
          <a:bodyPr wrap="square" anchor="t">
            <a:spAutoFit/>
          </a:bodyPr>
          <a:lstStyle/>
          <a:p>
            <a:pPr algn="l">
              <a:defRPr sz="2600" b="1">
                <a:solidFill>
                  <a:srgbClr val="122D44"/>
                </a:solidFill>
                <a:latin typeface="Aptos"/>
              </a:defRPr>
            </a:pPr>
            <a:r>
              <a:t>Security and data integrity</a:t>
            </a:r>
          </a:p>
        </p:txBody>
      </p:sp>
      <p:sp>
        <p:nvSpPr>
          <p:cNvPr id="4" name="TextBox 3"/>
          <p:cNvSpPr txBox="1"/>
          <p:nvPr/>
        </p:nvSpPr>
        <p:spPr>
          <a:xfrm>
            <a:off x="1078992" y="722376"/>
            <a:ext cx="10149840" cy="347472"/>
          </a:xfrm>
          <a:prstGeom prst="rect">
            <a:avLst/>
          </a:prstGeom>
          <a:noFill/>
        </p:spPr>
        <p:txBody>
          <a:bodyPr wrap="square" anchor="t">
            <a:spAutoFit/>
          </a:bodyPr>
          <a:lstStyle/>
          <a:p>
            <a:pPr algn="l">
              <a:defRPr sz="1100" b="0">
                <a:solidFill>
                  <a:srgbClr val="556575"/>
                </a:solidFill>
                <a:latin typeface="Aptos"/>
              </a:defRPr>
            </a:pPr>
            <a:r>
              <a:t>Separate identities and validation at every trust boundary</a:t>
            </a:r>
          </a:p>
        </p:txBody>
      </p:sp>
      <p:sp>
        <p:nvSpPr>
          <p:cNvPr id="5" name="Rectangle 4"/>
          <p:cNvSpPr/>
          <p:nvPr/>
        </p:nvSpPr>
        <p:spPr>
          <a:xfrm>
            <a:off x="566928" y="1097280"/>
            <a:ext cx="11018520" cy="22860"/>
          </a:xfrm>
          <a:prstGeom prst="rect">
            <a:avLst/>
          </a:prstGeom>
          <a:solidFill>
            <a:srgbClr val="D8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49808" y="1399032"/>
            <a:ext cx="502920" cy="502920"/>
          </a:xfrm>
          <a:prstGeom prst="ellipse">
            <a:avLst/>
          </a:prstGeom>
          <a:solidFill>
            <a:srgbClr val="2D6C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44752" y="1325880"/>
            <a:ext cx="2194560" cy="320040"/>
          </a:xfrm>
          <a:prstGeom prst="rect">
            <a:avLst/>
          </a:prstGeom>
          <a:noFill/>
        </p:spPr>
        <p:txBody>
          <a:bodyPr wrap="square" anchor="t">
            <a:spAutoFit/>
          </a:bodyPr>
          <a:lstStyle/>
          <a:p>
            <a:pPr algn="l">
              <a:defRPr sz="1600" b="1">
                <a:solidFill>
                  <a:srgbClr val="122D44"/>
                </a:solidFill>
                <a:latin typeface="Aptos"/>
              </a:defRPr>
            </a:pPr>
            <a:r>
              <a:t>Human access</a:t>
            </a:r>
          </a:p>
        </p:txBody>
      </p:sp>
      <p:sp>
        <p:nvSpPr>
          <p:cNvPr id="8" name="TextBox 7"/>
          <p:cNvSpPr txBox="1"/>
          <p:nvPr/>
        </p:nvSpPr>
        <p:spPr>
          <a:xfrm>
            <a:off x="3657600" y="1325880"/>
            <a:ext cx="7406640" cy="475488"/>
          </a:xfrm>
          <a:prstGeom prst="rect">
            <a:avLst/>
          </a:prstGeom>
          <a:noFill/>
        </p:spPr>
        <p:txBody>
          <a:bodyPr wrap="square" anchor="t">
            <a:spAutoFit/>
          </a:bodyPr>
          <a:lstStyle/>
          <a:p>
            <a:pPr algn="l">
              <a:defRPr sz="1400" b="0">
                <a:solidFill>
                  <a:srgbClr val="556575"/>
                </a:solidFill>
                <a:latin typeface="Aptos"/>
              </a:defRPr>
            </a:pPr>
            <a:r>
              <a:t>Payload sessions with admin and read-only viewer roles</a:t>
            </a:r>
          </a:p>
        </p:txBody>
      </p:sp>
      <p:sp>
        <p:nvSpPr>
          <p:cNvPr id="9" name="Oval 8"/>
          <p:cNvSpPr/>
          <p:nvPr/>
        </p:nvSpPr>
        <p:spPr>
          <a:xfrm>
            <a:off x="749808" y="2340864"/>
            <a:ext cx="502920" cy="502920"/>
          </a:xfrm>
          <a:prstGeom prst="ellipse">
            <a:avLst/>
          </a:prstGeom>
          <a:solidFill>
            <a:srgbClr val="007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44752" y="2267712"/>
            <a:ext cx="2194560" cy="320040"/>
          </a:xfrm>
          <a:prstGeom prst="rect">
            <a:avLst/>
          </a:prstGeom>
          <a:noFill/>
        </p:spPr>
        <p:txBody>
          <a:bodyPr wrap="square" anchor="t">
            <a:spAutoFit/>
          </a:bodyPr>
          <a:lstStyle/>
          <a:p>
            <a:pPr algn="l">
              <a:defRPr sz="1600" b="1">
                <a:solidFill>
                  <a:srgbClr val="122D44"/>
                </a:solidFill>
                <a:latin typeface="Aptos"/>
              </a:defRPr>
            </a:pPr>
            <a:r>
              <a:t>Machine access</a:t>
            </a:r>
          </a:p>
        </p:txBody>
      </p:sp>
      <p:sp>
        <p:nvSpPr>
          <p:cNvPr id="11" name="TextBox 10"/>
          <p:cNvSpPr txBox="1"/>
          <p:nvPr/>
        </p:nvSpPr>
        <p:spPr>
          <a:xfrm>
            <a:off x="3657600" y="2267712"/>
            <a:ext cx="7406640" cy="475488"/>
          </a:xfrm>
          <a:prstGeom prst="rect">
            <a:avLst/>
          </a:prstGeom>
          <a:noFill/>
        </p:spPr>
        <p:txBody>
          <a:bodyPr wrap="square" anchor="t">
            <a:spAutoFit/>
          </a:bodyPr>
          <a:lstStyle/>
          <a:p>
            <a:pPr algn="l">
              <a:defRPr sz="1400" b="0">
                <a:solidFill>
                  <a:srgbClr val="556575"/>
                </a:solidFill>
                <a:latin typeface="Aptos"/>
              </a:defRPr>
            </a:pPr>
            <a:r>
              <a:t>Dedicated edge-gateway service account and API key</a:t>
            </a:r>
          </a:p>
        </p:txBody>
      </p:sp>
      <p:sp>
        <p:nvSpPr>
          <p:cNvPr id="12" name="Oval 11"/>
          <p:cNvSpPr/>
          <p:nvPr/>
        </p:nvSpPr>
        <p:spPr>
          <a:xfrm>
            <a:off x="749808" y="3282696"/>
            <a:ext cx="502920" cy="502920"/>
          </a:xfrm>
          <a:prstGeom prst="ellipse">
            <a:avLst/>
          </a:prstGeom>
          <a:solidFill>
            <a:srgbClr val="694E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44752" y="3209544"/>
            <a:ext cx="2194560" cy="320040"/>
          </a:xfrm>
          <a:prstGeom prst="rect">
            <a:avLst/>
          </a:prstGeom>
          <a:noFill/>
        </p:spPr>
        <p:txBody>
          <a:bodyPr wrap="square" anchor="t">
            <a:spAutoFit/>
          </a:bodyPr>
          <a:lstStyle/>
          <a:p>
            <a:pPr algn="l">
              <a:defRPr sz="1600" b="1">
                <a:solidFill>
                  <a:srgbClr val="122D44"/>
                </a:solidFill>
                <a:latin typeface="Aptos"/>
              </a:defRPr>
            </a:pPr>
            <a:r>
              <a:t>Validation</a:t>
            </a:r>
          </a:p>
        </p:txBody>
      </p:sp>
      <p:sp>
        <p:nvSpPr>
          <p:cNvPr id="14" name="TextBox 13"/>
          <p:cNvSpPr txBox="1"/>
          <p:nvPr/>
        </p:nvSpPr>
        <p:spPr>
          <a:xfrm>
            <a:off x="3657600" y="3209544"/>
            <a:ext cx="7406640" cy="475488"/>
          </a:xfrm>
          <a:prstGeom prst="rect">
            <a:avLst/>
          </a:prstGeom>
          <a:noFill/>
        </p:spPr>
        <p:txBody>
          <a:bodyPr wrap="square" anchor="t">
            <a:spAutoFit/>
          </a:bodyPr>
          <a:lstStyle/>
          <a:p>
            <a:pPr algn="l">
              <a:defRPr sz="1400" b="0">
                <a:solidFill>
                  <a:srgbClr val="556575"/>
                </a:solidFill>
                <a:latin typeface="Aptos"/>
              </a:defRPr>
            </a:pPr>
            <a:r>
              <a:t>Strict schemas, 16 KiB limit, ranges and timestamp ordering</a:t>
            </a:r>
          </a:p>
        </p:txBody>
      </p:sp>
      <p:sp>
        <p:nvSpPr>
          <p:cNvPr id="15" name="Oval 14"/>
          <p:cNvSpPr/>
          <p:nvPr/>
        </p:nvSpPr>
        <p:spPr>
          <a:xfrm>
            <a:off x="749808" y="4224528"/>
            <a:ext cx="502920" cy="502920"/>
          </a:xfrm>
          <a:prstGeom prst="ellipse">
            <a:avLst/>
          </a:prstGeom>
          <a:solidFill>
            <a:srgbClr val="B9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44752" y="4151376"/>
            <a:ext cx="2194560" cy="320040"/>
          </a:xfrm>
          <a:prstGeom prst="rect">
            <a:avLst/>
          </a:prstGeom>
          <a:noFill/>
        </p:spPr>
        <p:txBody>
          <a:bodyPr wrap="square" anchor="t">
            <a:spAutoFit/>
          </a:bodyPr>
          <a:lstStyle/>
          <a:p>
            <a:pPr algn="l">
              <a:defRPr sz="1600" b="1">
                <a:solidFill>
                  <a:srgbClr val="122D44"/>
                </a:solidFill>
                <a:latin typeface="Aptos"/>
              </a:defRPr>
            </a:pPr>
            <a:r>
              <a:t>Integrity</a:t>
            </a:r>
          </a:p>
        </p:txBody>
      </p:sp>
      <p:sp>
        <p:nvSpPr>
          <p:cNvPr id="17" name="TextBox 16"/>
          <p:cNvSpPr txBox="1"/>
          <p:nvPr/>
        </p:nvSpPr>
        <p:spPr>
          <a:xfrm>
            <a:off x="3657600" y="4151376"/>
            <a:ext cx="7406640" cy="475488"/>
          </a:xfrm>
          <a:prstGeom prst="rect">
            <a:avLst/>
          </a:prstGeom>
          <a:noFill/>
        </p:spPr>
        <p:txBody>
          <a:bodyPr wrap="square" anchor="t">
            <a:spAutoFit/>
          </a:bodyPr>
          <a:lstStyle/>
          <a:p>
            <a:pPr algn="l">
              <a:defRPr sz="1400" b="0">
                <a:solidFill>
                  <a:srgbClr val="556575"/>
                </a:solidFill>
                <a:latin typeface="Aptos"/>
              </a:defRPr>
            </a:pPr>
            <a:r>
              <a:t>UUID messages, persistent sequences, unique database constraint</a:t>
            </a:r>
          </a:p>
        </p:txBody>
      </p:sp>
      <p:sp>
        <p:nvSpPr>
          <p:cNvPr id="18" name="Oval 17"/>
          <p:cNvSpPr/>
          <p:nvPr/>
        </p:nvSpPr>
        <p:spPr>
          <a:xfrm>
            <a:off x="749808" y="5166360"/>
            <a:ext cx="502920" cy="502920"/>
          </a:xfrm>
          <a:prstGeom prst="ellipse">
            <a:avLst/>
          </a:prstGeom>
          <a:solidFill>
            <a:srgbClr val="18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44752" y="5093208"/>
            <a:ext cx="2194560" cy="320040"/>
          </a:xfrm>
          <a:prstGeom prst="rect">
            <a:avLst/>
          </a:prstGeom>
          <a:noFill/>
        </p:spPr>
        <p:txBody>
          <a:bodyPr wrap="square" anchor="t">
            <a:spAutoFit/>
          </a:bodyPr>
          <a:lstStyle/>
          <a:p>
            <a:pPr algn="l">
              <a:defRPr sz="1600" b="1">
                <a:solidFill>
                  <a:srgbClr val="122D44"/>
                </a:solidFill>
                <a:latin typeface="Aptos"/>
              </a:defRPr>
            </a:pPr>
            <a:r>
              <a:t>Local safety</a:t>
            </a:r>
          </a:p>
        </p:txBody>
      </p:sp>
      <p:sp>
        <p:nvSpPr>
          <p:cNvPr id="20" name="TextBox 19"/>
          <p:cNvSpPr txBox="1"/>
          <p:nvPr/>
        </p:nvSpPr>
        <p:spPr>
          <a:xfrm>
            <a:off x="3657600" y="5093208"/>
            <a:ext cx="7406640" cy="475488"/>
          </a:xfrm>
          <a:prstGeom prst="rect">
            <a:avLst/>
          </a:prstGeom>
          <a:noFill/>
        </p:spPr>
        <p:txBody>
          <a:bodyPr wrap="square" anchor="t">
            <a:spAutoFit/>
          </a:bodyPr>
          <a:lstStyle/>
          <a:p>
            <a:pPr algn="l">
              <a:defRPr sz="1400" b="0">
                <a:solidFill>
                  <a:srgbClr val="556575"/>
                </a:solidFill>
                <a:latin typeface="Aptos"/>
              </a:defRPr>
            </a:pPr>
            <a:r>
              <a:t>Development MQTT port bound to loopback only</a:t>
            </a:r>
          </a:p>
        </p:txBody>
      </p:sp>
      <p:sp>
        <p:nvSpPr>
          <p:cNvPr id="21" name="Rounded Rectangle 20"/>
          <p:cNvSpPr/>
          <p:nvPr/>
        </p:nvSpPr>
        <p:spPr>
          <a:xfrm>
            <a:off x="7955279" y="5532120"/>
            <a:ext cx="3383280" cy="713232"/>
          </a:xfrm>
          <a:prstGeom prst="roundRect">
            <a:avLst/>
          </a:prstGeom>
          <a:solidFill>
            <a:srgbClr val="FFFFFF"/>
          </a:solidFill>
          <a:ln w="1270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55279" y="5532120"/>
            <a:ext cx="64008" cy="713232"/>
          </a:xfrm>
          <a:prstGeom prst="rect">
            <a:avLst/>
          </a:prstGeom>
          <a:solidFill>
            <a:srgbClr val="C238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83879" y="5696712"/>
            <a:ext cx="2971800" cy="347472"/>
          </a:xfrm>
          <a:prstGeom prst="rect">
            <a:avLst/>
          </a:prstGeom>
          <a:noFill/>
        </p:spPr>
        <p:txBody>
          <a:bodyPr wrap="square" anchor="t">
            <a:spAutoFit/>
          </a:bodyPr>
          <a:lstStyle/>
          <a:p>
            <a:pPr algn="l">
              <a:defRPr sz="1200" b="1">
                <a:solidFill>
                  <a:srgbClr val="122D44"/>
                </a:solidFill>
                <a:latin typeface="Aptos"/>
              </a:defRPr>
            </a:pPr>
            <a:r>
              <a:t>Production requirement</a:t>
            </a:r>
          </a:p>
        </p:txBody>
      </p:sp>
      <p:sp>
        <p:nvSpPr>
          <p:cNvPr id="24" name="TextBox 23"/>
          <p:cNvSpPr txBox="1"/>
          <p:nvPr/>
        </p:nvSpPr>
        <p:spPr>
          <a:xfrm>
            <a:off x="8183879" y="6153912"/>
            <a:ext cx="2971800" cy="-36575"/>
          </a:xfrm>
          <a:prstGeom prst="rect">
            <a:avLst/>
          </a:prstGeom>
          <a:noFill/>
        </p:spPr>
        <p:txBody>
          <a:bodyPr wrap="square" anchor="t">
            <a:spAutoFit/>
          </a:bodyPr>
          <a:lstStyle/>
          <a:p>
            <a:pPr algn="l">
              <a:defRPr sz="900" b="0">
                <a:solidFill>
                  <a:srgbClr val="556575"/>
                </a:solidFill>
                <a:latin typeface="Aptos"/>
              </a:defRPr>
            </a:pPr>
            <a:r>
              <a:t>MQTT over TLS, per-device credentials and secret rotation</a:t>
            </a:r>
          </a:p>
        </p:txBody>
      </p:sp>
      <p:sp>
        <p:nvSpPr>
          <p:cNvPr id="25" name="TextBox 24"/>
          <p:cNvSpPr txBox="1"/>
          <p:nvPr/>
        </p:nvSpPr>
        <p:spPr>
          <a:xfrm>
            <a:off x="576072" y="6519672"/>
            <a:ext cx="4754880" cy="182880"/>
          </a:xfrm>
          <a:prstGeom prst="rect">
            <a:avLst/>
          </a:prstGeom>
          <a:noFill/>
        </p:spPr>
        <p:txBody>
          <a:bodyPr wrap="square" anchor="t">
            <a:spAutoFit/>
          </a:bodyPr>
          <a:lstStyle/>
          <a:p>
            <a:pPr algn="l">
              <a:defRPr sz="800" b="0">
                <a:solidFill>
                  <a:srgbClr val="556575"/>
                </a:solidFill>
                <a:latin typeface="Aptos"/>
              </a:defRPr>
            </a:pPr>
            <a:r>
              <a:t>ICT304 | WeatherGrid</a:t>
            </a:r>
          </a:p>
        </p:txBody>
      </p:sp>
      <p:sp>
        <p:nvSpPr>
          <p:cNvPr id="26" name="TextBox 25"/>
          <p:cNvSpPr txBox="1"/>
          <p:nvPr/>
        </p:nvSpPr>
        <p:spPr>
          <a:xfrm>
            <a:off x="10789920" y="6519672"/>
            <a:ext cx="731520" cy="182880"/>
          </a:xfrm>
          <a:prstGeom prst="rect">
            <a:avLst/>
          </a:prstGeom>
          <a:noFill/>
        </p:spPr>
        <p:txBody>
          <a:bodyPr wrap="square" anchor="t">
            <a:spAutoFit/>
          </a:bodyPr>
          <a:lstStyle/>
          <a:p>
            <a:pPr algn="r">
              <a:defRPr sz="800" b="0">
                <a:solidFill>
                  <a:srgbClr val="556575"/>
                </a:solidFill>
                <a:latin typeface="Aptos"/>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566928" y="310896"/>
            <a:ext cx="502920" cy="347472"/>
          </a:xfrm>
          <a:prstGeom prst="rect">
            <a:avLst/>
          </a:prstGeom>
          <a:noFill/>
        </p:spPr>
        <p:txBody>
          <a:bodyPr wrap="square" anchor="t">
            <a:spAutoFit/>
          </a:bodyPr>
          <a:lstStyle/>
          <a:p>
            <a:pPr algn="l">
              <a:defRPr sz="1300" b="1">
                <a:solidFill>
                  <a:srgbClr val="007E89"/>
                </a:solidFill>
                <a:latin typeface="Aptos"/>
              </a:defRPr>
            </a:pPr>
            <a:r>
              <a:t>10</a:t>
            </a:r>
          </a:p>
        </p:txBody>
      </p:sp>
      <p:sp>
        <p:nvSpPr>
          <p:cNvPr id="3" name="TextBox 2"/>
          <p:cNvSpPr txBox="1"/>
          <p:nvPr/>
        </p:nvSpPr>
        <p:spPr>
          <a:xfrm>
            <a:off x="1078992" y="228600"/>
            <a:ext cx="10469880" cy="475488"/>
          </a:xfrm>
          <a:prstGeom prst="rect">
            <a:avLst/>
          </a:prstGeom>
          <a:noFill/>
        </p:spPr>
        <p:txBody>
          <a:bodyPr wrap="square" anchor="t">
            <a:spAutoFit/>
          </a:bodyPr>
          <a:lstStyle/>
          <a:p>
            <a:pPr algn="l">
              <a:defRPr sz="2600" b="1">
                <a:solidFill>
                  <a:srgbClr val="122D44"/>
                </a:solidFill>
                <a:latin typeface="Aptos"/>
              </a:defRPr>
            </a:pPr>
            <a:r>
              <a:t>Testing and evaluation</a:t>
            </a:r>
          </a:p>
        </p:txBody>
      </p:sp>
      <p:sp>
        <p:nvSpPr>
          <p:cNvPr id="4" name="TextBox 3"/>
          <p:cNvSpPr txBox="1"/>
          <p:nvPr/>
        </p:nvSpPr>
        <p:spPr>
          <a:xfrm>
            <a:off x="1078992" y="722376"/>
            <a:ext cx="10149840" cy="347472"/>
          </a:xfrm>
          <a:prstGeom prst="rect">
            <a:avLst/>
          </a:prstGeom>
          <a:noFill/>
        </p:spPr>
        <p:txBody>
          <a:bodyPr wrap="square" anchor="t">
            <a:spAutoFit/>
          </a:bodyPr>
          <a:lstStyle/>
          <a:p>
            <a:pPr algn="l">
              <a:defRPr sz="1100" b="0">
                <a:solidFill>
                  <a:srgbClr val="556575"/>
                </a:solidFill>
                <a:latin typeface="Aptos"/>
              </a:defRPr>
            </a:pPr>
            <a:r>
              <a:t>Reproducible evidence from every implemented layer</a:t>
            </a:r>
          </a:p>
        </p:txBody>
      </p:sp>
      <p:sp>
        <p:nvSpPr>
          <p:cNvPr id="5" name="Rectangle 4"/>
          <p:cNvSpPr/>
          <p:nvPr/>
        </p:nvSpPr>
        <p:spPr>
          <a:xfrm>
            <a:off x="566928" y="1097280"/>
            <a:ext cx="11018520" cy="22860"/>
          </a:xfrm>
          <a:prstGeom prst="rect">
            <a:avLst/>
          </a:prstGeom>
          <a:solidFill>
            <a:srgbClr val="D8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627631"/>
            <a:ext cx="1463040" cy="320040"/>
          </a:xfrm>
          <a:prstGeom prst="rect">
            <a:avLst/>
          </a:prstGeom>
          <a:noFill/>
        </p:spPr>
        <p:txBody>
          <a:bodyPr wrap="square" anchor="t">
            <a:spAutoFit/>
          </a:bodyPr>
          <a:lstStyle/>
          <a:p>
            <a:pPr algn="l">
              <a:defRPr sz="1500" b="1">
                <a:solidFill>
                  <a:srgbClr val="122D44"/>
                </a:solidFill>
                <a:latin typeface="Aptos"/>
              </a:defRPr>
            </a:pPr>
            <a:r>
              <a:t>Web logic</a:t>
            </a:r>
          </a:p>
        </p:txBody>
      </p:sp>
      <p:sp>
        <p:nvSpPr>
          <p:cNvPr id="7" name="Rounded Rectangle 6"/>
          <p:cNvSpPr/>
          <p:nvPr/>
        </p:nvSpPr>
        <p:spPr>
          <a:xfrm>
            <a:off x="2240280" y="1508760"/>
            <a:ext cx="5029200" cy="566928"/>
          </a:xfrm>
          <a:prstGeom prst="roundRect">
            <a:avLst/>
          </a:prstGeom>
          <a:solidFill>
            <a:srgbClr val="E3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240280" y="1508760"/>
            <a:ext cx="1341120" cy="566928"/>
          </a:xfrm>
          <a:prstGeom prst="roundRect">
            <a:avLst/>
          </a:prstGeom>
          <a:solidFill>
            <a:srgbClr val="2D6C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61504" y="1609344"/>
            <a:ext cx="1005840" cy="320040"/>
          </a:xfrm>
          <a:prstGeom prst="rect">
            <a:avLst/>
          </a:prstGeom>
          <a:noFill/>
        </p:spPr>
        <p:txBody>
          <a:bodyPr wrap="square" anchor="t">
            <a:spAutoFit/>
          </a:bodyPr>
          <a:lstStyle/>
          <a:p>
            <a:pPr algn="l">
              <a:defRPr sz="1400" b="1">
                <a:solidFill>
                  <a:srgbClr val="2D6CDF"/>
                </a:solidFill>
                <a:latin typeface="Aptos"/>
              </a:defRPr>
            </a:pPr>
            <a:r>
              <a:t>8 passed</a:t>
            </a:r>
          </a:p>
        </p:txBody>
      </p:sp>
      <p:sp>
        <p:nvSpPr>
          <p:cNvPr id="10" name="TextBox 9"/>
          <p:cNvSpPr txBox="1"/>
          <p:nvPr/>
        </p:nvSpPr>
        <p:spPr>
          <a:xfrm>
            <a:off x="749808" y="2743200"/>
            <a:ext cx="1463040" cy="320040"/>
          </a:xfrm>
          <a:prstGeom prst="rect">
            <a:avLst/>
          </a:prstGeom>
          <a:noFill/>
        </p:spPr>
        <p:txBody>
          <a:bodyPr wrap="square" anchor="t">
            <a:spAutoFit/>
          </a:bodyPr>
          <a:lstStyle/>
          <a:p>
            <a:pPr algn="l">
              <a:defRPr sz="1500" b="1">
                <a:solidFill>
                  <a:srgbClr val="122D44"/>
                </a:solidFill>
                <a:latin typeface="Aptos"/>
              </a:defRPr>
            </a:pPr>
            <a:r>
              <a:t>Gateway</a:t>
            </a:r>
          </a:p>
        </p:txBody>
      </p:sp>
      <p:sp>
        <p:nvSpPr>
          <p:cNvPr id="11" name="Rounded Rectangle 10"/>
          <p:cNvSpPr/>
          <p:nvPr/>
        </p:nvSpPr>
        <p:spPr>
          <a:xfrm>
            <a:off x="2240280" y="2624328"/>
            <a:ext cx="5029200" cy="566928"/>
          </a:xfrm>
          <a:prstGeom prst="roundRect">
            <a:avLst/>
          </a:prstGeom>
          <a:solidFill>
            <a:srgbClr val="E3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240280" y="2624328"/>
            <a:ext cx="1173480" cy="566928"/>
          </a:xfrm>
          <a:prstGeom prst="roundRect">
            <a:avLst/>
          </a:prstGeom>
          <a:solidFill>
            <a:srgbClr val="007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61504" y="2724912"/>
            <a:ext cx="1005840" cy="320040"/>
          </a:xfrm>
          <a:prstGeom prst="rect">
            <a:avLst/>
          </a:prstGeom>
          <a:noFill/>
        </p:spPr>
        <p:txBody>
          <a:bodyPr wrap="square" anchor="t">
            <a:spAutoFit/>
          </a:bodyPr>
          <a:lstStyle/>
          <a:p>
            <a:pPr algn="l">
              <a:defRPr sz="1400" b="1">
                <a:solidFill>
                  <a:srgbClr val="007E89"/>
                </a:solidFill>
                <a:latin typeface="Aptos"/>
              </a:defRPr>
            </a:pPr>
            <a:r>
              <a:t>7 passed</a:t>
            </a:r>
          </a:p>
        </p:txBody>
      </p:sp>
      <p:sp>
        <p:nvSpPr>
          <p:cNvPr id="14" name="TextBox 13"/>
          <p:cNvSpPr txBox="1"/>
          <p:nvPr/>
        </p:nvSpPr>
        <p:spPr>
          <a:xfrm>
            <a:off x="749808" y="3858768"/>
            <a:ext cx="1463040" cy="320040"/>
          </a:xfrm>
          <a:prstGeom prst="rect">
            <a:avLst/>
          </a:prstGeom>
          <a:noFill/>
        </p:spPr>
        <p:txBody>
          <a:bodyPr wrap="square" anchor="t">
            <a:spAutoFit/>
          </a:bodyPr>
          <a:lstStyle/>
          <a:p>
            <a:pPr algn="l">
              <a:defRPr sz="1500" b="1">
                <a:solidFill>
                  <a:srgbClr val="122D44"/>
                </a:solidFill>
                <a:latin typeface="Aptos"/>
              </a:defRPr>
            </a:pPr>
            <a:r>
              <a:t>Simulator</a:t>
            </a:r>
          </a:p>
        </p:txBody>
      </p:sp>
      <p:sp>
        <p:nvSpPr>
          <p:cNvPr id="15" name="Rounded Rectangle 14"/>
          <p:cNvSpPr/>
          <p:nvPr/>
        </p:nvSpPr>
        <p:spPr>
          <a:xfrm>
            <a:off x="2240280" y="3739896"/>
            <a:ext cx="5029200" cy="566928"/>
          </a:xfrm>
          <a:prstGeom prst="roundRect">
            <a:avLst/>
          </a:prstGeom>
          <a:solidFill>
            <a:srgbClr val="E3E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240280" y="3739896"/>
            <a:ext cx="4526280" cy="566928"/>
          </a:xfrm>
          <a:prstGeom prst="roundRect">
            <a:avLst/>
          </a:prstGeom>
          <a:solidFill>
            <a:srgbClr val="694E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61504" y="3840480"/>
            <a:ext cx="1005840" cy="320040"/>
          </a:xfrm>
          <a:prstGeom prst="rect">
            <a:avLst/>
          </a:prstGeom>
          <a:noFill/>
        </p:spPr>
        <p:txBody>
          <a:bodyPr wrap="square" anchor="t">
            <a:spAutoFit/>
          </a:bodyPr>
          <a:lstStyle/>
          <a:p>
            <a:pPr algn="l">
              <a:defRPr sz="1400" b="1">
                <a:solidFill>
                  <a:srgbClr val="694EC4"/>
                </a:solidFill>
                <a:latin typeface="Aptos"/>
              </a:defRPr>
            </a:pPr>
            <a:r>
              <a:t>27 passed</a:t>
            </a:r>
          </a:p>
        </p:txBody>
      </p:sp>
      <p:sp>
        <p:nvSpPr>
          <p:cNvPr id="18" name="TextBox 17"/>
          <p:cNvSpPr txBox="1"/>
          <p:nvPr/>
        </p:nvSpPr>
        <p:spPr>
          <a:xfrm>
            <a:off x="777240" y="5047488"/>
            <a:ext cx="7040880" cy="457200"/>
          </a:xfrm>
          <a:prstGeom prst="rect">
            <a:avLst/>
          </a:prstGeom>
          <a:noFill/>
        </p:spPr>
        <p:txBody>
          <a:bodyPr wrap="square" anchor="t">
            <a:spAutoFit/>
          </a:bodyPr>
          <a:lstStyle/>
          <a:p>
            <a:pPr algn="l">
              <a:defRPr sz="2500" b="1">
                <a:solidFill>
                  <a:srgbClr val="122D44"/>
                </a:solidFill>
                <a:latin typeface="Aptos"/>
              </a:defRPr>
            </a:pPr>
            <a:r>
              <a:t>42 automated tests passed</a:t>
            </a:r>
          </a:p>
        </p:txBody>
      </p:sp>
      <p:sp>
        <p:nvSpPr>
          <p:cNvPr id="19" name="Rounded Rectangle 18"/>
          <p:cNvSpPr/>
          <p:nvPr/>
        </p:nvSpPr>
        <p:spPr>
          <a:xfrm>
            <a:off x="777240" y="5650992"/>
            <a:ext cx="1737360" cy="384048"/>
          </a:xfrm>
          <a:prstGeom prst="roundRect">
            <a:avLst/>
          </a:prstGeom>
          <a:solidFill>
            <a:srgbClr val="18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660136"/>
            <a:ext cx="1737360" cy="329184"/>
          </a:xfrm>
          <a:prstGeom prst="rect">
            <a:avLst/>
          </a:prstGeom>
          <a:noFill/>
        </p:spPr>
        <p:txBody>
          <a:bodyPr wrap="square" anchor="ctr">
            <a:spAutoFit/>
          </a:bodyPr>
          <a:lstStyle/>
          <a:p>
            <a:pPr algn="ctr">
              <a:defRPr sz="1000" b="1">
                <a:solidFill>
                  <a:srgbClr val="FFFFFF"/>
                </a:solidFill>
                <a:latin typeface="Aptos"/>
              </a:defRPr>
            </a:pPr>
            <a:r>
              <a:t>TypeScript: pass</a:t>
            </a:r>
          </a:p>
        </p:txBody>
      </p:sp>
      <p:sp>
        <p:nvSpPr>
          <p:cNvPr id="21" name="Rounded Rectangle 20"/>
          <p:cNvSpPr/>
          <p:nvPr/>
        </p:nvSpPr>
        <p:spPr>
          <a:xfrm>
            <a:off x="2697480" y="5650992"/>
            <a:ext cx="1554480" cy="384048"/>
          </a:xfrm>
          <a:prstGeom prst="roundRect">
            <a:avLst/>
          </a:prstGeom>
          <a:solidFill>
            <a:srgbClr val="18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97480" y="5660136"/>
            <a:ext cx="1554480" cy="329184"/>
          </a:xfrm>
          <a:prstGeom prst="rect">
            <a:avLst/>
          </a:prstGeom>
          <a:noFill/>
        </p:spPr>
        <p:txBody>
          <a:bodyPr wrap="square" anchor="ctr">
            <a:spAutoFit/>
          </a:bodyPr>
          <a:lstStyle/>
          <a:p>
            <a:pPr algn="ctr">
              <a:defRPr sz="1000" b="1">
                <a:solidFill>
                  <a:srgbClr val="FFFFFF"/>
                </a:solidFill>
                <a:latin typeface="Aptos"/>
              </a:defRPr>
            </a:pPr>
            <a:r>
              <a:t>ESLint: pass</a:t>
            </a:r>
          </a:p>
        </p:txBody>
      </p:sp>
      <p:sp>
        <p:nvSpPr>
          <p:cNvPr id="23" name="Rounded Rectangle 22"/>
          <p:cNvSpPr/>
          <p:nvPr/>
        </p:nvSpPr>
        <p:spPr>
          <a:xfrm>
            <a:off x="4434840" y="5650992"/>
            <a:ext cx="2240280" cy="384048"/>
          </a:xfrm>
          <a:prstGeom prst="roundRect">
            <a:avLst/>
          </a:prstGeom>
          <a:solidFill>
            <a:srgbClr val="18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34840" y="5660136"/>
            <a:ext cx="2240280" cy="329184"/>
          </a:xfrm>
          <a:prstGeom prst="rect">
            <a:avLst/>
          </a:prstGeom>
          <a:noFill/>
        </p:spPr>
        <p:txBody>
          <a:bodyPr wrap="square" anchor="ctr">
            <a:spAutoFit/>
          </a:bodyPr>
          <a:lstStyle/>
          <a:p>
            <a:pPr algn="ctr">
              <a:defRPr sz="1000" b="1">
                <a:solidFill>
                  <a:srgbClr val="FFFFFF"/>
                </a:solidFill>
                <a:latin typeface="Aptos"/>
              </a:defRPr>
            </a:pPr>
            <a:r>
              <a:t>Infrastructure: healthy</a:t>
            </a:r>
          </a:p>
        </p:txBody>
      </p:sp>
      <p:sp>
        <p:nvSpPr>
          <p:cNvPr id="25" name="Rounded Rectangle 24"/>
          <p:cNvSpPr/>
          <p:nvPr/>
        </p:nvSpPr>
        <p:spPr>
          <a:xfrm>
            <a:off x="8366760" y="1481328"/>
            <a:ext cx="2880360" cy="3611880"/>
          </a:xfrm>
          <a:prstGeom prst="roundRect">
            <a:avLst/>
          </a:prstGeom>
          <a:solidFill>
            <a:srgbClr val="FFFFFF"/>
          </a:solidFill>
          <a:ln w="1270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66760" y="1481328"/>
            <a:ext cx="64008" cy="3611880"/>
          </a:xfrm>
          <a:prstGeom prst="rect">
            <a:avLst/>
          </a:prstGeom>
          <a:solidFill>
            <a:srgbClr val="B96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0" y="1645920"/>
            <a:ext cx="2468879" cy="347472"/>
          </a:xfrm>
          <a:prstGeom prst="rect">
            <a:avLst/>
          </a:prstGeom>
          <a:noFill/>
        </p:spPr>
        <p:txBody>
          <a:bodyPr wrap="square" anchor="t">
            <a:spAutoFit/>
          </a:bodyPr>
          <a:lstStyle/>
          <a:p>
            <a:pPr algn="l">
              <a:defRPr sz="1800" b="1">
                <a:solidFill>
                  <a:srgbClr val="122D44"/>
                </a:solidFill>
                <a:latin typeface="Aptos"/>
              </a:defRPr>
            </a:pPr>
            <a:r>
              <a:t>Live verification</a:t>
            </a:r>
          </a:p>
        </p:txBody>
      </p:sp>
      <p:sp>
        <p:nvSpPr>
          <p:cNvPr id="28" name="TextBox 27"/>
          <p:cNvSpPr txBox="1"/>
          <p:nvPr/>
        </p:nvSpPr>
        <p:spPr>
          <a:xfrm>
            <a:off x="8595360" y="2103120"/>
            <a:ext cx="2468879" cy="2862072"/>
          </a:xfrm>
          <a:prstGeom prst="rect">
            <a:avLst/>
          </a:prstGeom>
          <a:noFill/>
        </p:spPr>
        <p:txBody>
          <a:bodyPr wrap="square" anchor="t">
            <a:spAutoFit/>
          </a:bodyPr>
          <a:lstStyle/>
          <a:p>
            <a:pPr algn="l">
              <a:defRPr sz="1400" b="0">
                <a:solidFill>
                  <a:srgbClr val="556575"/>
                </a:solidFill>
                <a:latin typeface="Aptos"/>
              </a:defRPr>
            </a:pPr>
            <a:r>
              <a:t>3 devices</a:t>
            </a:r>
            <a:br/>
            <a:r>
              <a:t>3 locations</a:t>
            </a:r>
            <a:br/>
            <a:r>
              <a:t>4,531 stored readings</a:t>
            </a:r>
            <a:br/>
            <a:r>
              <a:t>53 alert records</a:t>
            </a:r>
            <a:br/>
            <a:br/>
            <a:r>
              <a:t>Latest values received concurrently from Sydney, Melbourne and Brisbane on 24 Sep 2026.</a:t>
            </a:r>
          </a:p>
        </p:txBody>
      </p:sp>
      <p:sp>
        <p:nvSpPr>
          <p:cNvPr id="29" name="TextBox 28"/>
          <p:cNvSpPr txBox="1"/>
          <p:nvPr/>
        </p:nvSpPr>
        <p:spPr>
          <a:xfrm>
            <a:off x="576072" y="6519672"/>
            <a:ext cx="4754880" cy="182880"/>
          </a:xfrm>
          <a:prstGeom prst="rect">
            <a:avLst/>
          </a:prstGeom>
          <a:noFill/>
        </p:spPr>
        <p:txBody>
          <a:bodyPr wrap="square" anchor="t">
            <a:spAutoFit/>
          </a:bodyPr>
          <a:lstStyle/>
          <a:p>
            <a:pPr algn="l">
              <a:defRPr sz="800" b="0">
                <a:solidFill>
                  <a:srgbClr val="556575"/>
                </a:solidFill>
                <a:latin typeface="Aptos"/>
              </a:defRPr>
            </a:pPr>
            <a:r>
              <a:t>ICT304 | WeatherGrid</a:t>
            </a:r>
          </a:p>
        </p:txBody>
      </p:sp>
      <p:sp>
        <p:nvSpPr>
          <p:cNvPr id="30" name="TextBox 29"/>
          <p:cNvSpPr txBox="1"/>
          <p:nvPr/>
        </p:nvSpPr>
        <p:spPr>
          <a:xfrm>
            <a:off x="10789920" y="6519672"/>
            <a:ext cx="731520" cy="182880"/>
          </a:xfrm>
          <a:prstGeom prst="rect">
            <a:avLst/>
          </a:prstGeom>
          <a:noFill/>
        </p:spPr>
        <p:txBody>
          <a:bodyPr wrap="square" anchor="t">
            <a:spAutoFit/>
          </a:bodyPr>
          <a:lstStyle/>
          <a:p>
            <a:pPr algn="r">
              <a:defRPr sz="800" b="0">
                <a:solidFill>
                  <a:srgbClr val="556575"/>
                </a:solidFill>
                <a:latin typeface="Aptos"/>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566928" y="310896"/>
            <a:ext cx="502920" cy="347472"/>
          </a:xfrm>
          <a:prstGeom prst="rect">
            <a:avLst/>
          </a:prstGeom>
          <a:noFill/>
        </p:spPr>
        <p:txBody>
          <a:bodyPr wrap="square" anchor="t">
            <a:spAutoFit/>
          </a:bodyPr>
          <a:lstStyle/>
          <a:p>
            <a:pPr algn="l">
              <a:defRPr sz="1300" b="1">
                <a:solidFill>
                  <a:srgbClr val="007E89"/>
                </a:solidFill>
                <a:latin typeface="Aptos"/>
              </a:defRPr>
            </a:pPr>
            <a:r>
              <a:t>11</a:t>
            </a:r>
          </a:p>
        </p:txBody>
      </p:sp>
      <p:sp>
        <p:nvSpPr>
          <p:cNvPr id="3" name="TextBox 2"/>
          <p:cNvSpPr txBox="1"/>
          <p:nvPr/>
        </p:nvSpPr>
        <p:spPr>
          <a:xfrm>
            <a:off x="1078992" y="228600"/>
            <a:ext cx="10469880" cy="475488"/>
          </a:xfrm>
          <a:prstGeom prst="rect">
            <a:avLst/>
          </a:prstGeom>
          <a:noFill/>
        </p:spPr>
        <p:txBody>
          <a:bodyPr wrap="square" anchor="t">
            <a:spAutoFit/>
          </a:bodyPr>
          <a:lstStyle/>
          <a:p>
            <a:pPr algn="l">
              <a:defRPr sz="2600" b="1">
                <a:solidFill>
                  <a:srgbClr val="122D44"/>
                </a:solidFill>
                <a:latin typeface="Aptos"/>
              </a:defRPr>
            </a:pPr>
            <a:r>
              <a:t>Challenges, solutions and learning</a:t>
            </a:r>
          </a:p>
        </p:txBody>
      </p:sp>
      <p:sp>
        <p:nvSpPr>
          <p:cNvPr id="4" name="TextBox 3"/>
          <p:cNvSpPr txBox="1"/>
          <p:nvPr/>
        </p:nvSpPr>
        <p:spPr>
          <a:xfrm>
            <a:off x="1078992" y="722376"/>
            <a:ext cx="10149840" cy="347472"/>
          </a:xfrm>
          <a:prstGeom prst="rect">
            <a:avLst/>
          </a:prstGeom>
          <a:noFill/>
        </p:spPr>
        <p:txBody>
          <a:bodyPr wrap="square" anchor="t">
            <a:spAutoFit/>
          </a:bodyPr>
          <a:lstStyle/>
          <a:p>
            <a:pPr algn="l">
              <a:defRPr sz="1100" b="0">
                <a:solidFill>
                  <a:srgbClr val="556575"/>
                </a:solidFill>
                <a:latin typeface="Aptos"/>
              </a:defRPr>
            </a:pPr>
            <a:r>
              <a:t>How implementation problems improved the architecture</a:t>
            </a:r>
          </a:p>
        </p:txBody>
      </p:sp>
      <p:sp>
        <p:nvSpPr>
          <p:cNvPr id="5" name="Rectangle 4"/>
          <p:cNvSpPr/>
          <p:nvPr/>
        </p:nvSpPr>
        <p:spPr>
          <a:xfrm>
            <a:off x="566928" y="1097280"/>
            <a:ext cx="11018520" cy="22860"/>
          </a:xfrm>
          <a:prstGeom prst="rect">
            <a:avLst/>
          </a:prstGeom>
          <a:solidFill>
            <a:srgbClr val="D8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389888"/>
            <a:ext cx="2606040" cy="384048"/>
          </a:xfrm>
          <a:prstGeom prst="roundRect">
            <a:avLst/>
          </a:prstGeom>
          <a:solidFill>
            <a:srgbClr val="C238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399032"/>
            <a:ext cx="2606040" cy="329184"/>
          </a:xfrm>
          <a:prstGeom prst="rect">
            <a:avLst/>
          </a:prstGeom>
          <a:noFill/>
        </p:spPr>
        <p:txBody>
          <a:bodyPr wrap="square" anchor="ctr">
            <a:spAutoFit/>
          </a:bodyPr>
          <a:lstStyle/>
          <a:p>
            <a:pPr algn="ctr">
              <a:defRPr sz="1000" b="1">
                <a:solidFill>
                  <a:srgbClr val="FFFFFF"/>
                </a:solidFill>
                <a:latin typeface="Aptos"/>
              </a:defRPr>
            </a:pPr>
            <a:r>
              <a:t>Duplicate MQTT delivery</a:t>
            </a:r>
          </a:p>
        </p:txBody>
      </p:sp>
      <p:sp>
        <p:nvSpPr>
          <p:cNvPr id="8" name="TextBox 7"/>
          <p:cNvSpPr txBox="1"/>
          <p:nvPr/>
        </p:nvSpPr>
        <p:spPr>
          <a:xfrm>
            <a:off x="3383280" y="1426464"/>
            <a:ext cx="502920" cy="274320"/>
          </a:xfrm>
          <a:prstGeom prst="rect">
            <a:avLst/>
          </a:prstGeom>
          <a:noFill/>
        </p:spPr>
        <p:txBody>
          <a:bodyPr wrap="square" anchor="t">
            <a:spAutoFit/>
          </a:bodyPr>
          <a:lstStyle/>
          <a:p>
            <a:pPr algn="ctr">
              <a:defRPr sz="2000" b="1">
                <a:solidFill>
                  <a:srgbClr val="556575"/>
                </a:solidFill>
                <a:latin typeface="Aptos"/>
              </a:defRPr>
            </a:pPr>
            <a:r>
              <a:t>→</a:t>
            </a:r>
          </a:p>
        </p:txBody>
      </p:sp>
      <p:sp>
        <p:nvSpPr>
          <p:cNvPr id="9" name="Rounded Rectangle 8"/>
          <p:cNvSpPr/>
          <p:nvPr/>
        </p:nvSpPr>
        <p:spPr>
          <a:xfrm>
            <a:off x="4005072" y="1389888"/>
            <a:ext cx="2788920" cy="384048"/>
          </a:xfrm>
          <a:prstGeom prst="roundRect">
            <a:avLst/>
          </a:prstGeom>
          <a:solidFill>
            <a:srgbClr val="007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05072" y="1399032"/>
            <a:ext cx="2788920" cy="329184"/>
          </a:xfrm>
          <a:prstGeom prst="rect">
            <a:avLst/>
          </a:prstGeom>
          <a:noFill/>
        </p:spPr>
        <p:txBody>
          <a:bodyPr wrap="square" anchor="ctr">
            <a:spAutoFit/>
          </a:bodyPr>
          <a:lstStyle/>
          <a:p>
            <a:pPr algn="ctr">
              <a:defRPr sz="1000" b="1">
                <a:solidFill>
                  <a:srgbClr val="FFFFFF"/>
                </a:solidFill>
                <a:latin typeface="Aptos"/>
              </a:defRPr>
            </a:pPr>
            <a:r>
              <a:t>Database idempotency key</a:t>
            </a:r>
          </a:p>
        </p:txBody>
      </p:sp>
      <p:sp>
        <p:nvSpPr>
          <p:cNvPr id="11" name="TextBox 10"/>
          <p:cNvSpPr txBox="1"/>
          <p:nvPr/>
        </p:nvSpPr>
        <p:spPr>
          <a:xfrm>
            <a:off x="6903720" y="1426464"/>
            <a:ext cx="502920" cy="274320"/>
          </a:xfrm>
          <a:prstGeom prst="rect">
            <a:avLst/>
          </a:prstGeom>
          <a:noFill/>
        </p:spPr>
        <p:txBody>
          <a:bodyPr wrap="square" anchor="t">
            <a:spAutoFit/>
          </a:bodyPr>
          <a:lstStyle/>
          <a:p>
            <a:pPr algn="ctr">
              <a:defRPr sz="2000" b="1">
                <a:solidFill>
                  <a:srgbClr val="556575"/>
                </a:solidFill>
                <a:latin typeface="Aptos"/>
              </a:defRPr>
            </a:pPr>
            <a:r>
              <a:t>→</a:t>
            </a:r>
          </a:p>
        </p:txBody>
      </p:sp>
      <p:sp>
        <p:nvSpPr>
          <p:cNvPr id="12" name="TextBox 11"/>
          <p:cNvSpPr txBox="1"/>
          <p:nvPr/>
        </p:nvSpPr>
        <p:spPr>
          <a:xfrm>
            <a:off x="7543800" y="1362456"/>
            <a:ext cx="3840480" cy="502920"/>
          </a:xfrm>
          <a:prstGeom prst="rect">
            <a:avLst/>
          </a:prstGeom>
          <a:noFill/>
        </p:spPr>
        <p:txBody>
          <a:bodyPr wrap="square" anchor="t">
            <a:spAutoFit/>
          </a:bodyPr>
          <a:lstStyle/>
          <a:p>
            <a:pPr algn="l">
              <a:defRPr sz="1200" b="1">
                <a:solidFill>
                  <a:srgbClr val="1E2D3A"/>
                </a:solidFill>
                <a:latin typeface="Aptos"/>
              </a:defRPr>
            </a:pPr>
            <a:r>
              <a:t>Transport guarantees require application semantics</a:t>
            </a:r>
          </a:p>
        </p:txBody>
      </p:sp>
      <p:sp>
        <p:nvSpPr>
          <p:cNvPr id="13" name="Rounded Rectangle 12"/>
          <p:cNvSpPr/>
          <p:nvPr/>
        </p:nvSpPr>
        <p:spPr>
          <a:xfrm>
            <a:off x="658368" y="2523744"/>
            <a:ext cx="2606040" cy="384048"/>
          </a:xfrm>
          <a:prstGeom prst="roundRect">
            <a:avLst/>
          </a:prstGeom>
          <a:solidFill>
            <a:srgbClr val="C238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2532887"/>
            <a:ext cx="2606040" cy="329184"/>
          </a:xfrm>
          <a:prstGeom prst="rect">
            <a:avLst/>
          </a:prstGeom>
          <a:noFill/>
        </p:spPr>
        <p:txBody>
          <a:bodyPr wrap="square" anchor="ctr">
            <a:spAutoFit/>
          </a:bodyPr>
          <a:lstStyle/>
          <a:p>
            <a:pPr algn="ctr">
              <a:defRPr sz="1000" b="1">
                <a:solidFill>
                  <a:srgbClr val="FFFFFF"/>
                </a:solidFill>
                <a:latin typeface="Aptos"/>
              </a:defRPr>
            </a:pPr>
            <a:r>
              <a:t>Temporary server outage</a:t>
            </a:r>
          </a:p>
        </p:txBody>
      </p:sp>
      <p:sp>
        <p:nvSpPr>
          <p:cNvPr id="15" name="TextBox 14"/>
          <p:cNvSpPr txBox="1"/>
          <p:nvPr/>
        </p:nvSpPr>
        <p:spPr>
          <a:xfrm>
            <a:off x="3383280" y="2560320"/>
            <a:ext cx="502920" cy="274320"/>
          </a:xfrm>
          <a:prstGeom prst="rect">
            <a:avLst/>
          </a:prstGeom>
          <a:noFill/>
        </p:spPr>
        <p:txBody>
          <a:bodyPr wrap="square" anchor="t">
            <a:spAutoFit/>
          </a:bodyPr>
          <a:lstStyle/>
          <a:p>
            <a:pPr algn="ctr">
              <a:defRPr sz="2000" b="1">
                <a:solidFill>
                  <a:srgbClr val="556575"/>
                </a:solidFill>
                <a:latin typeface="Aptos"/>
              </a:defRPr>
            </a:pPr>
            <a:r>
              <a:t>→</a:t>
            </a:r>
          </a:p>
        </p:txBody>
      </p:sp>
      <p:sp>
        <p:nvSpPr>
          <p:cNvPr id="16" name="Rounded Rectangle 15"/>
          <p:cNvSpPr/>
          <p:nvPr/>
        </p:nvSpPr>
        <p:spPr>
          <a:xfrm>
            <a:off x="4005072" y="2523744"/>
            <a:ext cx="2788920" cy="384048"/>
          </a:xfrm>
          <a:prstGeom prst="roundRect">
            <a:avLst/>
          </a:prstGeom>
          <a:solidFill>
            <a:srgbClr val="007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05072" y="2532887"/>
            <a:ext cx="2788920" cy="329184"/>
          </a:xfrm>
          <a:prstGeom prst="rect">
            <a:avLst/>
          </a:prstGeom>
          <a:noFill/>
        </p:spPr>
        <p:txBody>
          <a:bodyPr wrap="square" anchor="ctr">
            <a:spAutoFit/>
          </a:bodyPr>
          <a:lstStyle/>
          <a:p>
            <a:pPr algn="ctr">
              <a:defRPr sz="1000" b="1">
                <a:solidFill>
                  <a:srgbClr val="FFFFFF"/>
                </a:solidFill>
                <a:latin typeface="Aptos"/>
              </a:defRPr>
            </a:pPr>
            <a:r>
              <a:t>Durable SQLite edge queue</a:t>
            </a:r>
          </a:p>
        </p:txBody>
      </p:sp>
      <p:sp>
        <p:nvSpPr>
          <p:cNvPr id="18" name="TextBox 17"/>
          <p:cNvSpPr txBox="1"/>
          <p:nvPr/>
        </p:nvSpPr>
        <p:spPr>
          <a:xfrm>
            <a:off x="6903720" y="2560320"/>
            <a:ext cx="502920" cy="274320"/>
          </a:xfrm>
          <a:prstGeom prst="rect">
            <a:avLst/>
          </a:prstGeom>
          <a:noFill/>
        </p:spPr>
        <p:txBody>
          <a:bodyPr wrap="square" anchor="t">
            <a:spAutoFit/>
          </a:bodyPr>
          <a:lstStyle/>
          <a:p>
            <a:pPr algn="ctr">
              <a:defRPr sz="2000" b="1">
                <a:solidFill>
                  <a:srgbClr val="556575"/>
                </a:solidFill>
                <a:latin typeface="Aptos"/>
              </a:defRPr>
            </a:pPr>
            <a:r>
              <a:t>→</a:t>
            </a:r>
          </a:p>
        </p:txBody>
      </p:sp>
      <p:sp>
        <p:nvSpPr>
          <p:cNvPr id="19" name="TextBox 18"/>
          <p:cNvSpPr txBox="1"/>
          <p:nvPr/>
        </p:nvSpPr>
        <p:spPr>
          <a:xfrm>
            <a:off x="7543800" y="2496312"/>
            <a:ext cx="3840480" cy="502920"/>
          </a:xfrm>
          <a:prstGeom prst="rect">
            <a:avLst/>
          </a:prstGeom>
          <a:noFill/>
        </p:spPr>
        <p:txBody>
          <a:bodyPr wrap="square" anchor="t">
            <a:spAutoFit/>
          </a:bodyPr>
          <a:lstStyle/>
          <a:p>
            <a:pPr algn="l">
              <a:defRPr sz="1200" b="1">
                <a:solidFill>
                  <a:srgbClr val="1E2D3A"/>
                </a:solidFill>
                <a:latin typeface="Aptos"/>
              </a:defRPr>
            </a:pPr>
            <a:r>
              <a:t>Reliable systems preserve state across failures</a:t>
            </a:r>
          </a:p>
        </p:txBody>
      </p:sp>
      <p:sp>
        <p:nvSpPr>
          <p:cNvPr id="20" name="Rounded Rectangle 19"/>
          <p:cNvSpPr/>
          <p:nvPr/>
        </p:nvSpPr>
        <p:spPr>
          <a:xfrm>
            <a:off x="658368" y="3657600"/>
            <a:ext cx="2606040" cy="384048"/>
          </a:xfrm>
          <a:prstGeom prst="roundRect">
            <a:avLst/>
          </a:prstGeom>
          <a:solidFill>
            <a:srgbClr val="C238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3666744"/>
            <a:ext cx="2606040" cy="329184"/>
          </a:xfrm>
          <a:prstGeom prst="rect">
            <a:avLst/>
          </a:prstGeom>
          <a:noFill/>
        </p:spPr>
        <p:txBody>
          <a:bodyPr wrap="square" anchor="ctr">
            <a:spAutoFit/>
          </a:bodyPr>
          <a:lstStyle/>
          <a:p>
            <a:pPr algn="ctr">
              <a:defRPr sz="1000" b="1">
                <a:solidFill>
                  <a:srgbClr val="FFFFFF"/>
                </a:solidFill>
                <a:latin typeface="Aptos"/>
              </a:defRPr>
            </a:pPr>
            <a:r>
              <a:t>Silent offline device</a:t>
            </a:r>
          </a:p>
        </p:txBody>
      </p:sp>
      <p:sp>
        <p:nvSpPr>
          <p:cNvPr id="22" name="TextBox 21"/>
          <p:cNvSpPr txBox="1"/>
          <p:nvPr/>
        </p:nvSpPr>
        <p:spPr>
          <a:xfrm>
            <a:off x="3383280" y="3694176"/>
            <a:ext cx="502920" cy="274320"/>
          </a:xfrm>
          <a:prstGeom prst="rect">
            <a:avLst/>
          </a:prstGeom>
          <a:noFill/>
        </p:spPr>
        <p:txBody>
          <a:bodyPr wrap="square" anchor="t">
            <a:spAutoFit/>
          </a:bodyPr>
          <a:lstStyle/>
          <a:p>
            <a:pPr algn="ctr">
              <a:defRPr sz="2000" b="1">
                <a:solidFill>
                  <a:srgbClr val="556575"/>
                </a:solidFill>
                <a:latin typeface="Aptos"/>
              </a:defRPr>
            </a:pPr>
            <a:r>
              <a:t>→</a:t>
            </a:r>
          </a:p>
        </p:txBody>
      </p:sp>
      <p:sp>
        <p:nvSpPr>
          <p:cNvPr id="23" name="Rounded Rectangle 22"/>
          <p:cNvSpPr/>
          <p:nvPr/>
        </p:nvSpPr>
        <p:spPr>
          <a:xfrm>
            <a:off x="4005072" y="3657600"/>
            <a:ext cx="2788920" cy="384048"/>
          </a:xfrm>
          <a:prstGeom prst="roundRect">
            <a:avLst/>
          </a:prstGeom>
          <a:solidFill>
            <a:srgbClr val="007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05072" y="3666744"/>
            <a:ext cx="2788920" cy="329184"/>
          </a:xfrm>
          <a:prstGeom prst="rect">
            <a:avLst/>
          </a:prstGeom>
          <a:noFill/>
        </p:spPr>
        <p:txBody>
          <a:bodyPr wrap="square" anchor="ctr">
            <a:spAutoFit/>
          </a:bodyPr>
          <a:lstStyle/>
          <a:p>
            <a:pPr algn="ctr">
              <a:defRPr sz="1000" b="1">
                <a:solidFill>
                  <a:srgbClr val="FFFFFF"/>
                </a:solidFill>
                <a:latin typeface="Aptos"/>
              </a:defRPr>
            </a:pPr>
            <a:r>
              <a:t>Scheduled last-seen worker</a:t>
            </a:r>
          </a:p>
        </p:txBody>
      </p:sp>
      <p:sp>
        <p:nvSpPr>
          <p:cNvPr id="25" name="TextBox 24"/>
          <p:cNvSpPr txBox="1"/>
          <p:nvPr/>
        </p:nvSpPr>
        <p:spPr>
          <a:xfrm>
            <a:off x="6903720" y="3694176"/>
            <a:ext cx="502920" cy="274320"/>
          </a:xfrm>
          <a:prstGeom prst="rect">
            <a:avLst/>
          </a:prstGeom>
          <a:noFill/>
        </p:spPr>
        <p:txBody>
          <a:bodyPr wrap="square" anchor="t">
            <a:spAutoFit/>
          </a:bodyPr>
          <a:lstStyle/>
          <a:p>
            <a:pPr algn="ctr">
              <a:defRPr sz="2000" b="1">
                <a:solidFill>
                  <a:srgbClr val="556575"/>
                </a:solidFill>
                <a:latin typeface="Aptos"/>
              </a:defRPr>
            </a:pPr>
            <a:r>
              <a:t>→</a:t>
            </a:r>
          </a:p>
        </p:txBody>
      </p:sp>
      <p:sp>
        <p:nvSpPr>
          <p:cNvPr id="26" name="TextBox 25"/>
          <p:cNvSpPr txBox="1"/>
          <p:nvPr/>
        </p:nvSpPr>
        <p:spPr>
          <a:xfrm>
            <a:off x="7543800" y="3630168"/>
            <a:ext cx="3840480" cy="502920"/>
          </a:xfrm>
          <a:prstGeom prst="rect">
            <a:avLst/>
          </a:prstGeom>
          <a:noFill/>
        </p:spPr>
        <p:txBody>
          <a:bodyPr wrap="square" anchor="t">
            <a:spAutoFit/>
          </a:bodyPr>
          <a:lstStyle/>
          <a:p>
            <a:pPr algn="l">
              <a:defRPr sz="1200" b="1">
                <a:solidFill>
                  <a:srgbClr val="1E2D3A"/>
                </a:solidFill>
                <a:latin typeface="Aptos"/>
              </a:defRPr>
            </a:pPr>
            <a:r>
              <a:t>Absence of data is also an operational signal</a:t>
            </a:r>
          </a:p>
        </p:txBody>
      </p:sp>
      <p:sp>
        <p:nvSpPr>
          <p:cNvPr id="27" name="Rounded Rectangle 26"/>
          <p:cNvSpPr/>
          <p:nvPr/>
        </p:nvSpPr>
        <p:spPr>
          <a:xfrm>
            <a:off x="658368" y="4791456"/>
            <a:ext cx="2606040" cy="384048"/>
          </a:xfrm>
          <a:prstGeom prst="roundRect">
            <a:avLst/>
          </a:prstGeom>
          <a:solidFill>
            <a:srgbClr val="C238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 y="4800600"/>
            <a:ext cx="2606040" cy="329184"/>
          </a:xfrm>
          <a:prstGeom prst="rect">
            <a:avLst/>
          </a:prstGeom>
          <a:noFill/>
        </p:spPr>
        <p:txBody>
          <a:bodyPr wrap="square" anchor="ctr">
            <a:spAutoFit/>
          </a:bodyPr>
          <a:lstStyle/>
          <a:p>
            <a:pPr algn="ctr">
              <a:defRPr sz="1000" b="1">
                <a:solidFill>
                  <a:srgbClr val="FFFFFF"/>
                </a:solidFill>
                <a:latin typeface="Aptos"/>
              </a:defRPr>
            </a:pPr>
            <a:r>
              <a:t>Untrusted input</a:t>
            </a:r>
          </a:p>
        </p:txBody>
      </p:sp>
      <p:sp>
        <p:nvSpPr>
          <p:cNvPr id="29" name="TextBox 28"/>
          <p:cNvSpPr txBox="1"/>
          <p:nvPr/>
        </p:nvSpPr>
        <p:spPr>
          <a:xfrm>
            <a:off x="3383280" y="4828032"/>
            <a:ext cx="502920" cy="274320"/>
          </a:xfrm>
          <a:prstGeom prst="rect">
            <a:avLst/>
          </a:prstGeom>
          <a:noFill/>
        </p:spPr>
        <p:txBody>
          <a:bodyPr wrap="square" anchor="t">
            <a:spAutoFit/>
          </a:bodyPr>
          <a:lstStyle/>
          <a:p>
            <a:pPr algn="ctr">
              <a:defRPr sz="2000" b="1">
                <a:solidFill>
                  <a:srgbClr val="556575"/>
                </a:solidFill>
                <a:latin typeface="Aptos"/>
              </a:defRPr>
            </a:pPr>
            <a:r>
              <a:t>→</a:t>
            </a:r>
          </a:p>
        </p:txBody>
      </p:sp>
      <p:sp>
        <p:nvSpPr>
          <p:cNvPr id="30" name="Rounded Rectangle 29"/>
          <p:cNvSpPr/>
          <p:nvPr/>
        </p:nvSpPr>
        <p:spPr>
          <a:xfrm>
            <a:off x="4005072" y="4791456"/>
            <a:ext cx="2788920" cy="384048"/>
          </a:xfrm>
          <a:prstGeom prst="roundRect">
            <a:avLst/>
          </a:prstGeom>
          <a:solidFill>
            <a:srgbClr val="007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005072" y="4800600"/>
            <a:ext cx="2788920" cy="329184"/>
          </a:xfrm>
          <a:prstGeom prst="rect">
            <a:avLst/>
          </a:prstGeom>
          <a:noFill/>
        </p:spPr>
        <p:txBody>
          <a:bodyPr wrap="square" anchor="ctr">
            <a:spAutoFit/>
          </a:bodyPr>
          <a:lstStyle/>
          <a:p>
            <a:pPr algn="ctr">
              <a:defRPr sz="1000" b="1">
                <a:solidFill>
                  <a:srgbClr val="FFFFFF"/>
                </a:solidFill>
                <a:latin typeface="Aptos"/>
              </a:defRPr>
            </a:pPr>
            <a:r>
              <a:t>Layered schema and identity checks</a:t>
            </a:r>
          </a:p>
        </p:txBody>
      </p:sp>
      <p:sp>
        <p:nvSpPr>
          <p:cNvPr id="32" name="TextBox 31"/>
          <p:cNvSpPr txBox="1"/>
          <p:nvPr/>
        </p:nvSpPr>
        <p:spPr>
          <a:xfrm>
            <a:off x="6903720" y="4828032"/>
            <a:ext cx="502920" cy="274320"/>
          </a:xfrm>
          <a:prstGeom prst="rect">
            <a:avLst/>
          </a:prstGeom>
          <a:noFill/>
        </p:spPr>
        <p:txBody>
          <a:bodyPr wrap="square" anchor="t">
            <a:spAutoFit/>
          </a:bodyPr>
          <a:lstStyle/>
          <a:p>
            <a:pPr algn="ctr">
              <a:defRPr sz="2000" b="1">
                <a:solidFill>
                  <a:srgbClr val="556575"/>
                </a:solidFill>
                <a:latin typeface="Aptos"/>
              </a:defRPr>
            </a:pPr>
            <a:r>
              <a:t>→</a:t>
            </a:r>
          </a:p>
        </p:txBody>
      </p:sp>
      <p:sp>
        <p:nvSpPr>
          <p:cNvPr id="33" name="TextBox 32"/>
          <p:cNvSpPr txBox="1"/>
          <p:nvPr/>
        </p:nvSpPr>
        <p:spPr>
          <a:xfrm>
            <a:off x="7543800" y="4764024"/>
            <a:ext cx="3840480" cy="502920"/>
          </a:xfrm>
          <a:prstGeom prst="rect">
            <a:avLst/>
          </a:prstGeom>
          <a:noFill/>
        </p:spPr>
        <p:txBody>
          <a:bodyPr wrap="square" anchor="t">
            <a:spAutoFit/>
          </a:bodyPr>
          <a:lstStyle/>
          <a:p>
            <a:pPr algn="l">
              <a:defRPr sz="1200" b="1">
                <a:solidFill>
                  <a:srgbClr val="1E2D3A"/>
                </a:solidFill>
                <a:latin typeface="Aptos"/>
              </a:defRPr>
            </a:pPr>
            <a:r>
              <a:t>Validate at every distributed boundary</a:t>
            </a:r>
          </a:p>
        </p:txBody>
      </p:sp>
      <p:sp>
        <p:nvSpPr>
          <p:cNvPr id="34" name="TextBox 33"/>
          <p:cNvSpPr txBox="1"/>
          <p:nvPr/>
        </p:nvSpPr>
        <p:spPr>
          <a:xfrm>
            <a:off x="713232" y="5989320"/>
            <a:ext cx="10789920" cy="320040"/>
          </a:xfrm>
          <a:prstGeom prst="rect">
            <a:avLst/>
          </a:prstGeom>
          <a:noFill/>
        </p:spPr>
        <p:txBody>
          <a:bodyPr wrap="square" anchor="t">
            <a:spAutoFit/>
          </a:bodyPr>
          <a:lstStyle/>
          <a:p>
            <a:pPr algn="ctr">
              <a:defRPr sz="1600" b="1">
                <a:solidFill>
                  <a:srgbClr val="122D44"/>
                </a:solidFill>
                <a:latin typeface="Aptos"/>
              </a:defRPr>
            </a:pPr>
            <a:r>
              <a:t>Key learning: reliability is a chain of identity, validation, ordering, durable state, retries and observability.</a:t>
            </a:r>
          </a:p>
        </p:txBody>
      </p:sp>
      <p:sp>
        <p:nvSpPr>
          <p:cNvPr id="35" name="TextBox 34"/>
          <p:cNvSpPr txBox="1"/>
          <p:nvPr/>
        </p:nvSpPr>
        <p:spPr>
          <a:xfrm>
            <a:off x="576072" y="6519672"/>
            <a:ext cx="4754880" cy="182880"/>
          </a:xfrm>
          <a:prstGeom prst="rect">
            <a:avLst/>
          </a:prstGeom>
          <a:noFill/>
        </p:spPr>
        <p:txBody>
          <a:bodyPr wrap="square" anchor="t">
            <a:spAutoFit/>
          </a:bodyPr>
          <a:lstStyle/>
          <a:p>
            <a:pPr algn="l">
              <a:defRPr sz="800" b="0">
                <a:solidFill>
                  <a:srgbClr val="556575"/>
                </a:solidFill>
                <a:latin typeface="Aptos"/>
              </a:defRPr>
            </a:pPr>
            <a:r>
              <a:t>ICT304 | WeatherGrid</a:t>
            </a:r>
          </a:p>
        </p:txBody>
      </p:sp>
      <p:sp>
        <p:nvSpPr>
          <p:cNvPr id="36" name="TextBox 35"/>
          <p:cNvSpPr txBox="1"/>
          <p:nvPr/>
        </p:nvSpPr>
        <p:spPr>
          <a:xfrm>
            <a:off x="10789920" y="6519672"/>
            <a:ext cx="731520" cy="182880"/>
          </a:xfrm>
          <a:prstGeom prst="rect">
            <a:avLst/>
          </a:prstGeom>
          <a:noFill/>
        </p:spPr>
        <p:txBody>
          <a:bodyPr wrap="square" anchor="t">
            <a:spAutoFit/>
          </a:bodyPr>
          <a:lstStyle/>
          <a:p>
            <a:pPr algn="r">
              <a:defRPr sz="800" b="0">
                <a:solidFill>
                  <a:srgbClr val="556575"/>
                </a:solidFill>
                <a:latin typeface="Aptos"/>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2D44"/>
        </a:solidFill>
        <a:effectLst/>
      </p:bgPr>
    </p:bg>
    <p:spTree>
      <p:nvGrpSpPr>
        <p:cNvPr id="1" name=""/>
        <p:cNvGrpSpPr/>
        <p:nvPr/>
      </p:nvGrpSpPr>
      <p:grpSpPr/>
      <p:sp>
        <p:nvSpPr>
          <p:cNvPr id="2" name="TextBox 1"/>
          <p:cNvSpPr txBox="1"/>
          <p:nvPr/>
        </p:nvSpPr>
        <p:spPr>
          <a:xfrm>
            <a:off x="658368" y="384048"/>
            <a:ext cx="10789920" cy="457200"/>
          </a:xfrm>
          <a:prstGeom prst="rect">
            <a:avLst/>
          </a:prstGeom>
          <a:noFill/>
        </p:spPr>
        <p:txBody>
          <a:bodyPr wrap="square" anchor="t">
            <a:spAutoFit/>
          </a:bodyPr>
          <a:lstStyle/>
          <a:p>
            <a:pPr algn="l">
              <a:defRPr sz="2700" b="1">
                <a:solidFill>
                  <a:srgbClr val="FFFFFF"/>
                </a:solidFill>
                <a:latin typeface="Aptos"/>
              </a:defRPr>
            </a:pPr>
            <a:r>
              <a:t>LIVE PROTOTYPE DEMONSTRATION</a:t>
            </a:r>
          </a:p>
        </p:txBody>
      </p:sp>
      <p:sp>
        <p:nvSpPr>
          <p:cNvPr id="3" name="TextBox 2"/>
          <p:cNvSpPr txBox="1"/>
          <p:nvPr/>
        </p:nvSpPr>
        <p:spPr>
          <a:xfrm>
            <a:off x="658368" y="960120"/>
            <a:ext cx="9509760" cy="320040"/>
          </a:xfrm>
          <a:prstGeom prst="rect">
            <a:avLst/>
          </a:prstGeom>
          <a:noFill/>
        </p:spPr>
        <p:txBody>
          <a:bodyPr wrap="square" anchor="t">
            <a:spAutoFit/>
          </a:bodyPr>
          <a:lstStyle/>
          <a:p>
            <a:pPr algn="l">
              <a:defRPr sz="1400" b="0">
                <a:solidFill>
                  <a:srgbClr val="B4D5DE"/>
                </a:solidFill>
                <a:latin typeface="Aptos"/>
              </a:defRPr>
            </a:pPr>
            <a:r>
              <a:t>Five-minute path through the complete system</a:t>
            </a:r>
          </a:p>
        </p:txBody>
      </p:sp>
      <p:sp>
        <p:nvSpPr>
          <p:cNvPr id="4" name="TextBox 3"/>
          <p:cNvSpPr txBox="1"/>
          <p:nvPr/>
        </p:nvSpPr>
        <p:spPr>
          <a:xfrm>
            <a:off x="777240" y="1508760"/>
            <a:ext cx="548640" cy="320040"/>
          </a:xfrm>
          <a:prstGeom prst="rect">
            <a:avLst/>
          </a:prstGeom>
          <a:noFill/>
        </p:spPr>
        <p:txBody>
          <a:bodyPr wrap="square" anchor="t">
            <a:spAutoFit/>
          </a:bodyPr>
          <a:lstStyle/>
          <a:p>
            <a:pPr algn="l">
              <a:defRPr sz="1200" b="1">
                <a:solidFill>
                  <a:srgbClr val="68D9CD"/>
                </a:solidFill>
                <a:latin typeface="Aptos"/>
              </a:defRPr>
            </a:pPr>
            <a:r>
              <a:t>01</a:t>
            </a:r>
          </a:p>
        </p:txBody>
      </p:sp>
      <p:sp>
        <p:nvSpPr>
          <p:cNvPr id="5" name="TextBox 4"/>
          <p:cNvSpPr txBox="1"/>
          <p:nvPr/>
        </p:nvSpPr>
        <p:spPr>
          <a:xfrm>
            <a:off x="1417320" y="1463039"/>
            <a:ext cx="1325880" cy="384048"/>
          </a:xfrm>
          <a:prstGeom prst="rect">
            <a:avLst/>
          </a:prstGeom>
          <a:noFill/>
        </p:spPr>
        <p:txBody>
          <a:bodyPr wrap="square" anchor="t">
            <a:spAutoFit/>
          </a:bodyPr>
          <a:lstStyle/>
          <a:p>
            <a:pPr algn="l">
              <a:defRPr sz="1800" b="1">
                <a:solidFill>
                  <a:srgbClr val="FFFFFF"/>
                </a:solidFill>
                <a:latin typeface="Aptos"/>
              </a:defRPr>
            </a:pPr>
            <a:r>
              <a:t>Sign in</a:t>
            </a:r>
          </a:p>
        </p:txBody>
      </p:sp>
      <p:sp>
        <p:nvSpPr>
          <p:cNvPr id="6" name="TextBox 5"/>
          <p:cNvSpPr txBox="1"/>
          <p:nvPr/>
        </p:nvSpPr>
        <p:spPr>
          <a:xfrm>
            <a:off x="2880360" y="1508760"/>
            <a:ext cx="7040880" cy="347472"/>
          </a:xfrm>
          <a:prstGeom prst="rect">
            <a:avLst/>
          </a:prstGeom>
          <a:noFill/>
        </p:spPr>
        <p:txBody>
          <a:bodyPr wrap="square" anchor="t">
            <a:spAutoFit/>
          </a:bodyPr>
          <a:lstStyle/>
          <a:p>
            <a:pPr algn="l">
              <a:defRPr sz="1400" b="0">
                <a:solidFill>
                  <a:srgbClr val="D3E4E9"/>
                </a:solidFill>
                <a:latin typeface="Aptos"/>
              </a:defRPr>
            </a:pPr>
            <a:r>
              <a:t>Open Overview and confirm three online stations</a:t>
            </a:r>
          </a:p>
        </p:txBody>
      </p:sp>
      <p:sp>
        <p:nvSpPr>
          <p:cNvPr id="7" name="TextBox 6"/>
          <p:cNvSpPr txBox="1"/>
          <p:nvPr/>
        </p:nvSpPr>
        <p:spPr>
          <a:xfrm>
            <a:off x="777240" y="2359152"/>
            <a:ext cx="548640" cy="320040"/>
          </a:xfrm>
          <a:prstGeom prst="rect">
            <a:avLst/>
          </a:prstGeom>
          <a:noFill/>
        </p:spPr>
        <p:txBody>
          <a:bodyPr wrap="square" anchor="t">
            <a:spAutoFit/>
          </a:bodyPr>
          <a:lstStyle/>
          <a:p>
            <a:pPr algn="l">
              <a:defRPr sz="1200" b="1">
                <a:solidFill>
                  <a:srgbClr val="68D9CD"/>
                </a:solidFill>
                <a:latin typeface="Aptos"/>
              </a:defRPr>
            </a:pPr>
            <a:r>
              <a:t>02</a:t>
            </a:r>
          </a:p>
        </p:txBody>
      </p:sp>
      <p:sp>
        <p:nvSpPr>
          <p:cNvPr id="8" name="TextBox 7"/>
          <p:cNvSpPr txBox="1"/>
          <p:nvPr/>
        </p:nvSpPr>
        <p:spPr>
          <a:xfrm>
            <a:off x="1417320" y="2313432"/>
            <a:ext cx="1325880" cy="384048"/>
          </a:xfrm>
          <a:prstGeom prst="rect">
            <a:avLst/>
          </a:prstGeom>
          <a:noFill/>
        </p:spPr>
        <p:txBody>
          <a:bodyPr wrap="square" anchor="t">
            <a:spAutoFit/>
          </a:bodyPr>
          <a:lstStyle/>
          <a:p>
            <a:pPr algn="l">
              <a:defRPr sz="1800" b="1">
                <a:solidFill>
                  <a:srgbClr val="FFFFFF"/>
                </a:solidFill>
                <a:latin typeface="Aptos"/>
              </a:defRPr>
            </a:pPr>
            <a:r>
              <a:t>Observe</a:t>
            </a:r>
          </a:p>
        </p:txBody>
      </p:sp>
      <p:sp>
        <p:nvSpPr>
          <p:cNvPr id="9" name="TextBox 8"/>
          <p:cNvSpPr txBox="1"/>
          <p:nvPr/>
        </p:nvSpPr>
        <p:spPr>
          <a:xfrm>
            <a:off x="2880360" y="2359152"/>
            <a:ext cx="7040880" cy="347472"/>
          </a:xfrm>
          <a:prstGeom prst="rect">
            <a:avLst/>
          </a:prstGeom>
          <a:noFill/>
        </p:spPr>
        <p:txBody>
          <a:bodyPr wrap="square" anchor="t">
            <a:spAutoFit/>
          </a:bodyPr>
          <a:lstStyle/>
          <a:p>
            <a:pPr algn="l">
              <a:defRPr sz="1400" b="0">
                <a:solidFill>
                  <a:srgbClr val="D3E4E9"/>
                </a:solidFill>
                <a:latin typeface="Aptos"/>
              </a:defRPr>
            </a:pPr>
            <a:r>
              <a:t>Open Live Monitoring and explain values and units</a:t>
            </a:r>
          </a:p>
        </p:txBody>
      </p:sp>
      <p:sp>
        <p:nvSpPr>
          <p:cNvPr id="10" name="TextBox 9"/>
          <p:cNvSpPr txBox="1"/>
          <p:nvPr/>
        </p:nvSpPr>
        <p:spPr>
          <a:xfrm>
            <a:off x="777240" y="3209544"/>
            <a:ext cx="548640" cy="320040"/>
          </a:xfrm>
          <a:prstGeom prst="rect">
            <a:avLst/>
          </a:prstGeom>
          <a:noFill/>
        </p:spPr>
        <p:txBody>
          <a:bodyPr wrap="square" anchor="t">
            <a:spAutoFit/>
          </a:bodyPr>
          <a:lstStyle/>
          <a:p>
            <a:pPr algn="l">
              <a:defRPr sz="1200" b="1">
                <a:solidFill>
                  <a:srgbClr val="68D9CD"/>
                </a:solidFill>
                <a:latin typeface="Aptos"/>
              </a:defRPr>
            </a:pPr>
            <a:r>
              <a:t>03</a:t>
            </a:r>
          </a:p>
        </p:txBody>
      </p:sp>
      <p:sp>
        <p:nvSpPr>
          <p:cNvPr id="11" name="TextBox 10"/>
          <p:cNvSpPr txBox="1"/>
          <p:nvPr/>
        </p:nvSpPr>
        <p:spPr>
          <a:xfrm>
            <a:off x="1417320" y="3163824"/>
            <a:ext cx="1325880" cy="384048"/>
          </a:xfrm>
          <a:prstGeom prst="rect">
            <a:avLst/>
          </a:prstGeom>
          <a:noFill/>
        </p:spPr>
        <p:txBody>
          <a:bodyPr wrap="square" anchor="t">
            <a:spAutoFit/>
          </a:bodyPr>
          <a:lstStyle/>
          <a:p>
            <a:pPr algn="l">
              <a:defRPr sz="1800" b="1">
                <a:solidFill>
                  <a:srgbClr val="FFFFFF"/>
                </a:solidFill>
                <a:latin typeface="Aptos"/>
              </a:defRPr>
            </a:pPr>
            <a:r>
              <a:t>Trigger</a:t>
            </a:r>
          </a:p>
        </p:txBody>
      </p:sp>
      <p:sp>
        <p:nvSpPr>
          <p:cNvPr id="12" name="TextBox 11"/>
          <p:cNvSpPr txBox="1"/>
          <p:nvPr/>
        </p:nvSpPr>
        <p:spPr>
          <a:xfrm>
            <a:off x="2880360" y="3209544"/>
            <a:ext cx="7040880" cy="347472"/>
          </a:xfrm>
          <a:prstGeom prst="rect">
            <a:avLst/>
          </a:prstGeom>
          <a:noFill/>
        </p:spPr>
        <p:txBody>
          <a:bodyPr wrap="square" anchor="t">
            <a:spAutoFit/>
          </a:bodyPr>
          <a:lstStyle/>
          <a:p>
            <a:pPr algn="l">
              <a:defRPr sz="1400" b="0">
                <a:solidFill>
                  <a:srgbClr val="D3E4E9"/>
                </a:solidFill>
                <a:latin typeface="Aptos"/>
              </a:defRPr>
            </a:pPr>
            <a:r>
              <a:t>Simulation → high temperature on one station</a:t>
            </a:r>
          </a:p>
        </p:txBody>
      </p:sp>
      <p:sp>
        <p:nvSpPr>
          <p:cNvPr id="13" name="TextBox 12"/>
          <p:cNvSpPr txBox="1"/>
          <p:nvPr/>
        </p:nvSpPr>
        <p:spPr>
          <a:xfrm>
            <a:off x="777240" y="4059935"/>
            <a:ext cx="548640" cy="320040"/>
          </a:xfrm>
          <a:prstGeom prst="rect">
            <a:avLst/>
          </a:prstGeom>
          <a:noFill/>
        </p:spPr>
        <p:txBody>
          <a:bodyPr wrap="square" anchor="t">
            <a:spAutoFit/>
          </a:bodyPr>
          <a:lstStyle/>
          <a:p>
            <a:pPr algn="l">
              <a:defRPr sz="1200" b="1">
                <a:solidFill>
                  <a:srgbClr val="68D9CD"/>
                </a:solidFill>
                <a:latin typeface="Aptos"/>
              </a:defRPr>
            </a:pPr>
            <a:r>
              <a:t>04</a:t>
            </a:r>
          </a:p>
        </p:txBody>
      </p:sp>
      <p:sp>
        <p:nvSpPr>
          <p:cNvPr id="14" name="TextBox 13"/>
          <p:cNvSpPr txBox="1"/>
          <p:nvPr/>
        </p:nvSpPr>
        <p:spPr>
          <a:xfrm>
            <a:off x="1417320" y="4014215"/>
            <a:ext cx="1325880" cy="384048"/>
          </a:xfrm>
          <a:prstGeom prst="rect">
            <a:avLst/>
          </a:prstGeom>
          <a:noFill/>
        </p:spPr>
        <p:txBody>
          <a:bodyPr wrap="square" anchor="t">
            <a:spAutoFit/>
          </a:bodyPr>
          <a:lstStyle/>
          <a:p>
            <a:pPr algn="l">
              <a:defRPr sz="1800" b="1">
                <a:solidFill>
                  <a:srgbClr val="FFFFFF"/>
                </a:solidFill>
                <a:latin typeface="Aptos"/>
              </a:defRPr>
            </a:pPr>
            <a:r>
              <a:t>Verify</a:t>
            </a:r>
          </a:p>
        </p:txBody>
      </p:sp>
      <p:sp>
        <p:nvSpPr>
          <p:cNvPr id="15" name="TextBox 14"/>
          <p:cNvSpPr txBox="1"/>
          <p:nvPr/>
        </p:nvSpPr>
        <p:spPr>
          <a:xfrm>
            <a:off x="2880360" y="4059935"/>
            <a:ext cx="7040880" cy="347472"/>
          </a:xfrm>
          <a:prstGeom prst="rect">
            <a:avLst/>
          </a:prstGeom>
          <a:noFill/>
        </p:spPr>
        <p:txBody>
          <a:bodyPr wrap="square" anchor="t">
            <a:spAutoFit/>
          </a:bodyPr>
          <a:lstStyle/>
          <a:p>
            <a:pPr algn="l">
              <a:defRPr sz="1400" b="0">
                <a:solidFill>
                  <a:srgbClr val="D3E4E9"/>
                </a:solidFill>
                <a:latin typeface="Aptos"/>
              </a:defRPr>
            </a:pPr>
            <a:r>
              <a:t>Observe alert, acknowledge it, then reset normal</a:t>
            </a:r>
          </a:p>
        </p:txBody>
      </p:sp>
      <p:sp>
        <p:nvSpPr>
          <p:cNvPr id="16" name="TextBox 15"/>
          <p:cNvSpPr txBox="1"/>
          <p:nvPr/>
        </p:nvSpPr>
        <p:spPr>
          <a:xfrm>
            <a:off x="777240" y="4910328"/>
            <a:ext cx="548640" cy="320040"/>
          </a:xfrm>
          <a:prstGeom prst="rect">
            <a:avLst/>
          </a:prstGeom>
          <a:noFill/>
        </p:spPr>
        <p:txBody>
          <a:bodyPr wrap="square" anchor="t">
            <a:spAutoFit/>
          </a:bodyPr>
          <a:lstStyle/>
          <a:p>
            <a:pPr algn="l">
              <a:defRPr sz="1200" b="1">
                <a:solidFill>
                  <a:srgbClr val="68D9CD"/>
                </a:solidFill>
                <a:latin typeface="Aptos"/>
              </a:defRPr>
            </a:pPr>
            <a:r>
              <a:t>05</a:t>
            </a:r>
          </a:p>
        </p:txBody>
      </p:sp>
      <p:sp>
        <p:nvSpPr>
          <p:cNvPr id="17" name="TextBox 16"/>
          <p:cNvSpPr txBox="1"/>
          <p:nvPr/>
        </p:nvSpPr>
        <p:spPr>
          <a:xfrm>
            <a:off x="1417320" y="4864608"/>
            <a:ext cx="1325880" cy="384048"/>
          </a:xfrm>
          <a:prstGeom prst="rect">
            <a:avLst/>
          </a:prstGeom>
          <a:noFill/>
        </p:spPr>
        <p:txBody>
          <a:bodyPr wrap="square" anchor="t">
            <a:spAutoFit/>
          </a:bodyPr>
          <a:lstStyle/>
          <a:p>
            <a:pPr algn="l">
              <a:defRPr sz="1800" b="1">
                <a:solidFill>
                  <a:srgbClr val="FFFFFF"/>
                </a:solidFill>
                <a:latin typeface="Aptos"/>
              </a:defRPr>
            </a:pPr>
            <a:r>
              <a:t>Evidence</a:t>
            </a:r>
          </a:p>
        </p:txBody>
      </p:sp>
      <p:sp>
        <p:nvSpPr>
          <p:cNvPr id="18" name="TextBox 17"/>
          <p:cNvSpPr txBox="1"/>
          <p:nvPr/>
        </p:nvSpPr>
        <p:spPr>
          <a:xfrm>
            <a:off x="2880360" y="4910328"/>
            <a:ext cx="7040880" cy="347472"/>
          </a:xfrm>
          <a:prstGeom prst="rect">
            <a:avLst/>
          </a:prstGeom>
          <a:noFill/>
        </p:spPr>
        <p:txBody>
          <a:bodyPr wrap="square" anchor="t">
            <a:spAutoFit/>
          </a:bodyPr>
          <a:lstStyle/>
          <a:p>
            <a:pPr algn="l">
              <a:defRPr sz="1400" b="0">
                <a:solidFill>
                  <a:srgbClr val="D3E4E9"/>
                </a:solidFill>
                <a:latin typeface="Aptos"/>
              </a:defRPr>
            </a:pPr>
            <a:r>
              <a:t>Open History/Reports and show the stored reading</a:t>
            </a:r>
          </a:p>
        </p:txBody>
      </p:sp>
      <p:sp>
        <p:nvSpPr>
          <p:cNvPr id="19" name="Rounded Rectangle 18"/>
          <p:cNvSpPr/>
          <p:nvPr/>
        </p:nvSpPr>
        <p:spPr>
          <a:xfrm>
            <a:off x="8732520" y="5349240"/>
            <a:ext cx="2514600" cy="749808"/>
          </a:xfrm>
          <a:prstGeom prst="roundRect">
            <a:avLst/>
          </a:prstGeom>
          <a:solidFill>
            <a:srgbClr val="FFFFFF"/>
          </a:solidFill>
          <a:ln w="1270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732520" y="5349240"/>
            <a:ext cx="64008" cy="749808"/>
          </a:xfrm>
          <a:prstGeom prst="rect">
            <a:avLst/>
          </a:prstGeom>
          <a:solidFill>
            <a:srgbClr val="C238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0" y="5513831"/>
            <a:ext cx="2103120" cy="347472"/>
          </a:xfrm>
          <a:prstGeom prst="rect">
            <a:avLst/>
          </a:prstGeom>
          <a:noFill/>
        </p:spPr>
        <p:txBody>
          <a:bodyPr wrap="square" anchor="t">
            <a:spAutoFit/>
          </a:bodyPr>
          <a:lstStyle/>
          <a:p>
            <a:pPr algn="l">
              <a:defRPr sz="1200" b="1">
                <a:solidFill>
                  <a:srgbClr val="122D44"/>
                </a:solidFill>
                <a:latin typeface="Aptos"/>
              </a:defRPr>
            </a:pPr>
            <a:r>
              <a:t>Fallback</a:t>
            </a:r>
          </a:p>
        </p:txBody>
      </p:sp>
      <p:sp>
        <p:nvSpPr>
          <p:cNvPr id="22" name="TextBox 21"/>
          <p:cNvSpPr txBox="1"/>
          <p:nvPr/>
        </p:nvSpPr>
        <p:spPr>
          <a:xfrm>
            <a:off x="8961120" y="5971031"/>
            <a:ext cx="2103120" cy="0"/>
          </a:xfrm>
          <a:prstGeom prst="rect">
            <a:avLst/>
          </a:prstGeom>
          <a:noFill/>
        </p:spPr>
        <p:txBody>
          <a:bodyPr wrap="square" anchor="t">
            <a:spAutoFit/>
          </a:bodyPr>
          <a:lstStyle/>
          <a:p>
            <a:pPr algn="l">
              <a:defRPr sz="900" b="0">
                <a:solidFill>
                  <a:srgbClr val="556575"/>
                </a:solidFill>
                <a:latin typeface="Aptos"/>
              </a:defRPr>
            </a:pPr>
            <a:r>
              <a:t>Use saved screenshot and test evidence</a:t>
            </a:r>
          </a:p>
        </p:txBody>
      </p:sp>
      <p:sp>
        <p:nvSpPr>
          <p:cNvPr id="23" name="TextBox 22"/>
          <p:cNvSpPr txBox="1"/>
          <p:nvPr/>
        </p:nvSpPr>
        <p:spPr>
          <a:xfrm>
            <a:off x="685800" y="6144768"/>
            <a:ext cx="7132320" cy="256032"/>
          </a:xfrm>
          <a:prstGeom prst="rect">
            <a:avLst/>
          </a:prstGeom>
          <a:noFill/>
        </p:spPr>
        <p:txBody>
          <a:bodyPr wrap="square" anchor="t">
            <a:spAutoFit/>
          </a:bodyPr>
          <a:lstStyle/>
          <a:p>
            <a:pPr algn="l">
              <a:defRPr sz="1000" b="1">
                <a:solidFill>
                  <a:srgbClr val="F6BCC5"/>
                </a:solidFill>
                <a:latin typeface="Aptos"/>
              </a:defRPr>
            </a:pPr>
            <a:r>
              <a:t>Never display passwords, API keys or the .env file during the demonstration.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566928" y="310896"/>
            <a:ext cx="502920" cy="347472"/>
          </a:xfrm>
          <a:prstGeom prst="rect">
            <a:avLst/>
          </a:prstGeom>
          <a:noFill/>
        </p:spPr>
        <p:txBody>
          <a:bodyPr wrap="square" anchor="t">
            <a:spAutoFit/>
          </a:bodyPr>
          <a:lstStyle/>
          <a:p>
            <a:pPr algn="l">
              <a:defRPr sz="1300" b="1">
                <a:solidFill>
                  <a:srgbClr val="007E89"/>
                </a:solidFill>
                <a:latin typeface="Aptos"/>
              </a:defRPr>
            </a:pPr>
            <a:r>
              <a:t>13</a:t>
            </a:r>
          </a:p>
        </p:txBody>
      </p:sp>
      <p:sp>
        <p:nvSpPr>
          <p:cNvPr id="3" name="TextBox 2"/>
          <p:cNvSpPr txBox="1"/>
          <p:nvPr/>
        </p:nvSpPr>
        <p:spPr>
          <a:xfrm>
            <a:off x="1078992" y="228600"/>
            <a:ext cx="10469880" cy="475488"/>
          </a:xfrm>
          <a:prstGeom prst="rect">
            <a:avLst/>
          </a:prstGeom>
          <a:noFill/>
        </p:spPr>
        <p:txBody>
          <a:bodyPr wrap="square" anchor="t">
            <a:spAutoFit/>
          </a:bodyPr>
          <a:lstStyle/>
          <a:p>
            <a:pPr algn="l">
              <a:defRPr sz="2600" b="1">
                <a:solidFill>
                  <a:srgbClr val="122D44"/>
                </a:solidFill>
                <a:latin typeface="Aptos"/>
              </a:defRPr>
            </a:pPr>
            <a:r>
              <a:t>Conclusion and future work</a:t>
            </a:r>
          </a:p>
        </p:txBody>
      </p:sp>
      <p:sp>
        <p:nvSpPr>
          <p:cNvPr id="4" name="TextBox 3"/>
          <p:cNvSpPr txBox="1"/>
          <p:nvPr/>
        </p:nvSpPr>
        <p:spPr>
          <a:xfrm>
            <a:off x="1078992" y="722376"/>
            <a:ext cx="10149840" cy="347472"/>
          </a:xfrm>
          <a:prstGeom prst="rect">
            <a:avLst/>
          </a:prstGeom>
          <a:noFill/>
        </p:spPr>
        <p:txBody>
          <a:bodyPr wrap="square" anchor="t">
            <a:spAutoFit/>
          </a:bodyPr>
          <a:lstStyle/>
          <a:p>
            <a:pPr algn="l">
              <a:defRPr sz="1100" b="0">
                <a:solidFill>
                  <a:srgbClr val="556575"/>
                </a:solidFill>
                <a:latin typeface="Aptos"/>
              </a:defRPr>
            </a:pPr>
            <a:r>
              <a:t>What we achieved and how the prototype can evolve</a:t>
            </a:r>
          </a:p>
        </p:txBody>
      </p:sp>
      <p:sp>
        <p:nvSpPr>
          <p:cNvPr id="5" name="Rectangle 4"/>
          <p:cNvSpPr/>
          <p:nvPr/>
        </p:nvSpPr>
        <p:spPr>
          <a:xfrm>
            <a:off x="566928" y="1097280"/>
            <a:ext cx="11018520" cy="22860"/>
          </a:xfrm>
          <a:prstGeom prst="rect">
            <a:avLst/>
          </a:prstGeom>
          <a:solidFill>
            <a:srgbClr val="D8E2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353312"/>
            <a:ext cx="5349240" cy="4251960"/>
          </a:xfrm>
          <a:prstGeom prst="roundRect">
            <a:avLst/>
          </a:prstGeom>
          <a:solidFill>
            <a:srgbClr val="FFFFFF"/>
          </a:solidFill>
          <a:ln w="1270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353312"/>
            <a:ext cx="64008" cy="4251960"/>
          </a:xfrm>
          <a:prstGeom prst="rect">
            <a:avLst/>
          </a:prstGeom>
          <a:solidFill>
            <a:srgbClr val="18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6968" y="1517904"/>
            <a:ext cx="4937759" cy="347472"/>
          </a:xfrm>
          <a:prstGeom prst="rect">
            <a:avLst/>
          </a:prstGeom>
          <a:noFill/>
        </p:spPr>
        <p:txBody>
          <a:bodyPr wrap="square" anchor="t">
            <a:spAutoFit/>
          </a:bodyPr>
          <a:lstStyle/>
          <a:p>
            <a:pPr algn="l">
              <a:defRPr sz="2000" b="1">
                <a:solidFill>
                  <a:srgbClr val="122D44"/>
                </a:solidFill>
                <a:latin typeface="Aptos"/>
              </a:defRPr>
            </a:pPr>
            <a:r>
              <a:t>Objectives achieved</a:t>
            </a:r>
          </a:p>
        </p:txBody>
      </p:sp>
      <p:sp>
        <p:nvSpPr>
          <p:cNvPr id="9" name="TextBox 8"/>
          <p:cNvSpPr txBox="1"/>
          <p:nvPr/>
        </p:nvSpPr>
        <p:spPr>
          <a:xfrm>
            <a:off x="886968" y="1975104"/>
            <a:ext cx="4937759" cy="3502152"/>
          </a:xfrm>
          <a:prstGeom prst="rect">
            <a:avLst/>
          </a:prstGeom>
          <a:noFill/>
        </p:spPr>
        <p:txBody>
          <a:bodyPr wrap="square" anchor="t">
            <a:spAutoFit/>
          </a:bodyPr>
          <a:lstStyle/>
          <a:p>
            <a:pPr algn="l">
              <a:defRPr sz="1600" b="0">
                <a:solidFill>
                  <a:srgbClr val="556575"/>
                </a:solidFill>
                <a:latin typeface="Aptos"/>
              </a:defRPr>
            </a:pPr>
            <a:r>
              <a:t>✓ Multi-station telemetry</a:t>
            </a:r>
            <a:br/>
            <a:r>
              <a:t>✓ MQTT publish/subscribe transport</a:t>
            </a:r>
            <a:br/>
            <a:r>
              <a:t>✓ Durable edge buffering and retry</a:t>
            </a:r>
            <a:br/>
            <a:r>
              <a:t>✓ Idempotent PostgreSQL persistence</a:t>
            </a:r>
            <a:br/>
            <a:r>
              <a:t>✓ Live dashboard, alerts and reports</a:t>
            </a:r>
            <a:br/>
            <a:r>
              <a:t>✓ Role-based access and audit evidence</a:t>
            </a:r>
            <a:br/>
            <a:r>
              <a:t>✓ 42 passing automated tests</a:t>
            </a:r>
          </a:p>
        </p:txBody>
      </p:sp>
      <p:sp>
        <p:nvSpPr>
          <p:cNvPr id="10" name="Rounded Rectangle 9"/>
          <p:cNvSpPr/>
          <p:nvPr/>
        </p:nvSpPr>
        <p:spPr>
          <a:xfrm>
            <a:off x="6263640" y="1353312"/>
            <a:ext cx="5257800" cy="4251960"/>
          </a:xfrm>
          <a:prstGeom prst="roundRect">
            <a:avLst/>
          </a:prstGeom>
          <a:solidFill>
            <a:srgbClr val="FFFFFF"/>
          </a:solidFill>
          <a:ln w="1270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353312"/>
            <a:ext cx="64008" cy="4251960"/>
          </a:xfrm>
          <a:prstGeom prst="rect">
            <a:avLst/>
          </a:prstGeom>
          <a:solidFill>
            <a:srgbClr val="2D6C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517904"/>
            <a:ext cx="4846320" cy="347472"/>
          </a:xfrm>
          <a:prstGeom prst="rect">
            <a:avLst/>
          </a:prstGeom>
          <a:noFill/>
        </p:spPr>
        <p:txBody>
          <a:bodyPr wrap="square" anchor="t">
            <a:spAutoFit/>
          </a:bodyPr>
          <a:lstStyle/>
          <a:p>
            <a:pPr algn="l">
              <a:defRPr sz="2000" b="1">
                <a:solidFill>
                  <a:srgbClr val="122D44"/>
                </a:solidFill>
                <a:latin typeface="Aptos"/>
              </a:defRPr>
            </a:pPr>
            <a:r>
              <a:t>Next steps</a:t>
            </a:r>
          </a:p>
        </p:txBody>
      </p:sp>
      <p:sp>
        <p:nvSpPr>
          <p:cNvPr id="13" name="TextBox 12"/>
          <p:cNvSpPr txBox="1"/>
          <p:nvPr/>
        </p:nvSpPr>
        <p:spPr>
          <a:xfrm>
            <a:off x="6492240" y="1975104"/>
            <a:ext cx="4846320" cy="3502152"/>
          </a:xfrm>
          <a:prstGeom prst="rect">
            <a:avLst/>
          </a:prstGeom>
          <a:noFill/>
        </p:spPr>
        <p:txBody>
          <a:bodyPr wrap="square" anchor="t">
            <a:spAutoFit/>
          </a:bodyPr>
          <a:lstStyle/>
          <a:p>
            <a:pPr algn="l">
              <a:defRPr sz="1600" b="0">
                <a:solidFill>
                  <a:srgbClr val="556575"/>
                </a:solidFill>
                <a:latin typeface="Aptos"/>
              </a:defRPr>
            </a:pPr>
            <a:r>
              <a:t>1. Calibrated ESP32 sensor stations</a:t>
            </a:r>
            <a:br/>
            <a:r>
              <a:t>2. MQTT over TLS and per-device certificates</a:t>
            </a:r>
            <a:br/>
            <a:r>
              <a:t>3. Cloud deployment and high availability</a:t>
            </a:r>
            <a:br/>
            <a:r>
              <a:t>4. Load, packet-loss and failover testing</a:t>
            </a:r>
            <a:br/>
            <a:r>
              <a:t>5. Predictive anomaly detection</a:t>
            </a:r>
            <a:br/>
            <a:r>
              <a:t>6. Progressive web application notifications</a:t>
            </a:r>
          </a:p>
        </p:txBody>
      </p:sp>
      <p:sp>
        <p:nvSpPr>
          <p:cNvPr id="14" name="TextBox 13"/>
          <p:cNvSpPr txBox="1"/>
          <p:nvPr/>
        </p:nvSpPr>
        <p:spPr>
          <a:xfrm>
            <a:off x="749808" y="5925312"/>
            <a:ext cx="10607040" cy="411480"/>
          </a:xfrm>
          <a:prstGeom prst="rect">
            <a:avLst/>
          </a:prstGeom>
          <a:noFill/>
        </p:spPr>
        <p:txBody>
          <a:bodyPr wrap="square" anchor="t">
            <a:spAutoFit/>
          </a:bodyPr>
          <a:lstStyle/>
          <a:p>
            <a:pPr algn="ctr">
              <a:defRPr sz="1900" b="1">
                <a:solidFill>
                  <a:srgbClr val="122D44"/>
                </a:solidFill>
                <a:latin typeface="Aptos"/>
              </a:defRPr>
            </a:pPr>
            <a:r>
              <a:t>WeatherGrid demonstrates a complete, testable distributed IoT path from observation to action.</a:t>
            </a:r>
          </a:p>
        </p:txBody>
      </p:sp>
      <p:sp>
        <p:nvSpPr>
          <p:cNvPr id="15" name="TextBox 14"/>
          <p:cNvSpPr txBox="1"/>
          <p:nvPr/>
        </p:nvSpPr>
        <p:spPr>
          <a:xfrm>
            <a:off x="576072" y="6519672"/>
            <a:ext cx="4754880" cy="182880"/>
          </a:xfrm>
          <a:prstGeom prst="rect">
            <a:avLst/>
          </a:prstGeom>
          <a:noFill/>
        </p:spPr>
        <p:txBody>
          <a:bodyPr wrap="square" anchor="t">
            <a:spAutoFit/>
          </a:bodyPr>
          <a:lstStyle/>
          <a:p>
            <a:pPr algn="l">
              <a:defRPr sz="800" b="0">
                <a:solidFill>
                  <a:srgbClr val="556575"/>
                </a:solidFill>
                <a:latin typeface="Aptos"/>
              </a:defRPr>
            </a:pPr>
            <a:r>
              <a:t>ICT304 | WeatherGrid</a:t>
            </a:r>
          </a:p>
        </p:txBody>
      </p:sp>
      <p:sp>
        <p:nvSpPr>
          <p:cNvPr id="16" name="TextBox 15"/>
          <p:cNvSpPr txBox="1"/>
          <p:nvPr/>
        </p:nvSpPr>
        <p:spPr>
          <a:xfrm>
            <a:off x="10789920" y="6519672"/>
            <a:ext cx="731520" cy="182880"/>
          </a:xfrm>
          <a:prstGeom prst="rect">
            <a:avLst/>
          </a:prstGeom>
          <a:noFill/>
        </p:spPr>
        <p:txBody>
          <a:bodyPr wrap="square" anchor="t">
            <a:spAutoFit/>
          </a:bodyPr>
          <a:lstStyle/>
          <a:p>
            <a:pPr algn="r">
              <a:defRPr sz="800" b="0">
                <a:solidFill>
                  <a:srgbClr val="556575"/>
                </a:solidFill>
                <a:latin typeface="Aptos"/>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2D44"/>
        </a:solidFill>
        <a:effectLst/>
      </p:bgPr>
    </p:bg>
    <p:spTree>
      <p:nvGrpSpPr>
        <p:cNvPr id="1" name=""/>
        <p:cNvGrpSpPr/>
        <p:nvPr/>
      </p:nvGrpSpPr>
      <p:grpSpPr/>
      <p:sp>
        <p:nvSpPr>
          <p:cNvPr id="2" name="TextBox 1"/>
          <p:cNvSpPr txBox="1"/>
          <p:nvPr/>
        </p:nvSpPr>
        <p:spPr>
          <a:xfrm>
            <a:off x="731520" y="1508760"/>
            <a:ext cx="10698480" cy="731520"/>
          </a:xfrm>
          <a:prstGeom prst="rect">
            <a:avLst/>
          </a:prstGeom>
          <a:noFill/>
        </p:spPr>
        <p:txBody>
          <a:bodyPr wrap="square" anchor="t">
            <a:spAutoFit/>
          </a:bodyPr>
          <a:lstStyle/>
          <a:p>
            <a:pPr algn="ctr">
              <a:defRPr sz="4200" b="1">
                <a:solidFill>
                  <a:srgbClr val="FFFFFF"/>
                </a:solidFill>
                <a:latin typeface="Aptos"/>
              </a:defRPr>
            </a:pPr>
            <a:r>
              <a:t>Questions</a:t>
            </a:r>
          </a:p>
        </p:txBody>
      </p:sp>
      <p:sp>
        <p:nvSpPr>
          <p:cNvPr id="3" name="TextBox 2"/>
          <p:cNvSpPr txBox="1"/>
          <p:nvPr/>
        </p:nvSpPr>
        <p:spPr>
          <a:xfrm>
            <a:off x="1645920" y="2468880"/>
            <a:ext cx="8869680" cy="502920"/>
          </a:xfrm>
          <a:prstGeom prst="rect">
            <a:avLst/>
          </a:prstGeom>
          <a:noFill/>
        </p:spPr>
        <p:txBody>
          <a:bodyPr wrap="square" anchor="t">
            <a:spAutoFit/>
          </a:bodyPr>
          <a:lstStyle/>
          <a:p>
            <a:pPr algn="ctr">
              <a:defRPr sz="2200" b="1">
                <a:solidFill>
                  <a:srgbClr val="68D9CD"/>
                </a:solidFill>
                <a:latin typeface="Aptos"/>
              </a:defRPr>
            </a:pPr>
            <a:r>
              <a:t>Thank you</a:t>
            </a:r>
          </a:p>
        </p:txBody>
      </p:sp>
      <p:sp>
        <p:nvSpPr>
          <p:cNvPr id="4" name="TextBox 3"/>
          <p:cNvSpPr txBox="1"/>
          <p:nvPr/>
        </p:nvSpPr>
        <p:spPr>
          <a:xfrm>
            <a:off x="1920240" y="3703320"/>
            <a:ext cx="8321040" cy="731520"/>
          </a:xfrm>
          <a:prstGeom prst="rect">
            <a:avLst/>
          </a:prstGeom>
          <a:noFill/>
        </p:spPr>
        <p:txBody>
          <a:bodyPr wrap="square" anchor="t">
            <a:spAutoFit/>
          </a:bodyPr>
          <a:lstStyle/>
          <a:p>
            <a:pPr algn="ctr">
              <a:defRPr sz="1700" b="0">
                <a:solidFill>
                  <a:srgbClr val="CFE7EE"/>
                </a:solidFill>
                <a:latin typeface="Aptos"/>
              </a:defRPr>
            </a:pPr>
            <a:r>
              <a:t>WeatherGrid · Distributed IoT Weather Monitoring System</a:t>
            </a:r>
          </a:p>
        </p:txBody>
      </p:sp>
      <p:sp>
        <p:nvSpPr>
          <p:cNvPr id="5" name="TextBox 4"/>
          <p:cNvSpPr txBox="1"/>
          <p:nvPr/>
        </p:nvSpPr>
        <p:spPr>
          <a:xfrm>
            <a:off x="2057400" y="5166360"/>
            <a:ext cx="8046720" cy="502920"/>
          </a:xfrm>
          <a:prstGeom prst="rect">
            <a:avLst/>
          </a:prstGeom>
          <a:noFill/>
        </p:spPr>
        <p:txBody>
          <a:bodyPr wrap="square" anchor="t">
            <a:spAutoFit/>
          </a:bodyPr>
          <a:lstStyle/>
          <a:p>
            <a:pPr algn="ctr">
              <a:defRPr sz="1300" b="0">
                <a:solidFill>
                  <a:srgbClr val="A9C5D0"/>
                </a:solidFill>
                <a:latin typeface="Aptos"/>
              </a:defRPr>
            </a:pPr>
            <a:r>
              <a:t>Architecture  ·  Reliability  ·  Live monitoring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WeatherGrid - ICT304 Assessment 3 Presentation</dc:title>
  <dc:subject>Distributed IoT Weather Monitoring System</dc:subject>
  <dc:creator>WeatherGrid Project Group</dc:creator>
  <cp:keywords>ICT304, distributed computing, IoT, MQTT, WeatherGrid</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