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15 seconds: Good morning. We are presenting WeatherGrid, a distributed IoT weather monitoring system. It collects local weather data and shows it on a live web dashboard.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45 seconds: Explain these three problems in simple words. Finish by saying that reliability is important because devices and networks are not always available.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30 seconds: Present the objectives as outcomes. Point out that the system must remain reliable when messages are repeated or delayed.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90 seconds: Move from left to right. Simulators create data. Mosquitto routes MQTT messages. The gateway validates and forwards them. Next.js and Payload process the data. PostgreSQL stores it. Workers check offline devices and notifications. The browser displays the result.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60 seconds: Explain the seven numbered steps. Mention that the gateway saves data in SQLite if the backend is unavailable. The browser receives a live update after storage.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45 seconds: Be clear that the sensors are simulated. Explain that each station runs separately and publishes realistic test values. Physical sensors can replace the simulator without changing the backend message contract.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30 seconds: This is a screenshot of the running prototype. Explain the units: Celsius, percent, hectopascals, millimetres, kilometres per hour and battery percent.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4, 60 seconds: Define duplicate prevention simply: sending the same reading again does not create another database row. Mention that production MQTT would require TLS and per-device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4, 45 seconds: Explain that tests include bad data and failure cases, not only normal readings. State the total of 42 tests and show that all main services were healthy.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5, 30 seconds: Replace Member 1 to Member 5 with real names. Each person should explain their own work. State that integration and testing were shared by the whole team.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members, 4 minutes: Member 5 controls the computer. Other members explain the flow while the demo runs. Rehearse the command before class. Keep the architecture image and dashboard screenshot ready as a backup.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30 seconds: Return to the original problem. State that the objectives were achieved, but be clear that physical sensors and production security are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questions. Every member should be ready to explain their files, MQTT QoS 1, duplicate prevention, outage handling, user roles and the difference between simulated and physical sensors.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3344"/>
        </a:solidFill>
        <a:effectLst/>
      </p:bgPr>
    </p:bg>
    <p:spTree>
      <p:nvGrpSpPr>
        <p:cNvPr id="1" name=""/>
        <p:cNvGrpSpPr/>
        <p:nvPr/>
      </p:nvGrpSpPr>
      <p:grpSpPr/>
      <p:sp>
        <p:nvSpPr>
          <p:cNvPr id="2" name="TextBox 1"/>
          <p:cNvSpPr txBox="1"/>
          <p:nvPr/>
        </p:nvSpPr>
        <p:spPr>
          <a:xfrm>
            <a:off x="731520" y="594360"/>
            <a:ext cx="3200400" cy="320040"/>
          </a:xfrm>
          <a:prstGeom prst="rect">
            <a:avLst/>
          </a:prstGeom>
          <a:noFill/>
        </p:spPr>
        <p:txBody>
          <a:bodyPr wrap="square" anchor="t">
            <a:spAutoFit/>
          </a:bodyPr>
          <a:lstStyle/>
          <a:p>
            <a:pPr algn="l">
              <a:defRPr sz="1200" b="1">
                <a:solidFill>
                  <a:srgbClr val="77DCD3"/>
                </a:solidFill>
                <a:latin typeface="Aptos"/>
              </a:defRPr>
            </a:pPr>
            <a:r>
              <a:t>ICT304 DISTRIBUTED COMPUTING</a:t>
            </a:r>
          </a:p>
        </p:txBody>
      </p:sp>
      <p:sp>
        <p:nvSpPr>
          <p:cNvPr id="3" name="TextBox 2"/>
          <p:cNvSpPr txBox="1"/>
          <p:nvPr/>
        </p:nvSpPr>
        <p:spPr>
          <a:xfrm>
            <a:off x="731520" y="1325880"/>
            <a:ext cx="8778240" cy="777240"/>
          </a:xfrm>
          <a:prstGeom prst="rect">
            <a:avLst/>
          </a:prstGeom>
          <a:noFill/>
        </p:spPr>
        <p:txBody>
          <a:bodyPr wrap="square" anchor="t">
            <a:spAutoFit/>
          </a:bodyPr>
          <a:lstStyle/>
          <a:p>
            <a:pPr algn="l">
              <a:defRPr sz="4200" b="1">
                <a:solidFill>
                  <a:srgbClr val="FFFFFF"/>
                </a:solidFill>
                <a:latin typeface="Aptos"/>
              </a:defRPr>
            </a:pPr>
            <a:r>
              <a:t>WeatherGrid</a:t>
            </a:r>
          </a:p>
        </p:txBody>
      </p:sp>
      <p:sp>
        <p:nvSpPr>
          <p:cNvPr id="4" name="TextBox 3"/>
          <p:cNvSpPr txBox="1"/>
          <p:nvPr/>
        </p:nvSpPr>
        <p:spPr>
          <a:xfrm>
            <a:off x="731520" y="2148840"/>
            <a:ext cx="9692640" cy="502920"/>
          </a:xfrm>
          <a:prstGeom prst="rect">
            <a:avLst/>
          </a:prstGeom>
          <a:noFill/>
        </p:spPr>
        <p:txBody>
          <a:bodyPr wrap="square" anchor="t">
            <a:spAutoFit/>
          </a:bodyPr>
          <a:lstStyle/>
          <a:p>
            <a:pPr algn="l">
              <a:defRPr sz="2500" b="1">
                <a:solidFill>
                  <a:srgbClr val="D3E8EE"/>
                </a:solidFill>
                <a:latin typeface="Aptos"/>
              </a:defRPr>
            </a:pPr>
            <a:r>
              <a:t>Distributed IoT Weather Monitoring System</a:t>
            </a:r>
          </a:p>
        </p:txBody>
      </p:sp>
      <p:sp>
        <p:nvSpPr>
          <p:cNvPr id="5" name="TextBox 4"/>
          <p:cNvSpPr txBox="1"/>
          <p:nvPr/>
        </p:nvSpPr>
        <p:spPr>
          <a:xfrm>
            <a:off x="731520" y="3017520"/>
            <a:ext cx="7863840" cy="640080"/>
          </a:xfrm>
          <a:prstGeom prst="rect">
            <a:avLst/>
          </a:prstGeom>
          <a:noFill/>
        </p:spPr>
        <p:txBody>
          <a:bodyPr wrap="square" anchor="t">
            <a:spAutoFit/>
          </a:bodyPr>
          <a:lstStyle/>
          <a:p>
            <a:pPr algn="l">
              <a:defRPr sz="1900" b="0">
                <a:solidFill>
                  <a:srgbClr val="FFFFFF"/>
                </a:solidFill>
                <a:latin typeface="Aptos"/>
              </a:defRPr>
            </a:pPr>
            <a:r>
              <a:t>Local weather data delivered reliably from simulated devices to a live web dashboard.</a:t>
            </a:r>
          </a:p>
        </p:txBody>
      </p:sp>
      <p:sp>
        <p:nvSpPr>
          <p:cNvPr id="6" name="Rounded Rectangle 5"/>
          <p:cNvSpPr/>
          <p:nvPr/>
        </p:nvSpPr>
        <p:spPr>
          <a:xfrm>
            <a:off x="731520" y="4005072"/>
            <a:ext cx="1508760" cy="393192"/>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023359"/>
            <a:ext cx="1508760" cy="310896"/>
          </a:xfrm>
          <a:prstGeom prst="rect">
            <a:avLst/>
          </a:prstGeom>
          <a:noFill/>
        </p:spPr>
        <p:txBody>
          <a:bodyPr wrap="square" anchor="ctr">
            <a:spAutoFit/>
          </a:bodyPr>
          <a:lstStyle/>
          <a:p>
            <a:pPr algn="ctr">
              <a:defRPr sz="1000" b="1">
                <a:solidFill>
                  <a:srgbClr val="FFFFFF"/>
                </a:solidFill>
                <a:latin typeface="Aptos"/>
              </a:defRPr>
            </a:pPr>
            <a:r>
              <a:t>3 stations</a:t>
            </a:r>
          </a:p>
        </p:txBody>
      </p:sp>
      <p:sp>
        <p:nvSpPr>
          <p:cNvPr id="8" name="Rounded Rectangle 7"/>
          <p:cNvSpPr/>
          <p:nvPr/>
        </p:nvSpPr>
        <p:spPr>
          <a:xfrm>
            <a:off x="2395728" y="4005072"/>
            <a:ext cx="1600200" cy="393192"/>
          </a:xfrm>
          <a:prstGeom prst="roundRect">
            <a:avLst/>
          </a:prstGeom>
          <a:solidFill>
            <a:srgbClr val="6F4E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95728" y="4023359"/>
            <a:ext cx="1600200" cy="310896"/>
          </a:xfrm>
          <a:prstGeom prst="rect">
            <a:avLst/>
          </a:prstGeom>
          <a:noFill/>
        </p:spPr>
        <p:txBody>
          <a:bodyPr wrap="square" anchor="ctr">
            <a:spAutoFit/>
          </a:bodyPr>
          <a:lstStyle/>
          <a:p>
            <a:pPr algn="ctr">
              <a:defRPr sz="1000" b="1">
                <a:solidFill>
                  <a:srgbClr val="FFFFFF"/>
                </a:solidFill>
                <a:latin typeface="Aptos"/>
              </a:defRPr>
            </a:pPr>
            <a:r>
              <a:t>MQTT messaging</a:t>
            </a:r>
          </a:p>
        </p:txBody>
      </p:sp>
      <p:sp>
        <p:nvSpPr>
          <p:cNvPr id="10" name="Rounded Rectangle 9"/>
          <p:cNvSpPr/>
          <p:nvPr/>
        </p:nvSpPr>
        <p:spPr>
          <a:xfrm>
            <a:off x="4151376" y="4005072"/>
            <a:ext cx="1600200" cy="393192"/>
          </a:xfrm>
          <a:prstGeom prst="roundRect">
            <a:avLst/>
          </a:prstGeom>
          <a:solidFill>
            <a:srgbClr val="04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51376" y="4023359"/>
            <a:ext cx="1600200" cy="310896"/>
          </a:xfrm>
          <a:prstGeom prst="rect">
            <a:avLst/>
          </a:prstGeom>
          <a:noFill/>
        </p:spPr>
        <p:txBody>
          <a:bodyPr wrap="square" anchor="ctr">
            <a:spAutoFit/>
          </a:bodyPr>
          <a:lstStyle/>
          <a:p>
            <a:pPr algn="ctr">
              <a:defRPr sz="1000" b="1">
                <a:solidFill>
                  <a:srgbClr val="FFFFFF"/>
                </a:solidFill>
                <a:latin typeface="Aptos"/>
              </a:defRPr>
            </a:pPr>
            <a:r>
              <a:t>Edge gateway</a:t>
            </a:r>
          </a:p>
        </p:txBody>
      </p:sp>
      <p:sp>
        <p:nvSpPr>
          <p:cNvPr id="12" name="Rounded Rectangle 11"/>
          <p:cNvSpPr/>
          <p:nvPr/>
        </p:nvSpPr>
        <p:spPr>
          <a:xfrm>
            <a:off x="5907024" y="4005072"/>
            <a:ext cx="1600200" cy="393192"/>
          </a:xfrm>
          <a:prstGeom prst="roundRect">
            <a:avLst/>
          </a:prstGeom>
          <a:solidFill>
            <a:srgbClr val="1E8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07024" y="4023359"/>
            <a:ext cx="1600200" cy="310896"/>
          </a:xfrm>
          <a:prstGeom prst="rect">
            <a:avLst/>
          </a:prstGeom>
          <a:noFill/>
        </p:spPr>
        <p:txBody>
          <a:bodyPr wrap="square" anchor="ctr">
            <a:spAutoFit/>
          </a:bodyPr>
          <a:lstStyle/>
          <a:p>
            <a:pPr algn="ctr">
              <a:defRPr sz="1000" b="1">
                <a:solidFill>
                  <a:srgbClr val="FFFFFF"/>
                </a:solidFill>
                <a:latin typeface="Aptos"/>
              </a:defRPr>
            </a:pPr>
            <a:r>
              <a:t>Live dashboard</a:t>
            </a:r>
          </a:p>
        </p:txBody>
      </p:sp>
      <p:sp>
        <p:nvSpPr>
          <p:cNvPr id="14" name="TextBox 13"/>
          <p:cNvSpPr txBox="1"/>
          <p:nvPr/>
        </p:nvSpPr>
        <p:spPr>
          <a:xfrm>
            <a:off x="731520" y="5074920"/>
            <a:ext cx="7772400" cy="685800"/>
          </a:xfrm>
          <a:prstGeom prst="rect">
            <a:avLst/>
          </a:prstGeom>
          <a:noFill/>
        </p:spPr>
        <p:txBody>
          <a:bodyPr wrap="square" anchor="t">
            <a:spAutoFit/>
          </a:bodyPr>
          <a:lstStyle/>
          <a:p>
            <a:pPr algn="l">
              <a:defRPr sz="1400" b="0">
                <a:solidFill>
                  <a:srgbClr val="D3E8EE"/>
                </a:solidFill>
                <a:latin typeface="Aptos"/>
              </a:defRPr>
            </a:pPr>
            <a:r>
              <a:t>Group [NUMBER]</a:t>
            </a:r>
            <a:br/>
            <a:r>
              <a:t>[ADD FIVE MEMBER NAMES AND STUDENT IDs]</a:t>
            </a:r>
          </a:p>
        </p:txBody>
      </p:sp>
      <p:sp>
        <p:nvSpPr>
          <p:cNvPr id="15" name="TextBox 14"/>
          <p:cNvSpPr txBox="1"/>
          <p:nvPr/>
        </p:nvSpPr>
        <p:spPr>
          <a:xfrm>
            <a:off x="9601200" y="6126480"/>
            <a:ext cx="1737360" cy="228600"/>
          </a:xfrm>
          <a:prstGeom prst="rect">
            <a:avLst/>
          </a:prstGeom>
          <a:noFill/>
        </p:spPr>
        <p:txBody>
          <a:bodyPr wrap="square" anchor="t">
            <a:spAutoFit/>
          </a:bodyPr>
          <a:lstStyle/>
          <a:p>
            <a:pPr algn="r">
              <a:defRPr sz="900" b="0">
                <a:solidFill>
                  <a:srgbClr val="A6C5CF"/>
                </a:solidFill>
                <a:latin typeface="Aptos"/>
              </a:defRPr>
            </a:pPr>
            <a:r>
              <a:t>15-minute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9FA"/>
        </a:solidFill>
        <a:effectLst/>
      </p:bgPr>
    </p:bg>
    <p:spTree>
      <p:nvGrpSpPr>
        <p:cNvPr id="1" name=""/>
        <p:cNvGrpSpPr/>
        <p:nvPr/>
      </p:nvGrpSpPr>
      <p:grpSpPr/>
      <p:sp>
        <p:nvSpPr>
          <p:cNvPr id="2" name="TextBox 1"/>
          <p:cNvSpPr txBox="1"/>
          <p:nvPr/>
        </p:nvSpPr>
        <p:spPr>
          <a:xfrm>
            <a:off x="548640" y="274320"/>
            <a:ext cx="502920" cy="320040"/>
          </a:xfrm>
          <a:prstGeom prst="rect">
            <a:avLst/>
          </a:prstGeom>
          <a:noFill/>
        </p:spPr>
        <p:txBody>
          <a:bodyPr wrap="square" anchor="t">
            <a:spAutoFit/>
          </a:bodyPr>
          <a:lstStyle/>
          <a:p>
            <a:pPr algn="l">
              <a:defRPr sz="1200" b="1">
                <a:solidFill>
                  <a:srgbClr val="047F8C"/>
                </a:solidFill>
                <a:latin typeface="Aptos"/>
              </a:defRPr>
            </a:pPr>
            <a:r>
              <a:t>02</a:t>
            </a:r>
          </a:p>
        </p:txBody>
      </p:sp>
      <p:sp>
        <p:nvSpPr>
          <p:cNvPr id="3" name="TextBox 2"/>
          <p:cNvSpPr txBox="1"/>
          <p:nvPr/>
        </p:nvSpPr>
        <p:spPr>
          <a:xfrm>
            <a:off x="1051560" y="182880"/>
            <a:ext cx="10424160" cy="457200"/>
          </a:xfrm>
          <a:prstGeom prst="rect">
            <a:avLst/>
          </a:prstGeom>
          <a:noFill/>
        </p:spPr>
        <p:txBody>
          <a:bodyPr wrap="square" anchor="t">
            <a:spAutoFit/>
          </a:bodyPr>
          <a:lstStyle/>
          <a:p>
            <a:pPr algn="l">
              <a:defRPr sz="2600" b="1">
                <a:solidFill>
                  <a:srgbClr val="133344"/>
                </a:solidFill>
                <a:latin typeface="Aptos"/>
              </a:defRPr>
            </a:pPr>
            <a:r>
              <a:t>The problem</a:t>
            </a:r>
          </a:p>
        </p:txBody>
      </p:sp>
      <p:sp>
        <p:nvSpPr>
          <p:cNvPr id="4" name="TextBox 3"/>
          <p:cNvSpPr txBox="1"/>
          <p:nvPr/>
        </p:nvSpPr>
        <p:spPr>
          <a:xfrm>
            <a:off x="1051560" y="658368"/>
            <a:ext cx="10241280" cy="320040"/>
          </a:xfrm>
          <a:prstGeom prst="rect">
            <a:avLst/>
          </a:prstGeom>
          <a:noFill/>
        </p:spPr>
        <p:txBody>
          <a:bodyPr wrap="square" anchor="t">
            <a:spAutoFit/>
          </a:bodyPr>
          <a:lstStyle/>
          <a:p>
            <a:pPr algn="l">
              <a:defRPr sz="1200" b="0">
                <a:solidFill>
                  <a:srgbClr val="586C76"/>
                </a:solidFill>
                <a:latin typeface="Aptos"/>
              </a:defRPr>
            </a:pPr>
            <a:r>
              <a:t>Why did we build WeatherGrid?</a:t>
            </a:r>
          </a:p>
        </p:txBody>
      </p:sp>
      <p:sp>
        <p:nvSpPr>
          <p:cNvPr id="5" name="Rectangle 4"/>
          <p:cNvSpPr/>
          <p:nvPr/>
        </p:nvSpPr>
        <p:spPr>
          <a:xfrm>
            <a:off x="548640" y="1042415"/>
            <a:ext cx="11064240" cy="22860"/>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417320"/>
            <a:ext cx="3429000" cy="4251960"/>
          </a:xfrm>
          <a:prstGeom prst="roundRect">
            <a:avLst/>
          </a:prstGeom>
          <a:solidFill>
            <a:srgbClr val="FFFFFF"/>
          </a:solidFill>
          <a:ln>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417320"/>
            <a:ext cx="64008" cy="4251960"/>
          </a:xfrm>
          <a:prstGeom prst="rect">
            <a:avLst/>
          </a:prstGeom>
          <a:solidFill>
            <a:srgbClr val="BE3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3017520" cy="365760"/>
          </a:xfrm>
          <a:prstGeom prst="rect">
            <a:avLst/>
          </a:prstGeom>
          <a:noFill/>
        </p:spPr>
        <p:txBody>
          <a:bodyPr wrap="square" anchor="t">
            <a:spAutoFit/>
          </a:bodyPr>
          <a:lstStyle/>
          <a:p>
            <a:pPr algn="l">
              <a:defRPr sz="1800" b="1">
                <a:solidFill>
                  <a:srgbClr val="133344"/>
                </a:solidFill>
                <a:latin typeface="Aptos"/>
              </a:defRPr>
            </a:pPr>
            <a:r>
              <a:t>Local weather changes</a:t>
            </a:r>
          </a:p>
        </p:txBody>
      </p:sp>
      <p:sp>
        <p:nvSpPr>
          <p:cNvPr id="9" name="TextBox 8"/>
          <p:cNvSpPr txBox="1"/>
          <p:nvPr/>
        </p:nvSpPr>
        <p:spPr>
          <a:xfrm>
            <a:off x="914400" y="2084832"/>
            <a:ext cx="3017520" cy="3429000"/>
          </a:xfrm>
          <a:prstGeom prst="rect">
            <a:avLst/>
          </a:prstGeom>
          <a:noFill/>
        </p:spPr>
        <p:txBody>
          <a:bodyPr wrap="square" anchor="t">
            <a:spAutoFit/>
          </a:bodyPr>
          <a:lstStyle/>
          <a:p>
            <a:pPr algn="l">
              <a:defRPr sz="1600" b="0">
                <a:solidFill>
                  <a:srgbClr val="586C76"/>
                </a:solidFill>
                <a:latin typeface="Aptos"/>
              </a:defRPr>
            </a:pPr>
            <a:r>
              <a:t>Public forecasts cover large areas. A farm, campus or workplace may need weather information for its exact location.</a:t>
            </a:r>
          </a:p>
        </p:txBody>
      </p:sp>
      <p:sp>
        <p:nvSpPr>
          <p:cNvPr id="10" name="Rounded Rectangle 9"/>
          <p:cNvSpPr/>
          <p:nvPr/>
        </p:nvSpPr>
        <p:spPr>
          <a:xfrm>
            <a:off x="4370832" y="1417320"/>
            <a:ext cx="3429000" cy="4251960"/>
          </a:xfrm>
          <a:prstGeom prst="roundRect">
            <a:avLst/>
          </a:prstGeom>
          <a:solidFill>
            <a:srgbClr val="FFFFFF"/>
          </a:solidFill>
          <a:ln>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70832" y="1417320"/>
            <a:ext cx="64008" cy="4251960"/>
          </a:xfrm>
          <a:prstGeom prst="rect">
            <a:avLst/>
          </a:prstGeom>
          <a:solidFill>
            <a:srgbClr val="6F4E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1600200"/>
            <a:ext cx="3017520" cy="365760"/>
          </a:xfrm>
          <a:prstGeom prst="rect">
            <a:avLst/>
          </a:prstGeom>
          <a:noFill/>
        </p:spPr>
        <p:txBody>
          <a:bodyPr wrap="square" anchor="t">
            <a:spAutoFit/>
          </a:bodyPr>
          <a:lstStyle/>
          <a:p>
            <a:pPr algn="l">
              <a:defRPr sz="1800" b="1">
                <a:solidFill>
                  <a:srgbClr val="133344"/>
                </a:solidFill>
                <a:latin typeface="Aptos"/>
              </a:defRPr>
            </a:pPr>
            <a:r>
              <a:t>Devices can lose connection</a:t>
            </a:r>
          </a:p>
        </p:txBody>
      </p:sp>
      <p:sp>
        <p:nvSpPr>
          <p:cNvPr id="13" name="TextBox 12"/>
          <p:cNvSpPr txBox="1"/>
          <p:nvPr/>
        </p:nvSpPr>
        <p:spPr>
          <a:xfrm>
            <a:off x="4599432" y="2084832"/>
            <a:ext cx="3017520" cy="3429000"/>
          </a:xfrm>
          <a:prstGeom prst="rect">
            <a:avLst/>
          </a:prstGeom>
          <a:noFill/>
        </p:spPr>
        <p:txBody>
          <a:bodyPr wrap="square" anchor="t">
            <a:spAutoFit/>
          </a:bodyPr>
          <a:lstStyle/>
          <a:p>
            <a:pPr algn="l">
              <a:defRPr sz="1600" b="0">
                <a:solidFill>
                  <a:srgbClr val="586C76"/>
                </a:solidFill>
                <a:latin typeface="Aptos"/>
              </a:defRPr>
            </a:pPr>
            <a:r>
              <a:t>Weather devices may disconnect. Messages can be delayed, lost or sent more than once.</a:t>
            </a:r>
          </a:p>
        </p:txBody>
      </p:sp>
      <p:sp>
        <p:nvSpPr>
          <p:cNvPr id="14" name="Rounded Rectangle 13"/>
          <p:cNvSpPr/>
          <p:nvPr/>
        </p:nvSpPr>
        <p:spPr>
          <a:xfrm>
            <a:off x="7827264" y="1417320"/>
            <a:ext cx="3429000" cy="4251960"/>
          </a:xfrm>
          <a:prstGeom prst="roundRect">
            <a:avLst/>
          </a:prstGeom>
          <a:solidFill>
            <a:srgbClr val="FFFFFF"/>
          </a:solidFill>
          <a:ln>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27264" y="1417320"/>
            <a:ext cx="64008" cy="4251960"/>
          </a:xfrm>
          <a:prstGeom prst="rect">
            <a:avLst/>
          </a:prstGeom>
          <a:solidFill>
            <a:srgbClr val="04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1600200"/>
            <a:ext cx="3017520" cy="365760"/>
          </a:xfrm>
          <a:prstGeom prst="rect">
            <a:avLst/>
          </a:prstGeom>
          <a:noFill/>
        </p:spPr>
        <p:txBody>
          <a:bodyPr wrap="square" anchor="t">
            <a:spAutoFit/>
          </a:bodyPr>
          <a:lstStyle/>
          <a:p>
            <a:pPr algn="l">
              <a:defRPr sz="1800" b="1">
                <a:solidFill>
                  <a:srgbClr val="133344"/>
                </a:solidFill>
                <a:latin typeface="Aptos"/>
              </a:defRPr>
            </a:pPr>
            <a:r>
              <a:t>Users need clear information</a:t>
            </a:r>
          </a:p>
        </p:txBody>
      </p:sp>
      <p:sp>
        <p:nvSpPr>
          <p:cNvPr id="17" name="TextBox 16"/>
          <p:cNvSpPr txBox="1"/>
          <p:nvPr/>
        </p:nvSpPr>
        <p:spPr>
          <a:xfrm>
            <a:off x="8055864" y="2084832"/>
            <a:ext cx="3017520" cy="3429000"/>
          </a:xfrm>
          <a:prstGeom prst="rect">
            <a:avLst/>
          </a:prstGeom>
          <a:noFill/>
        </p:spPr>
        <p:txBody>
          <a:bodyPr wrap="square" anchor="t">
            <a:spAutoFit/>
          </a:bodyPr>
          <a:lstStyle/>
          <a:p>
            <a:pPr algn="l">
              <a:defRPr sz="1600" b="0">
                <a:solidFill>
                  <a:srgbClr val="586C76"/>
                </a:solidFill>
                <a:latin typeface="Aptos"/>
              </a:defRPr>
            </a:pPr>
            <a:r>
              <a:t>People need live readings, warnings, history and reports in one simple and secure application.</a:t>
            </a:r>
          </a:p>
        </p:txBody>
      </p:sp>
      <p:sp>
        <p:nvSpPr>
          <p:cNvPr id="18" name="TextBox 17"/>
          <p:cNvSpPr txBox="1"/>
          <p:nvPr/>
        </p:nvSpPr>
        <p:spPr>
          <a:xfrm>
            <a:off x="914400" y="5961888"/>
            <a:ext cx="10332720" cy="320040"/>
          </a:xfrm>
          <a:prstGeom prst="rect">
            <a:avLst/>
          </a:prstGeom>
          <a:noFill/>
        </p:spPr>
        <p:txBody>
          <a:bodyPr wrap="square" anchor="t">
            <a:spAutoFit/>
          </a:bodyPr>
          <a:lstStyle/>
          <a:p>
            <a:pPr algn="ctr">
              <a:defRPr sz="1800" b="1">
                <a:solidFill>
                  <a:srgbClr val="133344"/>
                </a:solidFill>
                <a:latin typeface="Aptos"/>
              </a:defRPr>
            </a:pPr>
            <a:r>
              <a:t>Our goal: reliable local monitoring that continues to work during short failures.</a:t>
            </a:r>
          </a:p>
        </p:txBody>
      </p:sp>
      <p:sp>
        <p:nvSpPr>
          <p:cNvPr id="19" name="TextBox 18"/>
          <p:cNvSpPr txBox="1"/>
          <p:nvPr/>
        </p:nvSpPr>
        <p:spPr>
          <a:xfrm>
            <a:off x="566928" y="6528816"/>
            <a:ext cx="3657600" cy="182880"/>
          </a:xfrm>
          <a:prstGeom prst="rect">
            <a:avLst/>
          </a:prstGeom>
          <a:noFill/>
        </p:spPr>
        <p:txBody>
          <a:bodyPr wrap="square" anchor="t">
            <a:spAutoFit/>
          </a:bodyPr>
          <a:lstStyle/>
          <a:p>
            <a:pPr algn="l">
              <a:defRPr sz="800" b="0">
                <a:solidFill>
                  <a:srgbClr val="586C76"/>
                </a:solidFill>
                <a:latin typeface="Aptos"/>
              </a:defRPr>
            </a:pPr>
            <a:r>
              <a:t>ICT304 · WeatherGrid</a:t>
            </a:r>
          </a:p>
        </p:txBody>
      </p:sp>
      <p:sp>
        <p:nvSpPr>
          <p:cNvPr id="20" name="TextBox 19"/>
          <p:cNvSpPr txBox="1"/>
          <p:nvPr/>
        </p:nvSpPr>
        <p:spPr>
          <a:xfrm>
            <a:off x="10972800" y="6528816"/>
            <a:ext cx="594360" cy="182880"/>
          </a:xfrm>
          <a:prstGeom prst="rect">
            <a:avLst/>
          </a:prstGeom>
          <a:noFill/>
        </p:spPr>
        <p:txBody>
          <a:bodyPr wrap="square" anchor="t">
            <a:spAutoFit/>
          </a:bodyPr>
          <a:lstStyle/>
          <a:p>
            <a:pPr algn="r">
              <a:defRPr sz="800" b="0">
                <a:solidFill>
                  <a:srgbClr val="586C76"/>
                </a:solidFill>
                <a:latin typeface="Aptos"/>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9FA"/>
        </a:solidFill>
        <a:effectLst/>
      </p:bgPr>
    </p:bg>
    <p:spTree>
      <p:nvGrpSpPr>
        <p:cNvPr id="1" name=""/>
        <p:cNvGrpSpPr/>
        <p:nvPr/>
      </p:nvGrpSpPr>
      <p:grpSpPr/>
      <p:sp>
        <p:nvSpPr>
          <p:cNvPr id="2" name="TextBox 1"/>
          <p:cNvSpPr txBox="1"/>
          <p:nvPr/>
        </p:nvSpPr>
        <p:spPr>
          <a:xfrm>
            <a:off x="548640" y="274320"/>
            <a:ext cx="502920" cy="320040"/>
          </a:xfrm>
          <a:prstGeom prst="rect">
            <a:avLst/>
          </a:prstGeom>
          <a:noFill/>
        </p:spPr>
        <p:txBody>
          <a:bodyPr wrap="square" anchor="t">
            <a:spAutoFit/>
          </a:bodyPr>
          <a:lstStyle/>
          <a:p>
            <a:pPr algn="l">
              <a:defRPr sz="1200" b="1">
                <a:solidFill>
                  <a:srgbClr val="047F8C"/>
                </a:solidFill>
                <a:latin typeface="Aptos"/>
              </a:defRPr>
            </a:pPr>
            <a:r>
              <a:t>03</a:t>
            </a:r>
          </a:p>
        </p:txBody>
      </p:sp>
      <p:sp>
        <p:nvSpPr>
          <p:cNvPr id="3" name="TextBox 2"/>
          <p:cNvSpPr txBox="1"/>
          <p:nvPr/>
        </p:nvSpPr>
        <p:spPr>
          <a:xfrm>
            <a:off x="1051560" y="182880"/>
            <a:ext cx="10424160" cy="457200"/>
          </a:xfrm>
          <a:prstGeom prst="rect">
            <a:avLst/>
          </a:prstGeom>
          <a:noFill/>
        </p:spPr>
        <p:txBody>
          <a:bodyPr wrap="square" anchor="t">
            <a:spAutoFit/>
          </a:bodyPr>
          <a:lstStyle/>
          <a:p>
            <a:pPr algn="l">
              <a:defRPr sz="2600" b="1">
                <a:solidFill>
                  <a:srgbClr val="133344"/>
                </a:solidFill>
                <a:latin typeface="Aptos"/>
              </a:defRPr>
            </a:pPr>
            <a:r>
              <a:t>Project objectives</a:t>
            </a:r>
          </a:p>
        </p:txBody>
      </p:sp>
      <p:sp>
        <p:nvSpPr>
          <p:cNvPr id="4" name="TextBox 3"/>
          <p:cNvSpPr txBox="1"/>
          <p:nvPr/>
        </p:nvSpPr>
        <p:spPr>
          <a:xfrm>
            <a:off x="1051560" y="658368"/>
            <a:ext cx="10241280" cy="320040"/>
          </a:xfrm>
          <a:prstGeom prst="rect">
            <a:avLst/>
          </a:prstGeom>
          <a:noFill/>
        </p:spPr>
        <p:txBody>
          <a:bodyPr wrap="square" anchor="t">
            <a:spAutoFit/>
          </a:bodyPr>
          <a:lstStyle/>
          <a:p>
            <a:pPr algn="l">
              <a:defRPr sz="1200" b="0">
                <a:solidFill>
                  <a:srgbClr val="586C76"/>
                </a:solidFill>
                <a:latin typeface="Aptos"/>
              </a:defRPr>
            </a:pPr>
            <a:r>
              <a:t>What should the system do?</a:t>
            </a:r>
          </a:p>
        </p:txBody>
      </p:sp>
      <p:sp>
        <p:nvSpPr>
          <p:cNvPr id="5" name="Rectangle 4"/>
          <p:cNvSpPr/>
          <p:nvPr/>
        </p:nvSpPr>
        <p:spPr>
          <a:xfrm>
            <a:off x="548640" y="1042415"/>
            <a:ext cx="11064240" cy="22860"/>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17320"/>
            <a:ext cx="5212080" cy="4389120"/>
          </a:xfrm>
          <a:prstGeom prst="rect">
            <a:avLst/>
          </a:prstGeom>
          <a:noFill/>
        </p:spPr>
        <p:txBody>
          <a:bodyPr wrap="square">
            <a:spAutoFit/>
          </a:bodyPr>
          <a:lstStyle/>
          <a:p>
            <a:pPr>
              <a:spcAft>
                <a:spcPts val="1400"/>
              </a:spcAft>
              <a:defRPr sz="1900">
                <a:solidFill>
                  <a:srgbClr val="1F323D"/>
                </a:solidFill>
                <a:latin typeface="Aptos"/>
              </a:defRPr>
            </a:pPr>
            <a:r>
              <a:t>•  Collect six weather measurements</a:t>
            </a:r>
          </a:p>
          <a:p>
            <a:pPr>
              <a:spcAft>
                <a:spcPts val="1400"/>
              </a:spcAft>
              <a:defRPr sz="1900">
                <a:solidFill>
                  <a:srgbClr val="1F323D"/>
                </a:solidFill>
                <a:latin typeface="Aptos"/>
              </a:defRPr>
            </a:pPr>
            <a:r>
              <a:t>•  Support several weather stations</a:t>
            </a:r>
          </a:p>
          <a:p>
            <a:pPr>
              <a:spcAft>
                <a:spcPts val="1400"/>
              </a:spcAft>
              <a:defRPr sz="1900">
                <a:solidFill>
                  <a:srgbClr val="1F323D"/>
                </a:solidFill>
                <a:latin typeface="Aptos"/>
              </a:defRPr>
            </a:pPr>
            <a:r>
              <a:t>•  Show live and historical data</a:t>
            </a:r>
          </a:p>
          <a:p>
            <a:pPr>
              <a:spcAft>
                <a:spcPts val="1400"/>
              </a:spcAft>
              <a:defRPr sz="1900">
                <a:solidFill>
                  <a:srgbClr val="1F323D"/>
                </a:solidFill>
                <a:latin typeface="Aptos"/>
              </a:defRPr>
            </a:pPr>
            <a:r>
              <a:t>•  Detect warning and critical conditions</a:t>
            </a:r>
          </a:p>
        </p:txBody>
      </p:sp>
      <p:sp>
        <p:nvSpPr>
          <p:cNvPr id="7" name="TextBox 6"/>
          <p:cNvSpPr txBox="1"/>
          <p:nvPr/>
        </p:nvSpPr>
        <p:spPr>
          <a:xfrm>
            <a:off x="6217920" y="1417320"/>
            <a:ext cx="5120640" cy="4389120"/>
          </a:xfrm>
          <a:prstGeom prst="rect">
            <a:avLst/>
          </a:prstGeom>
          <a:noFill/>
        </p:spPr>
        <p:txBody>
          <a:bodyPr wrap="square">
            <a:spAutoFit/>
          </a:bodyPr>
          <a:lstStyle/>
          <a:p>
            <a:pPr>
              <a:spcAft>
                <a:spcPts val="1400"/>
              </a:spcAft>
              <a:defRPr sz="1900">
                <a:solidFill>
                  <a:srgbClr val="1F323D"/>
                </a:solidFill>
                <a:latin typeface="Aptos"/>
              </a:defRPr>
            </a:pPr>
            <a:r>
              <a:t>•  Avoid duplicate database records</a:t>
            </a:r>
          </a:p>
          <a:p>
            <a:pPr>
              <a:spcAft>
                <a:spcPts val="1400"/>
              </a:spcAft>
              <a:defRPr sz="1900">
                <a:solidFill>
                  <a:srgbClr val="1F323D"/>
                </a:solidFill>
                <a:latin typeface="Aptos"/>
              </a:defRPr>
            </a:pPr>
            <a:r>
              <a:t>•  Keep messages during short outages</a:t>
            </a:r>
          </a:p>
          <a:p>
            <a:pPr>
              <a:spcAft>
                <a:spcPts val="1400"/>
              </a:spcAft>
              <a:defRPr sz="1900">
                <a:solidFill>
                  <a:srgbClr val="1F323D"/>
                </a:solidFill>
                <a:latin typeface="Aptos"/>
              </a:defRPr>
            </a:pPr>
            <a:r>
              <a:t>•  Protect admin and viewer access</a:t>
            </a:r>
          </a:p>
          <a:p>
            <a:pPr>
              <a:spcAft>
                <a:spcPts val="1400"/>
              </a:spcAft>
              <a:defRPr sz="1900">
                <a:solidFill>
                  <a:srgbClr val="1F323D"/>
                </a:solidFill>
                <a:latin typeface="Aptos"/>
              </a:defRPr>
            </a:pPr>
            <a:r>
              <a:t>•  Provide reports and a test laboratory</a:t>
            </a:r>
          </a:p>
        </p:txBody>
      </p:sp>
      <p:sp>
        <p:nvSpPr>
          <p:cNvPr id="8" name="Rounded Rectangle 7"/>
          <p:cNvSpPr/>
          <p:nvPr/>
        </p:nvSpPr>
        <p:spPr>
          <a:xfrm>
            <a:off x="3611880" y="5623560"/>
            <a:ext cx="4937760" cy="393192"/>
          </a:xfrm>
          <a:prstGeom prst="roundRect">
            <a:avLst/>
          </a:prstGeom>
          <a:solidFill>
            <a:srgbClr val="133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5641848"/>
            <a:ext cx="4937760" cy="310896"/>
          </a:xfrm>
          <a:prstGeom prst="rect">
            <a:avLst/>
          </a:prstGeom>
          <a:noFill/>
        </p:spPr>
        <p:txBody>
          <a:bodyPr wrap="square" anchor="ctr">
            <a:spAutoFit/>
          </a:bodyPr>
          <a:lstStyle/>
          <a:p>
            <a:pPr algn="ctr">
              <a:defRPr sz="1000" b="1">
                <a:solidFill>
                  <a:srgbClr val="FFFFFF"/>
                </a:solidFill>
                <a:latin typeface="Aptos"/>
              </a:defRPr>
            </a:pPr>
            <a:r>
              <a:t>Working prototype + testing + live demonstration</a:t>
            </a:r>
          </a:p>
        </p:txBody>
      </p:sp>
      <p:sp>
        <p:nvSpPr>
          <p:cNvPr id="10" name="TextBox 9"/>
          <p:cNvSpPr txBox="1"/>
          <p:nvPr/>
        </p:nvSpPr>
        <p:spPr>
          <a:xfrm>
            <a:off x="566928" y="6528816"/>
            <a:ext cx="3657600" cy="182880"/>
          </a:xfrm>
          <a:prstGeom prst="rect">
            <a:avLst/>
          </a:prstGeom>
          <a:noFill/>
        </p:spPr>
        <p:txBody>
          <a:bodyPr wrap="square" anchor="t">
            <a:spAutoFit/>
          </a:bodyPr>
          <a:lstStyle/>
          <a:p>
            <a:pPr algn="l">
              <a:defRPr sz="800" b="0">
                <a:solidFill>
                  <a:srgbClr val="586C76"/>
                </a:solidFill>
                <a:latin typeface="Aptos"/>
              </a:defRPr>
            </a:pPr>
            <a:r>
              <a:t>ICT304 · WeatherGrid</a:t>
            </a:r>
          </a:p>
        </p:txBody>
      </p:sp>
      <p:sp>
        <p:nvSpPr>
          <p:cNvPr id="11" name="TextBox 10"/>
          <p:cNvSpPr txBox="1"/>
          <p:nvPr/>
        </p:nvSpPr>
        <p:spPr>
          <a:xfrm>
            <a:off x="10972800" y="6528816"/>
            <a:ext cx="594360" cy="182880"/>
          </a:xfrm>
          <a:prstGeom prst="rect">
            <a:avLst/>
          </a:prstGeom>
          <a:noFill/>
        </p:spPr>
        <p:txBody>
          <a:bodyPr wrap="square" anchor="t">
            <a:spAutoFit/>
          </a:bodyPr>
          <a:lstStyle/>
          <a:p>
            <a:pPr algn="r">
              <a:defRPr sz="800" b="0">
                <a:solidFill>
                  <a:srgbClr val="586C76"/>
                </a:solidFill>
                <a:latin typeface="Aptos"/>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9FA"/>
        </a:solidFill>
        <a:effectLst/>
      </p:bgPr>
    </p:bg>
    <p:spTree>
      <p:nvGrpSpPr>
        <p:cNvPr id="1" name=""/>
        <p:cNvGrpSpPr/>
        <p:nvPr/>
      </p:nvGrpSpPr>
      <p:grpSpPr/>
      <p:sp>
        <p:nvSpPr>
          <p:cNvPr id="2" name="TextBox 1"/>
          <p:cNvSpPr txBox="1"/>
          <p:nvPr/>
        </p:nvSpPr>
        <p:spPr>
          <a:xfrm>
            <a:off x="548640" y="274320"/>
            <a:ext cx="502920" cy="320040"/>
          </a:xfrm>
          <a:prstGeom prst="rect">
            <a:avLst/>
          </a:prstGeom>
          <a:noFill/>
        </p:spPr>
        <p:txBody>
          <a:bodyPr wrap="square" anchor="t">
            <a:spAutoFit/>
          </a:bodyPr>
          <a:lstStyle/>
          <a:p>
            <a:pPr algn="l">
              <a:defRPr sz="1200" b="1">
                <a:solidFill>
                  <a:srgbClr val="047F8C"/>
                </a:solidFill>
                <a:latin typeface="Aptos"/>
              </a:defRPr>
            </a:pPr>
            <a:r>
              <a:t>04</a:t>
            </a:r>
          </a:p>
        </p:txBody>
      </p:sp>
      <p:sp>
        <p:nvSpPr>
          <p:cNvPr id="3" name="TextBox 2"/>
          <p:cNvSpPr txBox="1"/>
          <p:nvPr/>
        </p:nvSpPr>
        <p:spPr>
          <a:xfrm>
            <a:off x="1051560" y="182880"/>
            <a:ext cx="10424160" cy="457200"/>
          </a:xfrm>
          <a:prstGeom prst="rect">
            <a:avLst/>
          </a:prstGeom>
          <a:noFill/>
        </p:spPr>
        <p:txBody>
          <a:bodyPr wrap="square" anchor="t">
            <a:spAutoFit/>
          </a:bodyPr>
          <a:lstStyle/>
          <a:p>
            <a:pPr algn="l">
              <a:defRPr sz="2600" b="1">
                <a:solidFill>
                  <a:srgbClr val="133344"/>
                </a:solidFill>
                <a:latin typeface="Aptos"/>
              </a:defRPr>
            </a:pPr>
            <a:r>
              <a:t>System design</a:t>
            </a:r>
          </a:p>
        </p:txBody>
      </p:sp>
      <p:sp>
        <p:nvSpPr>
          <p:cNvPr id="4" name="TextBox 3"/>
          <p:cNvSpPr txBox="1"/>
          <p:nvPr/>
        </p:nvSpPr>
        <p:spPr>
          <a:xfrm>
            <a:off x="1051560" y="658368"/>
            <a:ext cx="10241280" cy="320040"/>
          </a:xfrm>
          <a:prstGeom prst="rect">
            <a:avLst/>
          </a:prstGeom>
          <a:noFill/>
        </p:spPr>
        <p:txBody>
          <a:bodyPr wrap="square" anchor="t">
            <a:spAutoFit/>
          </a:bodyPr>
          <a:lstStyle/>
          <a:p>
            <a:pPr algn="l">
              <a:defRPr sz="1200" b="0">
                <a:solidFill>
                  <a:srgbClr val="586C76"/>
                </a:solidFill>
                <a:latin typeface="Aptos"/>
              </a:defRPr>
            </a:pPr>
            <a:r>
              <a:t>Seven parts work together as one distributed system</a:t>
            </a:r>
          </a:p>
        </p:txBody>
      </p:sp>
      <p:sp>
        <p:nvSpPr>
          <p:cNvPr id="5" name="Rectangle 4"/>
          <p:cNvSpPr/>
          <p:nvPr/>
        </p:nvSpPr>
        <p:spPr>
          <a:xfrm>
            <a:off x="548640" y="1042415"/>
            <a:ext cx="11064240" cy="22860"/>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eathergrid-high-level-architecture-generated.png"/>
          <p:cNvPicPr>
            <a:picLocks noChangeAspect="1"/>
          </p:cNvPicPr>
          <p:nvPr/>
        </p:nvPicPr>
        <p:blipFill>
          <a:blip r:embed="rId2"/>
          <a:stretch>
            <a:fillRect/>
          </a:stretch>
        </p:blipFill>
        <p:spPr>
          <a:xfrm>
            <a:off x="1371599" y="1143000"/>
            <a:ext cx="9464040" cy="5257800"/>
          </a:xfrm>
          <a:prstGeom prst="rect">
            <a:avLst/>
          </a:prstGeom>
        </p:spPr>
      </p:pic>
      <p:sp>
        <p:nvSpPr>
          <p:cNvPr id="7" name="TextBox 6"/>
          <p:cNvSpPr txBox="1"/>
          <p:nvPr/>
        </p:nvSpPr>
        <p:spPr>
          <a:xfrm>
            <a:off x="566928" y="6528816"/>
            <a:ext cx="3657600" cy="182880"/>
          </a:xfrm>
          <a:prstGeom prst="rect">
            <a:avLst/>
          </a:prstGeom>
          <a:noFill/>
        </p:spPr>
        <p:txBody>
          <a:bodyPr wrap="square" anchor="t">
            <a:spAutoFit/>
          </a:bodyPr>
          <a:lstStyle/>
          <a:p>
            <a:pPr algn="l">
              <a:defRPr sz="800" b="0">
                <a:solidFill>
                  <a:srgbClr val="586C76"/>
                </a:solidFill>
                <a:latin typeface="Aptos"/>
              </a:defRPr>
            </a:pPr>
            <a:r>
              <a:t>ICT304 · WeatherGrid</a:t>
            </a:r>
          </a:p>
        </p:txBody>
      </p:sp>
      <p:sp>
        <p:nvSpPr>
          <p:cNvPr id="8" name="TextBox 7"/>
          <p:cNvSpPr txBox="1"/>
          <p:nvPr/>
        </p:nvSpPr>
        <p:spPr>
          <a:xfrm>
            <a:off x="10972800" y="6528816"/>
            <a:ext cx="594360" cy="182880"/>
          </a:xfrm>
          <a:prstGeom prst="rect">
            <a:avLst/>
          </a:prstGeom>
          <a:noFill/>
        </p:spPr>
        <p:txBody>
          <a:bodyPr wrap="square" anchor="t">
            <a:spAutoFit/>
          </a:bodyPr>
          <a:lstStyle/>
          <a:p>
            <a:pPr algn="r">
              <a:defRPr sz="800" b="0">
                <a:solidFill>
                  <a:srgbClr val="586C76"/>
                </a:solidFill>
                <a:latin typeface="Aptos"/>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9FA"/>
        </a:solidFill>
        <a:effectLst/>
      </p:bgPr>
    </p:bg>
    <p:spTree>
      <p:nvGrpSpPr>
        <p:cNvPr id="1" name=""/>
        <p:cNvGrpSpPr/>
        <p:nvPr/>
      </p:nvGrpSpPr>
      <p:grpSpPr/>
      <p:sp>
        <p:nvSpPr>
          <p:cNvPr id="2" name="TextBox 1"/>
          <p:cNvSpPr txBox="1"/>
          <p:nvPr/>
        </p:nvSpPr>
        <p:spPr>
          <a:xfrm>
            <a:off x="548640" y="274320"/>
            <a:ext cx="502920" cy="320040"/>
          </a:xfrm>
          <a:prstGeom prst="rect">
            <a:avLst/>
          </a:prstGeom>
          <a:noFill/>
        </p:spPr>
        <p:txBody>
          <a:bodyPr wrap="square" anchor="t">
            <a:spAutoFit/>
          </a:bodyPr>
          <a:lstStyle/>
          <a:p>
            <a:pPr algn="l">
              <a:defRPr sz="1200" b="1">
                <a:solidFill>
                  <a:srgbClr val="047F8C"/>
                </a:solidFill>
                <a:latin typeface="Aptos"/>
              </a:defRPr>
            </a:pPr>
            <a:r>
              <a:t>05</a:t>
            </a:r>
          </a:p>
        </p:txBody>
      </p:sp>
      <p:sp>
        <p:nvSpPr>
          <p:cNvPr id="3" name="TextBox 2"/>
          <p:cNvSpPr txBox="1"/>
          <p:nvPr/>
        </p:nvSpPr>
        <p:spPr>
          <a:xfrm>
            <a:off x="1051560" y="182880"/>
            <a:ext cx="10424160" cy="457200"/>
          </a:xfrm>
          <a:prstGeom prst="rect">
            <a:avLst/>
          </a:prstGeom>
          <a:noFill/>
        </p:spPr>
        <p:txBody>
          <a:bodyPr wrap="square" anchor="t">
            <a:spAutoFit/>
          </a:bodyPr>
          <a:lstStyle/>
          <a:p>
            <a:pPr algn="l">
              <a:defRPr sz="2600" b="1">
                <a:solidFill>
                  <a:srgbClr val="133344"/>
                </a:solidFill>
                <a:latin typeface="Aptos"/>
              </a:defRPr>
            </a:pPr>
            <a:r>
              <a:t>How one reading moves through the system</a:t>
            </a:r>
          </a:p>
        </p:txBody>
      </p:sp>
      <p:sp>
        <p:nvSpPr>
          <p:cNvPr id="4" name="TextBox 3"/>
          <p:cNvSpPr txBox="1"/>
          <p:nvPr/>
        </p:nvSpPr>
        <p:spPr>
          <a:xfrm>
            <a:off x="1051560" y="658368"/>
            <a:ext cx="10241280" cy="320040"/>
          </a:xfrm>
          <a:prstGeom prst="rect">
            <a:avLst/>
          </a:prstGeom>
          <a:noFill/>
        </p:spPr>
        <p:txBody>
          <a:bodyPr wrap="square" anchor="t">
            <a:spAutoFit/>
          </a:bodyPr>
          <a:lstStyle/>
          <a:p>
            <a:pPr algn="l">
              <a:defRPr sz="1200" b="0">
                <a:solidFill>
                  <a:srgbClr val="586C76"/>
                </a:solidFill>
                <a:latin typeface="Aptos"/>
              </a:defRPr>
            </a:pPr>
            <a:r>
              <a:t>A simple start-to-end flow</a:t>
            </a:r>
          </a:p>
        </p:txBody>
      </p:sp>
      <p:sp>
        <p:nvSpPr>
          <p:cNvPr id="5" name="Rectangle 4"/>
          <p:cNvSpPr/>
          <p:nvPr/>
        </p:nvSpPr>
        <p:spPr>
          <a:xfrm>
            <a:off x="548640" y="1042415"/>
            <a:ext cx="11064240" cy="22860"/>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eathergrid-telemetry-flow.png"/>
          <p:cNvPicPr>
            <a:picLocks noChangeAspect="1"/>
          </p:cNvPicPr>
          <p:nvPr/>
        </p:nvPicPr>
        <p:blipFill>
          <a:blip r:embed="rId2"/>
          <a:stretch>
            <a:fillRect/>
          </a:stretch>
        </p:blipFill>
        <p:spPr>
          <a:xfrm>
            <a:off x="411480" y="1412644"/>
            <a:ext cx="11384280" cy="4398471"/>
          </a:xfrm>
          <a:prstGeom prst="rect">
            <a:avLst/>
          </a:prstGeom>
        </p:spPr>
      </p:pic>
      <p:sp>
        <p:nvSpPr>
          <p:cNvPr id="7" name="Rounded Rectangle 6"/>
          <p:cNvSpPr/>
          <p:nvPr/>
        </p:nvSpPr>
        <p:spPr>
          <a:xfrm>
            <a:off x="3840480" y="5989320"/>
            <a:ext cx="4480560" cy="393192"/>
          </a:xfrm>
          <a:prstGeom prst="roundRect">
            <a:avLst/>
          </a:prstGeom>
          <a:solidFill>
            <a:srgbClr val="6F4E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0" y="6007607"/>
            <a:ext cx="4480560" cy="310896"/>
          </a:xfrm>
          <a:prstGeom prst="rect">
            <a:avLst/>
          </a:prstGeom>
          <a:noFill/>
        </p:spPr>
        <p:txBody>
          <a:bodyPr wrap="square" anchor="ctr">
            <a:spAutoFit/>
          </a:bodyPr>
          <a:lstStyle/>
          <a:p>
            <a:pPr algn="ctr">
              <a:defRPr sz="1000" b="1">
                <a:solidFill>
                  <a:srgbClr val="FFFFFF"/>
                </a:solidFill>
                <a:latin typeface="Aptos"/>
              </a:defRPr>
            </a:pPr>
            <a:r>
              <a:t>Temporary failure → save in SQLite → retry later</a:t>
            </a:r>
          </a:p>
        </p:txBody>
      </p:sp>
      <p:sp>
        <p:nvSpPr>
          <p:cNvPr id="9" name="TextBox 8"/>
          <p:cNvSpPr txBox="1"/>
          <p:nvPr/>
        </p:nvSpPr>
        <p:spPr>
          <a:xfrm>
            <a:off x="566928" y="6528816"/>
            <a:ext cx="3657600" cy="182880"/>
          </a:xfrm>
          <a:prstGeom prst="rect">
            <a:avLst/>
          </a:prstGeom>
          <a:noFill/>
        </p:spPr>
        <p:txBody>
          <a:bodyPr wrap="square" anchor="t">
            <a:spAutoFit/>
          </a:bodyPr>
          <a:lstStyle/>
          <a:p>
            <a:pPr algn="l">
              <a:defRPr sz="800" b="0">
                <a:solidFill>
                  <a:srgbClr val="586C76"/>
                </a:solidFill>
                <a:latin typeface="Aptos"/>
              </a:defRPr>
            </a:pPr>
            <a:r>
              <a:t>ICT304 · WeatherGrid</a:t>
            </a:r>
          </a:p>
        </p:txBody>
      </p:sp>
      <p:sp>
        <p:nvSpPr>
          <p:cNvPr id="10" name="TextBox 9"/>
          <p:cNvSpPr txBox="1"/>
          <p:nvPr/>
        </p:nvSpPr>
        <p:spPr>
          <a:xfrm>
            <a:off x="10972800" y="6528816"/>
            <a:ext cx="594360" cy="182880"/>
          </a:xfrm>
          <a:prstGeom prst="rect">
            <a:avLst/>
          </a:prstGeom>
          <a:noFill/>
        </p:spPr>
        <p:txBody>
          <a:bodyPr wrap="square" anchor="t">
            <a:spAutoFit/>
          </a:bodyPr>
          <a:lstStyle/>
          <a:p>
            <a:pPr algn="r">
              <a:defRPr sz="800" b="0">
                <a:solidFill>
                  <a:srgbClr val="586C76"/>
                </a:solidFill>
                <a:latin typeface="Aptos"/>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9FA"/>
        </a:solidFill>
        <a:effectLst/>
      </p:bgPr>
    </p:bg>
    <p:spTree>
      <p:nvGrpSpPr>
        <p:cNvPr id="1" name=""/>
        <p:cNvGrpSpPr/>
        <p:nvPr/>
      </p:nvGrpSpPr>
      <p:grpSpPr/>
      <p:sp>
        <p:nvSpPr>
          <p:cNvPr id="2" name="TextBox 1"/>
          <p:cNvSpPr txBox="1"/>
          <p:nvPr/>
        </p:nvSpPr>
        <p:spPr>
          <a:xfrm>
            <a:off x="548640" y="274320"/>
            <a:ext cx="502920" cy="320040"/>
          </a:xfrm>
          <a:prstGeom prst="rect">
            <a:avLst/>
          </a:prstGeom>
          <a:noFill/>
        </p:spPr>
        <p:txBody>
          <a:bodyPr wrap="square" anchor="t">
            <a:spAutoFit/>
          </a:bodyPr>
          <a:lstStyle/>
          <a:p>
            <a:pPr algn="l">
              <a:defRPr sz="1200" b="1">
                <a:solidFill>
                  <a:srgbClr val="047F8C"/>
                </a:solidFill>
                <a:latin typeface="Aptos"/>
              </a:defRPr>
            </a:pPr>
            <a:r>
              <a:t>06</a:t>
            </a:r>
          </a:p>
        </p:txBody>
      </p:sp>
      <p:sp>
        <p:nvSpPr>
          <p:cNvPr id="3" name="TextBox 2"/>
          <p:cNvSpPr txBox="1"/>
          <p:nvPr/>
        </p:nvSpPr>
        <p:spPr>
          <a:xfrm>
            <a:off x="1051560" y="182880"/>
            <a:ext cx="10424160" cy="457200"/>
          </a:xfrm>
          <a:prstGeom prst="rect">
            <a:avLst/>
          </a:prstGeom>
          <a:noFill/>
        </p:spPr>
        <p:txBody>
          <a:bodyPr wrap="square" anchor="t">
            <a:spAutoFit/>
          </a:bodyPr>
          <a:lstStyle/>
          <a:p>
            <a:pPr algn="l">
              <a:defRPr sz="2600" b="1">
                <a:solidFill>
                  <a:srgbClr val="133344"/>
                </a:solidFill>
                <a:latin typeface="Aptos"/>
              </a:defRPr>
            </a:pPr>
            <a:r>
              <a:t>Our working prototype</a:t>
            </a:r>
          </a:p>
        </p:txBody>
      </p:sp>
      <p:sp>
        <p:nvSpPr>
          <p:cNvPr id="4" name="TextBox 3"/>
          <p:cNvSpPr txBox="1"/>
          <p:nvPr/>
        </p:nvSpPr>
        <p:spPr>
          <a:xfrm>
            <a:off x="1051560" y="658368"/>
            <a:ext cx="10241280" cy="320040"/>
          </a:xfrm>
          <a:prstGeom prst="rect">
            <a:avLst/>
          </a:prstGeom>
          <a:noFill/>
        </p:spPr>
        <p:txBody>
          <a:bodyPr wrap="square" anchor="t">
            <a:spAutoFit/>
          </a:bodyPr>
          <a:lstStyle/>
          <a:p>
            <a:pPr algn="l">
              <a:defRPr sz="1200" b="0">
                <a:solidFill>
                  <a:srgbClr val="586C76"/>
                </a:solidFill>
                <a:latin typeface="Aptos"/>
              </a:defRPr>
            </a:pPr>
            <a:r>
              <a:t>Three simulated stations using a realistic IoT message format</a:t>
            </a:r>
          </a:p>
        </p:txBody>
      </p:sp>
      <p:sp>
        <p:nvSpPr>
          <p:cNvPr id="5" name="Rectangle 4"/>
          <p:cNvSpPr/>
          <p:nvPr/>
        </p:nvSpPr>
        <p:spPr>
          <a:xfrm>
            <a:off x="548640" y="1042415"/>
            <a:ext cx="11064240" cy="22860"/>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3383280" cy="1828800"/>
          </a:xfrm>
          <a:prstGeom prst="roundRect">
            <a:avLst/>
          </a:prstGeom>
          <a:solidFill>
            <a:srgbClr val="FFFFFF"/>
          </a:solidFill>
          <a:ln>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371600"/>
            <a:ext cx="64008" cy="18288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54480"/>
            <a:ext cx="2971800" cy="365760"/>
          </a:xfrm>
          <a:prstGeom prst="rect">
            <a:avLst/>
          </a:prstGeom>
          <a:noFill/>
        </p:spPr>
        <p:txBody>
          <a:bodyPr wrap="square" anchor="t">
            <a:spAutoFit/>
          </a:bodyPr>
          <a:lstStyle/>
          <a:p>
            <a:pPr algn="l">
              <a:defRPr sz="2000" b="1">
                <a:solidFill>
                  <a:srgbClr val="133344"/>
                </a:solidFill>
                <a:latin typeface="Aptos"/>
              </a:defRPr>
            </a:pPr>
            <a:r>
              <a:t>Sydney</a:t>
            </a:r>
          </a:p>
        </p:txBody>
      </p:sp>
      <p:sp>
        <p:nvSpPr>
          <p:cNvPr id="9" name="TextBox 8"/>
          <p:cNvSpPr txBox="1"/>
          <p:nvPr/>
        </p:nvSpPr>
        <p:spPr>
          <a:xfrm>
            <a:off x="868680" y="2039112"/>
            <a:ext cx="2971800" cy="1005840"/>
          </a:xfrm>
          <a:prstGeom prst="rect">
            <a:avLst/>
          </a:prstGeom>
          <a:noFill/>
        </p:spPr>
        <p:txBody>
          <a:bodyPr wrap="square" anchor="t">
            <a:spAutoFit/>
          </a:bodyPr>
          <a:lstStyle/>
          <a:p>
            <a:pPr algn="l">
              <a:defRPr sz="1500" b="0">
                <a:solidFill>
                  <a:srgbClr val="586C76"/>
                </a:solidFill>
                <a:latin typeface="Aptos"/>
              </a:defRPr>
            </a:pPr>
            <a:r>
              <a:t>WX-SYD-001</a:t>
            </a:r>
            <a:br/>
            <a:r>
              <a:t>Independent Python process</a:t>
            </a:r>
          </a:p>
        </p:txBody>
      </p:sp>
      <p:sp>
        <p:nvSpPr>
          <p:cNvPr id="10" name="Rounded Rectangle 9"/>
          <p:cNvSpPr/>
          <p:nvPr/>
        </p:nvSpPr>
        <p:spPr>
          <a:xfrm>
            <a:off x="4389120" y="1371600"/>
            <a:ext cx="3383280" cy="1828800"/>
          </a:xfrm>
          <a:prstGeom prst="roundRect">
            <a:avLst/>
          </a:prstGeom>
          <a:solidFill>
            <a:srgbClr val="FFFFFF"/>
          </a:solidFill>
          <a:ln>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371600"/>
            <a:ext cx="64008" cy="1828800"/>
          </a:xfrm>
          <a:prstGeom prst="rect">
            <a:avLst/>
          </a:prstGeom>
          <a:solidFill>
            <a:srgbClr val="6F4E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554480"/>
            <a:ext cx="2971800" cy="365760"/>
          </a:xfrm>
          <a:prstGeom prst="rect">
            <a:avLst/>
          </a:prstGeom>
          <a:noFill/>
        </p:spPr>
        <p:txBody>
          <a:bodyPr wrap="square" anchor="t">
            <a:spAutoFit/>
          </a:bodyPr>
          <a:lstStyle/>
          <a:p>
            <a:pPr algn="l">
              <a:defRPr sz="2000" b="1">
                <a:solidFill>
                  <a:srgbClr val="133344"/>
                </a:solidFill>
                <a:latin typeface="Aptos"/>
              </a:defRPr>
            </a:pPr>
            <a:r>
              <a:t>Melbourne</a:t>
            </a:r>
          </a:p>
        </p:txBody>
      </p:sp>
      <p:sp>
        <p:nvSpPr>
          <p:cNvPr id="13" name="TextBox 12"/>
          <p:cNvSpPr txBox="1"/>
          <p:nvPr/>
        </p:nvSpPr>
        <p:spPr>
          <a:xfrm>
            <a:off x="4617720" y="2039112"/>
            <a:ext cx="2971800" cy="1005840"/>
          </a:xfrm>
          <a:prstGeom prst="rect">
            <a:avLst/>
          </a:prstGeom>
          <a:noFill/>
        </p:spPr>
        <p:txBody>
          <a:bodyPr wrap="square" anchor="t">
            <a:spAutoFit/>
          </a:bodyPr>
          <a:lstStyle/>
          <a:p>
            <a:pPr algn="l">
              <a:defRPr sz="1500" b="0">
                <a:solidFill>
                  <a:srgbClr val="586C76"/>
                </a:solidFill>
                <a:latin typeface="Aptos"/>
              </a:defRPr>
            </a:pPr>
            <a:r>
              <a:t>WX-MEL-001</a:t>
            </a:r>
            <a:br/>
            <a:r>
              <a:t>Independent Python process</a:t>
            </a:r>
          </a:p>
        </p:txBody>
      </p:sp>
      <p:sp>
        <p:nvSpPr>
          <p:cNvPr id="14" name="Rounded Rectangle 13"/>
          <p:cNvSpPr/>
          <p:nvPr/>
        </p:nvSpPr>
        <p:spPr>
          <a:xfrm>
            <a:off x="8138160" y="1371600"/>
            <a:ext cx="3383280" cy="1828800"/>
          </a:xfrm>
          <a:prstGeom prst="roundRect">
            <a:avLst/>
          </a:prstGeom>
          <a:solidFill>
            <a:srgbClr val="FFFFFF"/>
          </a:solidFill>
          <a:ln>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371600"/>
            <a:ext cx="64008" cy="1828800"/>
          </a:xfrm>
          <a:prstGeom prst="rect">
            <a:avLst/>
          </a:prstGeom>
          <a:solidFill>
            <a:srgbClr val="04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1554480"/>
            <a:ext cx="2971800" cy="365760"/>
          </a:xfrm>
          <a:prstGeom prst="rect">
            <a:avLst/>
          </a:prstGeom>
          <a:noFill/>
        </p:spPr>
        <p:txBody>
          <a:bodyPr wrap="square" anchor="t">
            <a:spAutoFit/>
          </a:bodyPr>
          <a:lstStyle/>
          <a:p>
            <a:pPr algn="l">
              <a:defRPr sz="2000" b="1">
                <a:solidFill>
                  <a:srgbClr val="133344"/>
                </a:solidFill>
                <a:latin typeface="Aptos"/>
              </a:defRPr>
            </a:pPr>
            <a:r>
              <a:t>Brisbane</a:t>
            </a:r>
          </a:p>
        </p:txBody>
      </p:sp>
      <p:sp>
        <p:nvSpPr>
          <p:cNvPr id="17" name="TextBox 16"/>
          <p:cNvSpPr txBox="1"/>
          <p:nvPr/>
        </p:nvSpPr>
        <p:spPr>
          <a:xfrm>
            <a:off x="8366760" y="2039112"/>
            <a:ext cx="2971800" cy="1005840"/>
          </a:xfrm>
          <a:prstGeom prst="rect">
            <a:avLst/>
          </a:prstGeom>
          <a:noFill/>
        </p:spPr>
        <p:txBody>
          <a:bodyPr wrap="square" anchor="t">
            <a:spAutoFit/>
          </a:bodyPr>
          <a:lstStyle/>
          <a:p>
            <a:pPr algn="l">
              <a:defRPr sz="1500" b="0">
                <a:solidFill>
                  <a:srgbClr val="586C76"/>
                </a:solidFill>
                <a:latin typeface="Aptos"/>
              </a:defRPr>
            </a:pPr>
            <a:r>
              <a:t>WX-BNE-001</a:t>
            </a:r>
            <a:br/>
            <a:r>
              <a:t>Independent Python process</a:t>
            </a:r>
          </a:p>
        </p:txBody>
      </p:sp>
      <p:sp>
        <p:nvSpPr>
          <p:cNvPr id="18" name="TextBox 17"/>
          <p:cNvSpPr txBox="1"/>
          <p:nvPr/>
        </p:nvSpPr>
        <p:spPr>
          <a:xfrm>
            <a:off x="777240" y="3703320"/>
            <a:ext cx="10698480" cy="411480"/>
          </a:xfrm>
          <a:prstGeom prst="rect">
            <a:avLst/>
          </a:prstGeom>
          <a:noFill/>
        </p:spPr>
        <p:txBody>
          <a:bodyPr wrap="square" anchor="t">
            <a:spAutoFit/>
          </a:bodyPr>
          <a:lstStyle/>
          <a:p>
            <a:pPr algn="ctr">
              <a:defRPr sz="2100" b="1">
                <a:solidFill>
                  <a:srgbClr val="133344"/>
                </a:solidFill>
                <a:latin typeface="Aptos"/>
              </a:defRPr>
            </a:pPr>
            <a:r>
              <a:t>Temperature · Humidity · Pressure · Rainfall · Wind speed · Battery</a:t>
            </a:r>
          </a:p>
        </p:txBody>
      </p:sp>
      <p:sp>
        <p:nvSpPr>
          <p:cNvPr id="19" name="TextBox 18"/>
          <p:cNvSpPr txBox="1"/>
          <p:nvPr/>
        </p:nvSpPr>
        <p:spPr>
          <a:xfrm>
            <a:off x="960120" y="4526280"/>
            <a:ext cx="10241280" cy="868680"/>
          </a:xfrm>
          <a:prstGeom prst="rect">
            <a:avLst/>
          </a:prstGeom>
          <a:noFill/>
        </p:spPr>
        <p:txBody>
          <a:bodyPr wrap="square" anchor="t">
            <a:spAutoFit/>
          </a:bodyPr>
          <a:lstStyle/>
          <a:p>
            <a:pPr algn="ctr">
              <a:defRPr sz="1700" b="0">
                <a:solidFill>
                  <a:srgbClr val="586C76"/>
                </a:solidFill>
                <a:latin typeface="Aptos"/>
              </a:defRPr>
            </a:pPr>
            <a:r>
              <a:t>The current weather values are simulated. The timestamps are real. Future ESP32 devices can use BME280/DHT22, a rain gauge, an anemometer and a battery sensor.</a:t>
            </a:r>
          </a:p>
        </p:txBody>
      </p:sp>
      <p:sp>
        <p:nvSpPr>
          <p:cNvPr id="20" name="Rounded Rectangle 19"/>
          <p:cNvSpPr/>
          <p:nvPr/>
        </p:nvSpPr>
        <p:spPr>
          <a:xfrm>
            <a:off x="4160520" y="5641848"/>
            <a:ext cx="3886200" cy="393192"/>
          </a:xfrm>
          <a:prstGeom prst="roundRect">
            <a:avLst/>
          </a:prstGeom>
          <a:solidFill>
            <a:srgbClr val="1E8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60520" y="5660136"/>
            <a:ext cx="3886200" cy="310896"/>
          </a:xfrm>
          <a:prstGeom prst="rect">
            <a:avLst/>
          </a:prstGeom>
          <a:noFill/>
        </p:spPr>
        <p:txBody>
          <a:bodyPr wrap="square" anchor="ctr">
            <a:spAutoFit/>
          </a:bodyPr>
          <a:lstStyle/>
          <a:p>
            <a:pPr algn="ctr">
              <a:defRPr sz="1000" b="1">
                <a:solidFill>
                  <a:srgbClr val="FFFFFF"/>
                </a:solidFill>
                <a:latin typeface="Aptos"/>
              </a:defRPr>
            </a:pPr>
            <a:r>
              <a:t>Same message format for simulated or physical devices</a:t>
            </a:r>
          </a:p>
        </p:txBody>
      </p:sp>
      <p:sp>
        <p:nvSpPr>
          <p:cNvPr id="22" name="TextBox 21"/>
          <p:cNvSpPr txBox="1"/>
          <p:nvPr/>
        </p:nvSpPr>
        <p:spPr>
          <a:xfrm>
            <a:off x="566928" y="6528816"/>
            <a:ext cx="3657600" cy="182880"/>
          </a:xfrm>
          <a:prstGeom prst="rect">
            <a:avLst/>
          </a:prstGeom>
          <a:noFill/>
        </p:spPr>
        <p:txBody>
          <a:bodyPr wrap="square" anchor="t">
            <a:spAutoFit/>
          </a:bodyPr>
          <a:lstStyle/>
          <a:p>
            <a:pPr algn="l">
              <a:defRPr sz="800" b="0">
                <a:solidFill>
                  <a:srgbClr val="586C76"/>
                </a:solidFill>
                <a:latin typeface="Aptos"/>
              </a:defRPr>
            </a:pPr>
            <a:r>
              <a:t>ICT304 · WeatherGrid</a:t>
            </a:r>
          </a:p>
        </p:txBody>
      </p:sp>
      <p:sp>
        <p:nvSpPr>
          <p:cNvPr id="23" name="TextBox 22"/>
          <p:cNvSpPr txBox="1"/>
          <p:nvPr/>
        </p:nvSpPr>
        <p:spPr>
          <a:xfrm>
            <a:off x="10972800" y="6528816"/>
            <a:ext cx="594360" cy="182880"/>
          </a:xfrm>
          <a:prstGeom prst="rect">
            <a:avLst/>
          </a:prstGeom>
          <a:noFill/>
        </p:spPr>
        <p:txBody>
          <a:bodyPr wrap="square" anchor="t">
            <a:spAutoFit/>
          </a:bodyPr>
          <a:lstStyle/>
          <a:p>
            <a:pPr algn="r">
              <a:defRPr sz="800" b="0">
                <a:solidFill>
                  <a:srgbClr val="586C76"/>
                </a:solidFill>
                <a:latin typeface="Aptos"/>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9FA"/>
        </a:solidFill>
        <a:effectLst/>
      </p:bgPr>
    </p:bg>
    <p:spTree>
      <p:nvGrpSpPr>
        <p:cNvPr id="1" name=""/>
        <p:cNvGrpSpPr/>
        <p:nvPr/>
      </p:nvGrpSpPr>
      <p:grpSpPr/>
      <p:sp>
        <p:nvSpPr>
          <p:cNvPr id="2" name="TextBox 1"/>
          <p:cNvSpPr txBox="1"/>
          <p:nvPr/>
        </p:nvSpPr>
        <p:spPr>
          <a:xfrm>
            <a:off x="548640" y="274320"/>
            <a:ext cx="502920" cy="320040"/>
          </a:xfrm>
          <a:prstGeom prst="rect">
            <a:avLst/>
          </a:prstGeom>
          <a:noFill/>
        </p:spPr>
        <p:txBody>
          <a:bodyPr wrap="square" anchor="t">
            <a:spAutoFit/>
          </a:bodyPr>
          <a:lstStyle/>
          <a:p>
            <a:pPr algn="l">
              <a:defRPr sz="1200" b="1">
                <a:solidFill>
                  <a:srgbClr val="047F8C"/>
                </a:solidFill>
                <a:latin typeface="Aptos"/>
              </a:defRPr>
            </a:pPr>
            <a:r>
              <a:t>07</a:t>
            </a:r>
          </a:p>
        </p:txBody>
      </p:sp>
      <p:sp>
        <p:nvSpPr>
          <p:cNvPr id="3" name="TextBox 2"/>
          <p:cNvSpPr txBox="1"/>
          <p:nvPr/>
        </p:nvSpPr>
        <p:spPr>
          <a:xfrm>
            <a:off x="1051560" y="182880"/>
            <a:ext cx="10424160" cy="457200"/>
          </a:xfrm>
          <a:prstGeom prst="rect">
            <a:avLst/>
          </a:prstGeom>
          <a:noFill/>
        </p:spPr>
        <p:txBody>
          <a:bodyPr wrap="square" anchor="t">
            <a:spAutoFit/>
          </a:bodyPr>
          <a:lstStyle/>
          <a:p>
            <a:pPr algn="l">
              <a:defRPr sz="2600" b="1">
                <a:solidFill>
                  <a:srgbClr val="133344"/>
                </a:solidFill>
                <a:latin typeface="Aptos"/>
              </a:defRPr>
            </a:pPr>
            <a:r>
              <a:t>Web application</a:t>
            </a:r>
          </a:p>
        </p:txBody>
      </p:sp>
      <p:sp>
        <p:nvSpPr>
          <p:cNvPr id="4" name="TextBox 3"/>
          <p:cNvSpPr txBox="1"/>
          <p:nvPr/>
        </p:nvSpPr>
        <p:spPr>
          <a:xfrm>
            <a:off x="1051560" y="658368"/>
            <a:ext cx="10241280" cy="320040"/>
          </a:xfrm>
          <a:prstGeom prst="rect">
            <a:avLst/>
          </a:prstGeom>
          <a:noFill/>
        </p:spPr>
        <p:txBody>
          <a:bodyPr wrap="square" anchor="t">
            <a:spAutoFit/>
          </a:bodyPr>
          <a:lstStyle/>
          <a:p>
            <a:pPr algn="l">
              <a:defRPr sz="1200" b="0">
                <a:solidFill>
                  <a:srgbClr val="586C76"/>
                </a:solidFill>
                <a:latin typeface="Aptos"/>
              </a:defRPr>
            </a:pPr>
            <a:r>
              <a:t>Live information for viewers and control tools for administrators</a:t>
            </a:r>
          </a:p>
        </p:txBody>
      </p:sp>
      <p:sp>
        <p:nvSpPr>
          <p:cNvPr id="5" name="Rectangle 4"/>
          <p:cNvSpPr/>
          <p:nvPr/>
        </p:nvSpPr>
        <p:spPr>
          <a:xfrm>
            <a:off x="548640" y="1042415"/>
            <a:ext cx="11064240" cy="22860"/>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eathergrid-live-monitoring.png"/>
          <p:cNvPicPr>
            <a:picLocks noChangeAspect="1"/>
          </p:cNvPicPr>
          <p:nvPr/>
        </p:nvPicPr>
        <p:blipFill>
          <a:blip r:embed="rId2"/>
          <a:stretch>
            <a:fillRect/>
          </a:stretch>
        </p:blipFill>
        <p:spPr>
          <a:xfrm>
            <a:off x="600760" y="1188720"/>
            <a:ext cx="7439558" cy="5166360"/>
          </a:xfrm>
          <a:prstGeom prst="rect">
            <a:avLst/>
          </a:prstGeom>
        </p:spPr>
      </p:pic>
      <p:sp>
        <p:nvSpPr>
          <p:cNvPr id="7" name="Rounded Rectangle 6"/>
          <p:cNvSpPr/>
          <p:nvPr/>
        </p:nvSpPr>
        <p:spPr>
          <a:xfrm>
            <a:off x="8366760" y="1325880"/>
            <a:ext cx="3154680" cy="1234440"/>
          </a:xfrm>
          <a:prstGeom prst="roundRect">
            <a:avLst/>
          </a:prstGeom>
          <a:solidFill>
            <a:srgbClr val="FFFFFF"/>
          </a:solidFill>
          <a:ln>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366760" y="1325880"/>
            <a:ext cx="64008" cy="123444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1508760"/>
            <a:ext cx="2743200" cy="365760"/>
          </a:xfrm>
          <a:prstGeom prst="rect">
            <a:avLst/>
          </a:prstGeom>
          <a:noFill/>
        </p:spPr>
        <p:txBody>
          <a:bodyPr wrap="square" anchor="t">
            <a:spAutoFit/>
          </a:bodyPr>
          <a:lstStyle/>
          <a:p>
            <a:pPr algn="l">
              <a:defRPr sz="1600" b="1">
                <a:solidFill>
                  <a:srgbClr val="133344"/>
                </a:solidFill>
                <a:latin typeface="Aptos"/>
              </a:defRPr>
            </a:pPr>
            <a:r>
              <a:t>Monitor</a:t>
            </a:r>
          </a:p>
        </p:txBody>
      </p:sp>
      <p:sp>
        <p:nvSpPr>
          <p:cNvPr id="10" name="TextBox 9"/>
          <p:cNvSpPr txBox="1"/>
          <p:nvPr/>
        </p:nvSpPr>
        <p:spPr>
          <a:xfrm>
            <a:off x="8595360" y="1993391"/>
            <a:ext cx="2743200" cy="411480"/>
          </a:xfrm>
          <a:prstGeom prst="rect">
            <a:avLst/>
          </a:prstGeom>
          <a:noFill/>
        </p:spPr>
        <p:txBody>
          <a:bodyPr wrap="square" anchor="t">
            <a:spAutoFit/>
          </a:bodyPr>
          <a:lstStyle/>
          <a:p>
            <a:pPr algn="l">
              <a:defRPr sz="1200" b="0">
                <a:solidFill>
                  <a:srgbClr val="586C76"/>
                </a:solidFill>
                <a:latin typeface="Aptos"/>
              </a:defRPr>
            </a:pPr>
            <a:r>
              <a:t>Live readings, history and map</a:t>
            </a:r>
          </a:p>
        </p:txBody>
      </p:sp>
      <p:sp>
        <p:nvSpPr>
          <p:cNvPr id="11" name="Rounded Rectangle 10"/>
          <p:cNvSpPr/>
          <p:nvPr/>
        </p:nvSpPr>
        <p:spPr>
          <a:xfrm>
            <a:off x="8366760" y="2743200"/>
            <a:ext cx="3154680" cy="1234440"/>
          </a:xfrm>
          <a:prstGeom prst="roundRect">
            <a:avLst/>
          </a:prstGeom>
          <a:solidFill>
            <a:srgbClr val="FFFFFF"/>
          </a:solidFill>
          <a:ln>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66760" y="2743200"/>
            <a:ext cx="64008" cy="1234440"/>
          </a:xfrm>
          <a:prstGeom prst="rect">
            <a:avLst/>
          </a:prstGeom>
          <a:solidFill>
            <a:srgbClr val="BE3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2926080"/>
            <a:ext cx="2743200" cy="365760"/>
          </a:xfrm>
          <a:prstGeom prst="rect">
            <a:avLst/>
          </a:prstGeom>
          <a:noFill/>
        </p:spPr>
        <p:txBody>
          <a:bodyPr wrap="square" anchor="t">
            <a:spAutoFit/>
          </a:bodyPr>
          <a:lstStyle/>
          <a:p>
            <a:pPr algn="l">
              <a:defRPr sz="1600" b="1">
                <a:solidFill>
                  <a:srgbClr val="133344"/>
                </a:solidFill>
                <a:latin typeface="Aptos"/>
              </a:defRPr>
            </a:pPr>
            <a:r>
              <a:t>Respond</a:t>
            </a:r>
          </a:p>
        </p:txBody>
      </p:sp>
      <p:sp>
        <p:nvSpPr>
          <p:cNvPr id="14" name="TextBox 13"/>
          <p:cNvSpPr txBox="1"/>
          <p:nvPr/>
        </p:nvSpPr>
        <p:spPr>
          <a:xfrm>
            <a:off x="8595360" y="3410712"/>
            <a:ext cx="2743200" cy="411480"/>
          </a:xfrm>
          <a:prstGeom prst="rect">
            <a:avLst/>
          </a:prstGeom>
          <a:noFill/>
        </p:spPr>
        <p:txBody>
          <a:bodyPr wrap="square" anchor="t">
            <a:spAutoFit/>
          </a:bodyPr>
          <a:lstStyle/>
          <a:p>
            <a:pPr algn="l">
              <a:defRPr sz="1200" b="0">
                <a:solidFill>
                  <a:srgbClr val="586C76"/>
                </a:solidFill>
                <a:latin typeface="Aptos"/>
              </a:defRPr>
            </a:pPr>
            <a:r>
              <a:t>Alerts, device status and notifications</a:t>
            </a:r>
          </a:p>
        </p:txBody>
      </p:sp>
      <p:sp>
        <p:nvSpPr>
          <p:cNvPr id="15" name="Rounded Rectangle 14"/>
          <p:cNvSpPr/>
          <p:nvPr/>
        </p:nvSpPr>
        <p:spPr>
          <a:xfrm>
            <a:off x="8366760" y="4160520"/>
            <a:ext cx="3154680" cy="1234440"/>
          </a:xfrm>
          <a:prstGeom prst="roundRect">
            <a:avLst/>
          </a:prstGeom>
          <a:solidFill>
            <a:srgbClr val="FFFFFF"/>
          </a:solidFill>
          <a:ln>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4160520"/>
            <a:ext cx="64008" cy="1234440"/>
          </a:xfrm>
          <a:prstGeom prst="rect">
            <a:avLst/>
          </a:prstGeom>
          <a:solidFill>
            <a:srgbClr val="04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4343400"/>
            <a:ext cx="2743200" cy="365760"/>
          </a:xfrm>
          <a:prstGeom prst="rect">
            <a:avLst/>
          </a:prstGeom>
          <a:noFill/>
        </p:spPr>
        <p:txBody>
          <a:bodyPr wrap="square" anchor="t">
            <a:spAutoFit/>
          </a:bodyPr>
          <a:lstStyle/>
          <a:p>
            <a:pPr algn="l">
              <a:defRPr sz="1600" b="1">
                <a:solidFill>
                  <a:srgbClr val="133344"/>
                </a:solidFill>
                <a:latin typeface="Aptos"/>
              </a:defRPr>
            </a:pPr>
            <a:r>
              <a:t>Manage</a:t>
            </a:r>
          </a:p>
        </p:txBody>
      </p:sp>
      <p:sp>
        <p:nvSpPr>
          <p:cNvPr id="18" name="TextBox 17"/>
          <p:cNvSpPr txBox="1"/>
          <p:nvPr/>
        </p:nvSpPr>
        <p:spPr>
          <a:xfrm>
            <a:off x="8595360" y="4828031"/>
            <a:ext cx="2743200" cy="411480"/>
          </a:xfrm>
          <a:prstGeom prst="rect">
            <a:avLst/>
          </a:prstGeom>
          <a:noFill/>
        </p:spPr>
        <p:txBody>
          <a:bodyPr wrap="square" anchor="t">
            <a:spAutoFit/>
          </a:bodyPr>
          <a:lstStyle/>
          <a:p>
            <a:pPr algn="l">
              <a:defRPr sz="1200" b="0">
                <a:solidFill>
                  <a:srgbClr val="586C76"/>
                </a:solidFill>
                <a:latin typeface="Aptos"/>
              </a:defRPr>
            </a:pPr>
            <a:r>
              <a:t>Reports, users and simulation commands</a:t>
            </a:r>
          </a:p>
        </p:txBody>
      </p:sp>
      <p:sp>
        <p:nvSpPr>
          <p:cNvPr id="19" name="Rounded Rectangle 18"/>
          <p:cNvSpPr/>
          <p:nvPr/>
        </p:nvSpPr>
        <p:spPr>
          <a:xfrm>
            <a:off x="8366760" y="5650992"/>
            <a:ext cx="3154680" cy="393192"/>
          </a:xfrm>
          <a:prstGeom prst="roundRect">
            <a:avLst/>
          </a:prstGeom>
          <a:solidFill>
            <a:srgbClr val="133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5669279"/>
            <a:ext cx="3154680" cy="310896"/>
          </a:xfrm>
          <a:prstGeom prst="rect">
            <a:avLst/>
          </a:prstGeom>
          <a:noFill/>
        </p:spPr>
        <p:txBody>
          <a:bodyPr wrap="square" anchor="ctr">
            <a:spAutoFit/>
          </a:bodyPr>
          <a:lstStyle/>
          <a:p>
            <a:pPr algn="ctr">
              <a:defRPr sz="1000" b="1">
                <a:solidFill>
                  <a:srgbClr val="FFFFFF"/>
                </a:solidFill>
                <a:latin typeface="Aptos"/>
              </a:defRPr>
            </a:pPr>
            <a:r>
              <a:t>Responsive web application</a:t>
            </a:r>
          </a:p>
        </p:txBody>
      </p:sp>
      <p:sp>
        <p:nvSpPr>
          <p:cNvPr id="21" name="TextBox 20"/>
          <p:cNvSpPr txBox="1"/>
          <p:nvPr/>
        </p:nvSpPr>
        <p:spPr>
          <a:xfrm>
            <a:off x="566928" y="6528816"/>
            <a:ext cx="3657600" cy="182880"/>
          </a:xfrm>
          <a:prstGeom prst="rect">
            <a:avLst/>
          </a:prstGeom>
          <a:noFill/>
        </p:spPr>
        <p:txBody>
          <a:bodyPr wrap="square" anchor="t">
            <a:spAutoFit/>
          </a:bodyPr>
          <a:lstStyle/>
          <a:p>
            <a:pPr algn="l">
              <a:defRPr sz="800" b="0">
                <a:solidFill>
                  <a:srgbClr val="586C76"/>
                </a:solidFill>
                <a:latin typeface="Aptos"/>
              </a:defRPr>
            </a:pPr>
            <a:r>
              <a:t>ICT304 · WeatherGrid</a:t>
            </a:r>
          </a:p>
        </p:txBody>
      </p:sp>
      <p:sp>
        <p:nvSpPr>
          <p:cNvPr id="22" name="TextBox 21"/>
          <p:cNvSpPr txBox="1"/>
          <p:nvPr/>
        </p:nvSpPr>
        <p:spPr>
          <a:xfrm>
            <a:off x="10972800" y="6528816"/>
            <a:ext cx="594360" cy="182880"/>
          </a:xfrm>
          <a:prstGeom prst="rect">
            <a:avLst/>
          </a:prstGeom>
          <a:noFill/>
        </p:spPr>
        <p:txBody>
          <a:bodyPr wrap="square" anchor="t">
            <a:spAutoFit/>
          </a:bodyPr>
          <a:lstStyle/>
          <a:p>
            <a:pPr algn="r">
              <a:defRPr sz="800" b="0">
                <a:solidFill>
                  <a:srgbClr val="586C76"/>
                </a:solidFill>
                <a:latin typeface="Aptos"/>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9FA"/>
        </a:solidFill>
        <a:effectLst/>
      </p:bgPr>
    </p:bg>
    <p:spTree>
      <p:nvGrpSpPr>
        <p:cNvPr id="1" name=""/>
        <p:cNvGrpSpPr/>
        <p:nvPr/>
      </p:nvGrpSpPr>
      <p:grpSpPr/>
      <p:sp>
        <p:nvSpPr>
          <p:cNvPr id="2" name="TextBox 1"/>
          <p:cNvSpPr txBox="1"/>
          <p:nvPr/>
        </p:nvSpPr>
        <p:spPr>
          <a:xfrm>
            <a:off x="548640" y="274320"/>
            <a:ext cx="502920" cy="320040"/>
          </a:xfrm>
          <a:prstGeom prst="rect">
            <a:avLst/>
          </a:prstGeom>
          <a:noFill/>
        </p:spPr>
        <p:txBody>
          <a:bodyPr wrap="square" anchor="t">
            <a:spAutoFit/>
          </a:bodyPr>
          <a:lstStyle/>
          <a:p>
            <a:pPr algn="l">
              <a:defRPr sz="1200" b="1">
                <a:solidFill>
                  <a:srgbClr val="047F8C"/>
                </a:solidFill>
                <a:latin typeface="Aptos"/>
              </a:defRPr>
            </a:pPr>
            <a:r>
              <a:t>08</a:t>
            </a:r>
          </a:p>
        </p:txBody>
      </p:sp>
      <p:sp>
        <p:nvSpPr>
          <p:cNvPr id="3" name="TextBox 2"/>
          <p:cNvSpPr txBox="1"/>
          <p:nvPr/>
        </p:nvSpPr>
        <p:spPr>
          <a:xfrm>
            <a:off x="1051560" y="182880"/>
            <a:ext cx="10424160" cy="457200"/>
          </a:xfrm>
          <a:prstGeom prst="rect">
            <a:avLst/>
          </a:prstGeom>
          <a:noFill/>
        </p:spPr>
        <p:txBody>
          <a:bodyPr wrap="square" anchor="t">
            <a:spAutoFit/>
          </a:bodyPr>
          <a:lstStyle/>
          <a:p>
            <a:pPr algn="l">
              <a:defRPr sz="2600" b="1">
                <a:solidFill>
                  <a:srgbClr val="133344"/>
                </a:solidFill>
                <a:latin typeface="Aptos"/>
              </a:defRPr>
            </a:pPr>
            <a:r>
              <a:t>Why the system is reliable and secure</a:t>
            </a:r>
          </a:p>
        </p:txBody>
      </p:sp>
      <p:sp>
        <p:nvSpPr>
          <p:cNvPr id="4" name="TextBox 3"/>
          <p:cNvSpPr txBox="1"/>
          <p:nvPr/>
        </p:nvSpPr>
        <p:spPr>
          <a:xfrm>
            <a:off x="1051560" y="658368"/>
            <a:ext cx="10241280" cy="320040"/>
          </a:xfrm>
          <a:prstGeom prst="rect">
            <a:avLst/>
          </a:prstGeom>
          <a:noFill/>
        </p:spPr>
        <p:txBody>
          <a:bodyPr wrap="square" anchor="t">
            <a:spAutoFit/>
          </a:bodyPr>
          <a:lstStyle/>
          <a:p>
            <a:pPr algn="l">
              <a:defRPr sz="1200" b="0">
                <a:solidFill>
                  <a:srgbClr val="586C76"/>
                </a:solidFill>
                <a:latin typeface="Aptos"/>
              </a:defRPr>
            </a:pPr>
            <a:r>
              <a:t>Important distributed computing decisions</a:t>
            </a:r>
          </a:p>
        </p:txBody>
      </p:sp>
      <p:sp>
        <p:nvSpPr>
          <p:cNvPr id="5" name="Rectangle 4"/>
          <p:cNvSpPr/>
          <p:nvPr/>
        </p:nvSpPr>
        <p:spPr>
          <a:xfrm>
            <a:off x="548640" y="1042415"/>
            <a:ext cx="11064240" cy="22860"/>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371600"/>
            <a:ext cx="5303520" cy="1874519"/>
          </a:xfrm>
          <a:prstGeom prst="roundRect">
            <a:avLst/>
          </a:prstGeom>
          <a:solidFill>
            <a:srgbClr val="FFFFFF"/>
          </a:solidFill>
          <a:ln>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371600"/>
            <a:ext cx="64008" cy="1874519"/>
          </a:xfrm>
          <a:prstGeom prst="rect">
            <a:avLst/>
          </a:prstGeom>
          <a:solidFill>
            <a:srgbClr val="6F4E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4892040" cy="365760"/>
          </a:xfrm>
          <a:prstGeom prst="rect">
            <a:avLst/>
          </a:prstGeom>
          <a:noFill/>
        </p:spPr>
        <p:txBody>
          <a:bodyPr wrap="square" anchor="t">
            <a:spAutoFit/>
          </a:bodyPr>
          <a:lstStyle/>
          <a:p>
            <a:pPr algn="l">
              <a:defRPr sz="1900" b="1">
                <a:solidFill>
                  <a:srgbClr val="133344"/>
                </a:solidFill>
                <a:latin typeface="Aptos"/>
              </a:defRPr>
            </a:pPr>
            <a:r>
              <a:t>Reliable delivery</a:t>
            </a:r>
          </a:p>
        </p:txBody>
      </p:sp>
      <p:sp>
        <p:nvSpPr>
          <p:cNvPr id="9" name="TextBox 8"/>
          <p:cNvSpPr txBox="1"/>
          <p:nvPr/>
        </p:nvSpPr>
        <p:spPr>
          <a:xfrm>
            <a:off x="914400" y="2039112"/>
            <a:ext cx="4892040" cy="1051560"/>
          </a:xfrm>
          <a:prstGeom prst="rect">
            <a:avLst/>
          </a:prstGeom>
          <a:noFill/>
        </p:spPr>
        <p:txBody>
          <a:bodyPr wrap="square" anchor="t">
            <a:spAutoFit/>
          </a:bodyPr>
          <a:lstStyle/>
          <a:p>
            <a:pPr algn="l">
              <a:defRPr sz="1500" b="0">
                <a:solidFill>
                  <a:srgbClr val="586C76"/>
                </a:solidFill>
                <a:latin typeface="Aptos"/>
              </a:defRPr>
            </a:pPr>
            <a:r>
              <a:t>MQTT QoS 1 improves delivery. SQLite keeps messages when the backend is temporarily unavailable.</a:t>
            </a:r>
          </a:p>
        </p:txBody>
      </p:sp>
      <p:sp>
        <p:nvSpPr>
          <p:cNvPr id="10" name="Rounded Rectangle 9"/>
          <p:cNvSpPr/>
          <p:nvPr/>
        </p:nvSpPr>
        <p:spPr>
          <a:xfrm>
            <a:off x="6236208" y="1371600"/>
            <a:ext cx="5303520" cy="1874519"/>
          </a:xfrm>
          <a:prstGeom prst="roundRect">
            <a:avLst/>
          </a:prstGeom>
          <a:solidFill>
            <a:srgbClr val="FFFFFF"/>
          </a:solidFill>
          <a:ln>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6208" y="1371600"/>
            <a:ext cx="64008" cy="1874519"/>
          </a:xfrm>
          <a:prstGeom prst="rect">
            <a:avLst/>
          </a:prstGeom>
          <a:solidFill>
            <a:srgbClr val="B96C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554480"/>
            <a:ext cx="4892040" cy="365760"/>
          </a:xfrm>
          <a:prstGeom prst="rect">
            <a:avLst/>
          </a:prstGeom>
          <a:noFill/>
        </p:spPr>
        <p:txBody>
          <a:bodyPr wrap="square" anchor="t">
            <a:spAutoFit/>
          </a:bodyPr>
          <a:lstStyle/>
          <a:p>
            <a:pPr algn="l">
              <a:defRPr sz="1900" b="1">
                <a:solidFill>
                  <a:srgbClr val="133344"/>
                </a:solidFill>
                <a:latin typeface="Aptos"/>
              </a:defRPr>
            </a:pPr>
            <a:r>
              <a:t>No duplicate readings</a:t>
            </a:r>
          </a:p>
        </p:txBody>
      </p:sp>
      <p:sp>
        <p:nvSpPr>
          <p:cNvPr id="13" name="TextBox 12"/>
          <p:cNvSpPr txBox="1"/>
          <p:nvPr/>
        </p:nvSpPr>
        <p:spPr>
          <a:xfrm>
            <a:off x="6464808" y="2039112"/>
            <a:ext cx="4892040" cy="1051560"/>
          </a:xfrm>
          <a:prstGeom prst="rect">
            <a:avLst/>
          </a:prstGeom>
          <a:noFill/>
        </p:spPr>
        <p:txBody>
          <a:bodyPr wrap="square" anchor="t">
            <a:spAutoFit/>
          </a:bodyPr>
          <a:lstStyle/>
          <a:p>
            <a:pPr algn="l">
              <a:defRPr sz="1500" b="0">
                <a:solidFill>
                  <a:srgbClr val="586C76"/>
                </a:solidFill>
                <a:latin typeface="Aptos"/>
              </a:defRPr>
            </a:pPr>
            <a:r>
              <a:t>Device ID and sequence number identify the same message, so retries are stored only once.</a:t>
            </a:r>
          </a:p>
        </p:txBody>
      </p:sp>
      <p:sp>
        <p:nvSpPr>
          <p:cNvPr id="14" name="Rounded Rectangle 13"/>
          <p:cNvSpPr/>
          <p:nvPr/>
        </p:nvSpPr>
        <p:spPr>
          <a:xfrm>
            <a:off x="685800" y="3566160"/>
            <a:ext cx="5303520" cy="1874519"/>
          </a:xfrm>
          <a:prstGeom prst="roundRect">
            <a:avLst/>
          </a:prstGeom>
          <a:solidFill>
            <a:srgbClr val="FFFFFF"/>
          </a:solidFill>
          <a:ln>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3566160"/>
            <a:ext cx="64008" cy="1874519"/>
          </a:xfrm>
          <a:prstGeom prst="rect">
            <a:avLst/>
          </a:prstGeom>
          <a:solidFill>
            <a:srgbClr val="04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749039"/>
            <a:ext cx="4892040" cy="365760"/>
          </a:xfrm>
          <a:prstGeom prst="rect">
            <a:avLst/>
          </a:prstGeom>
          <a:noFill/>
        </p:spPr>
        <p:txBody>
          <a:bodyPr wrap="square" anchor="t">
            <a:spAutoFit/>
          </a:bodyPr>
          <a:lstStyle/>
          <a:p>
            <a:pPr algn="l">
              <a:defRPr sz="1900" b="1">
                <a:solidFill>
                  <a:srgbClr val="133344"/>
                </a:solidFill>
                <a:latin typeface="Aptos"/>
              </a:defRPr>
            </a:pPr>
            <a:r>
              <a:t>Validation</a:t>
            </a:r>
          </a:p>
        </p:txBody>
      </p:sp>
      <p:sp>
        <p:nvSpPr>
          <p:cNvPr id="17" name="TextBox 16"/>
          <p:cNvSpPr txBox="1"/>
          <p:nvPr/>
        </p:nvSpPr>
        <p:spPr>
          <a:xfrm>
            <a:off x="914400" y="4233672"/>
            <a:ext cx="4892040" cy="1051560"/>
          </a:xfrm>
          <a:prstGeom prst="rect">
            <a:avLst/>
          </a:prstGeom>
          <a:noFill/>
        </p:spPr>
        <p:txBody>
          <a:bodyPr wrap="square" anchor="t">
            <a:spAutoFit/>
          </a:bodyPr>
          <a:lstStyle/>
          <a:p>
            <a:pPr algn="l">
              <a:defRPr sz="1500" b="0">
                <a:solidFill>
                  <a:srgbClr val="586C76"/>
                </a:solidFill>
                <a:latin typeface="Aptos"/>
              </a:defRPr>
            </a:pPr>
            <a:r>
              <a:t>Pydantic and Zod check fields, ranges, IDs and timestamps before data is accepted.</a:t>
            </a:r>
          </a:p>
        </p:txBody>
      </p:sp>
      <p:sp>
        <p:nvSpPr>
          <p:cNvPr id="18" name="Rounded Rectangle 17"/>
          <p:cNvSpPr/>
          <p:nvPr/>
        </p:nvSpPr>
        <p:spPr>
          <a:xfrm>
            <a:off x="6236208" y="3566160"/>
            <a:ext cx="5303520" cy="1874519"/>
          </a:xfrm>
          <a:prstGeom prst="roundRect">
            <a:avLst/>
          </a:prstGeom>
          <a:solidFill>
            <a:srgbClr val="FFFFFF"/>
          </a:solidFill>
          <a:ln>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6208" y="3566160"/>
            <a:ext cx="64008" cy="1874519"/>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3749039"/>
            <a:ext cx="4892040" cy="365760"/>
          </a:xfrm>
          <a:prstGeom prst="rect">
            <a:avLst/>
          </a:prstGeom>
          <a:noFill/>
        </p:spPr>
        <p:txBody>
          <a:bodyPr wrap="square" anchor="t">
            <a:spAutoFit/>
          </a:bodyPr>
          <a:lstStyle/>
          <a:p>
            <a:pPr algn="l">
              <a:defRPr sz="1900" b="1">
                <a:solidFill>
                  <a:srgbClr val="133344"/>
                </a:solidFill>
                <a:latin typeface="Aptos"/>
              </a:defRPr>
            </a:pPr>
            <a:r>
              <a:t>Access control</a:t>
            </a:r>
          </a:p>
        </p:txBody>
      </p:sp>
      <p:sp>
        <p:nvSpPr>
          <p:cNvPr id="21" name="TextBox 20"/>
          <p:cNvSpPr txBox="1"/>
          <p:nvPr/>
        </p:nvSpPr>
        <p:spPr>
          <a:xfrm>
            <a:off x="6464808" y="4233672"/>
            <a:ext cx="4892040" cy="1051560"/>
          </a:xfrm>
          <a:prstGeom prst="rect">
            <a:avLst/>
          </a:prstGeom>
          <a:noFill/>
        </p:spPr>
        <p:txBody>
          <a:bodyPr wrap="square" anchor="t">
            <a:spAutoFit/>
          </a:bodyPr>
          <a:lstStyle/>
          <a:p>
            <a:pPr algn="l">
              <a:defRPr sz="1500" b="0">
                <a:solidFill>
                  <a:srgbClr val="586C76"/>
                </a:solidFill>
                <a:latin typeface="Aptos"/>
              </a:defRPr>
            </a:pPr>
            <a:r>
              <a:t>Admins manage the system. Viewers can monitor it. The gateway uses a separate machine account.</a:t>
            </a:r>
          </a:p>
        </p:txBody>
      </p:sp>
      <p:sp>
        <p:nvSpPr>
          <p:cNvPr id="22" name="TextBox 21"/>
          <p:cNvSpPr txBox="1"/>
          <p:nvPr/>
        </p:nvSpPr>
        <p:spPr>
          <a:xfrm>
            <a:off x="566928" y="6528816"/>
            <a:ext cx="3657600" cy="182880"/>
          </a:xfrm>
          <a:prstGeom prst="rect">
            <a:avLst/>
          </a:prstGeom>
          <a:noFill/>
        </p:spPr>
        <p:txBody>
          <a:bodyPr wrap="square" anchor="t">
            <a:spAutoFit/>
          </a:bodyPr>
          <a:lstStyle/>
          <a:p>
            <a:pPr algn="l">
              <a:defRPr sz="800" b="0">
                <a:solidFill>
                  <a:srgbClr val="586C76"/>
                </a:solidFill>
                <a:latin typeface="Aptos"/>
              </a:defRPr>
            </a:pPr>
            <a:r>
              <a:t>ICT304 · WeatherGrid</a:t>
            </a:r>
          </a:p>
        </p:txBody>
      </p:sp>
      <p:sp>
        <p:nvSpPr>
          <p:cNvPr id="23" name="TextBox 22"/>
          <p:cNvSpPr txBox="1"/>
          <p:nvPr/>
        </p:nvSpPr>
        <p:spPr>
          <a:xfrm>
            <a:off x="10972800" y="6528816"/>
            <a:ext cx="594360" cy="182880"/>
          </a:xfrm>
          <a:prstGeom prst="rect">
            <a:avLst/>
          </a:prstGeom>
          <a:noFill/>
        </p:spPr>
        <p:txBody>
          <a:bodyPr wrap="square" anchor="t">
            <a:spAutoFit/>
          </a:bodyPr>
          <a:lstStyle/>
          <a:p>
            <a:pPr algn="r">
              <a:defRPr sz="800" b="0">
                <a:solidFill>
                  <a:srgbClr val="586C76"/>
                </a:solidFill>
                <a:latin typeface="Aptos"/>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9FA"/>
        </a:solidFill>
        <a:effectLst/>
      </p:bgPr>
    </p:bg>
    <p:spTree>
      <p:nvGrpSpPr>
        <p:cNvPr id="1" name=""/>
        <p:cNvGrpSpPr/>
        <p:nvPr/>
      </p:nvGrpSpPr>
      <p:grpSpPr/>
      <p:sp>
        <p:nvSpPr>
          <p:cNvPr id="2" name="TextBox 1"/>
          <p:cNvSpPr txBox="1"/>
          <p:nvPr/>
        </p:nvSpPr>
        <p:spPr>
          <a:xfrm>
            <a:off x="548640" y="274320"/>
            <a:ext cx="502920" cy="320040"/>
          </a:xfrm>
          <a:prstGeom prst="rect">
            <a:avLst/>
          </a:prstGeom>
          <a:noFill/>
        </p:spPr>
        <p:txBody>
          <a:bodyPr wrap="square" anchor="t">
            <a:spAutoFit/>
          </a:bodyPr>
          <a:lstStyle/>
          <a:p>
            <a:pPr algn="l">
              <a:defRPr sz="1200" b="1">
                <a:solidFill>
                  <a:srgbClr val="047F8C"/>
                </a:solidFill>
                <a:latin typeface="Aptos"/>
              </a:defRPr>
            </a:pPr>
            <a:r>
              <a:t>09</a:t>
            </a:r>
          </a:p>
        </p:txBody>
      </p:sp>
      <p:sp>
        <p:nvSpPr>
          <p:cNvPr id="3" name="TextBox 2"/>
          <p:cNvSpPr txBox="1"/>
          <p:nvPr/>
        </p:nvSpPr>
        <p:spPr>
          <a:xfrm>
            <a:off x="1051560" y="182880"/>
            <a:ext cx="10424160" cy="457200"/>
          </a:xfrm>
          <a:prstGeom prst="rect">
            <a:avLst/>
          </a:prstGeom>
          <a:noFill/>
        </p:spPr>
        <p:txBody>
          <a:bodyPr wrap="square" anchor="t">
            <a:spAutoFit/>
          </a:bodyPr>
          <a:lstStyle/>
          <a:p>
            <a:pPr algn="l">
              <a:defRPr sz="2600" b="1">
                <a:solidFill>
                  <a:srgbClr val="133344"/>
                </a:solidFill>
                <a:latin typeface="Aptos"/>
              </a:defRPr>
            </a:pPr>
            <a:r>
              <a:t>Testing and findings</a:t>
            </a:r>
          </a:p>
        </p:txBody>
      </p:sp>
      <p:sp>
        <p:nvSpPr>
          <p:cNvPr id="4" name="TextBox 3"/>
          <p:cNvSpPr txBox="1"/>
          <p:nvPr/>
        </p:nvSpPr>
        <p:spPr>
          <a:xfrm>
            <a:off x="1051560" y="658368"/>
            <a:ext cx="10241280" cy="320040"/>
          </a:xfrm>
          <a:prstGeom prst="rect">
            <a:avLst/>
          </a:prstGeom>
          <a:noFill/>
        </p:spPr>
        <p:txBody>
          <a:bodyPr wrap="square" anchor="t">
            <a:spAutoFit/>
          </a:bodyPr>
          <a:lstStyle/>
          <a:p>
            <a:pPr algn="l">
              <a:defRPr sz="1200" b="0">
                <a:solidFill>
                  <a:srgbClr val="586C76"/>
                </a:solidFill>
                <a:latin typeface="Aptos"/>
              </a:defRPr>
            </a:pPr>
            <a:r>
              <a:t>Evidence that the prototype works</a:t>
            </a:r>
          </a:p>
        </p:txBody>
      </p:sp>
      <p:sp>
        <p:nvSpPr>
          <p:cNvPr id="5" name="Rectangle 4"/>
          <p:cNvSpPr/>
          <p:nvPr/>
        </p:nvSpPr>
        <p:spPr>
          <a:xfrm>
            <a:off x="548640" y="1042415"/>
            <a:ext cx="11064240" cy="22860"/>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554480"/>
            <a:ext cx="1508760" cy="320040"/>
          </a:xfrm>
          <a:prstGeom prst="rect">
            <a:avLst/>
          </a:prstGeom>
          <a:noFill/>
        </p:spPr>
        <p:txBody>
          <a:bodyPr wrap="square" anchor="t">
            <a:spAutoFit/>
          </a:bodyPr>
          <a:lstStyle/>
          <a:p>
            <a:pPr algn="l">
              <a:defRPr sz="1500" b="1">
                <a:solidFill>
                  <a:srgbClr val="133344"/>
                </a:solidFill>
                <a:latin typeface="Aptos"/>
              </a:defRPr>
            </a:pPr>
            <a:r>
              <a:t>Web logic</a:t>
            </a:r>
          </a:p>
        </p:txBody>
      </p:sp>
      <p:sp>
        <p:nvSpPr>
          <p:cNvPr id="7" name="Rounded Rectangle 6"/>
          <p:cNvSpPr/>
          <p:nvPr/>
        </p:nvSpPr>
        <p:spPr>
          <a:xfrm>
            <a:off x="2331720" y="1463040"/>
            <a:ext cx="4754880" cy="530352"/>
          </a:xfrm>
          <a:prstGeom prst="round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331720" y="1463040"/>
            <a:ext cx="1267968" cy="530352"/>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69480" y="1554480"/>
            <a:ext cx="1097280" cy="320040"/>
          </a:xfrm>
          <a:prstGeom prst="rect">
            <a:avLst/>
          </a:prstGeom>
          <a:noFill/>
        </p:spPr>
        <p:txBody>
          <a:bodyPr wrap="square" anchor="t">
            <a:spAutoFit/>
          </a:bodyPr>
          <a:lstStyle/>
          <a:p>
            <a:pPr algn="l">
              <a:defRPr sz="1400" b="1">
                <a:solidFill>
                  <a:srgbClr val="2B6CB0"/>
                </a:solidFill>
                <a:latin typeface="Aptos"/>
              </a:defRPr>
            </a:pPr>
            <a:r>
              <a:t>8 passed</a:t>
            </a:r>
          </a:p>
        </p:txBody>
      </p:sp>
      <p:sp>
        <p:nvSpPr>
          <p:cNvPr id="10" name="TextBox 9"/>
          <p:cNvSpPr txBox="1"/>
          <p:nvPr/>
        </p:nvSpPr>
        <p:spPr>
          <a:xfrm>
            <a:off x="777240" y="2606040"/>
            <a:ext cx="1508760" cy="320040"/>
          </a:xfrm>
          <a:prstGeom prst="rect">
            <a:avLst/>
          </a:prstGeom>
          <a:noFill/>
        </p:spPr>
        <p:txBody>
          <a:bodyPr wrap="square" anchor="t">
            <a:spAutoFit/>
          </a:bodyPr>
          <a:lstStyle/>
          <a:p>
            <a:pPr algn="l">
              <a:defRPr sz="1500" b="1">
                <a:solidFill>
                  <a:srgbClr val="133344"/>
                </a:solidFill>
                <a:latin typeface="Aptos"/>
              </a:defRPr>
            </a:pPr>
            <a:r>
              <a:t>Gateway</a:t>
            </a:r>
          </a:p>
        </p:txBody>
      </p:sp>
      <p:sp>
        <p:nvSpPr>
          <p:cNvPr id="11" name="Rounded Rectangle 10"/>
          <p:cNvSpPr/>
          <p:nvPr/>
        </p:nvSpPr>
        <p:spPr>
          <a:xfrm>
            <a:off x="2331720" y="2514600"/>
            <a:ext cx="4754880" cy="530352"/>
          </a:xfrm>
          <a:prstGeom prst="round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331720" y="2514600"/>
            <a:ext cx="1109472" cy="530352"/>
          </a:xfrm>
          <a:prstGeom prst="roundRect">
            <a:avLst/>
          </a:prstGeom>
          <a:solidFill>
            <a:srgbClr val="04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9480" y="2606040"/>
            <a:ext cx="1097280" cy="320040"/>
          </a:xfrm>
          <a:prstGeom prst="rect">
            <a:avLst/>
          </a:prstGeom>
          <a:noFill/>
        </p:spPr>
        <p:txBody>
          <a:bodyPr wrap="square" anchor="t">
            <a:spAutoFit/>
          </a:bodyPr>
          <a:lstStyle/>
          <a:p>
            <a:pPr algn="l">
              <a:defRPr sz="1400" b="1">
                <a:solidFill>
                  <a:srgbClr val="047F8C"/>
                </a:solidFill>
                <a:latin typeface="Aptos"/>
              </a:defRPr>
            </a:pPr>
            <a:r>
              <a:t>7 passed</a:t>
            </a:r>
          </a:p>
        </p:txBody>
      </p:sp>
      <p:sp>
        <p:nvSpPr>
          <p:cNvPr id="14" name="TextBox 13"/>
          <p:cNvSpPr txBox="1"/>
          <p:nvPr/>
        </p:nvSpPr>
        <p:spPr>
          <a:xfrm>
            <a:off x="777240" y="3657600"/>
            <a:ext cx="1508760" cy="320040"/>
          </a:xfrm>
          <a:prstGeom prst="rect">
            <a:avLst/>
          </a:prstGeom>
          <a:noFill/>
        </p:spPr>
        <p:txBody>
          <a:bodyPr wrap="square" anchor="t">
            <a:spAutoFit/>
          </a:bodyPr>
          <a:lstStyle/>
          <a:p>
            <a:pPr algn="l">
              <a:defRPr sz="1500" b="1">
                <a:solidFill>
                  <a:srgbClr val="133344"/>
                </a:solidFill>
                <a:latin typeface="Aptos"/>
              </a:defRPr>
            </a:pPr>
            <a:r>
              <a:t>Simulator</a:t>
            </a:r>
          </a:p>
        </p:txBody>
      </p:sp>
      <p:sp>
        <p:nvSpPr>
          <p:cNvPr id="15" name="Rounded Rectangle 14"/>
          <p:cNvSpPr/>
          <p:nvPr/>
        </p:nvSpPr>
        <p:spPr>
          <a:xfrm>
            <a:off x="2331720" y="3566160"/>
            <a:ext cx="4754880" cy="530352"/>
          </a:xfrm>
          <a:prstGeom prst="round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331720" y="3566160"/>
            <a:ext cx="4279392" cy="530352"/>
          </a:xfrm>
          <a:prstGeom prst="roundRect">
            <a:avLst/>
          </a:prstGeom>
          <a:solidFill>
            <a:srgbClr val="6F4E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69480" y="3657600"/>
            <a:ext cx="1097280" cy="320040"/>
          </a:xfrm>
          <a:prstGeom prst="rect">
            <a:avLst/>
          </a:prstGeom>
          <a:noFill/>
        </p:spPr>
        <p:txBody>
          <a:bodyPr wrap="square" anchor="t">
            <a:spAutoFit/>
          </a:bodyPr>
          <a:lstStyle/>
          <a:p>
            <a:pPr algn="l">
              <a:defRPr sz="1400" b="1">
                <a:solidFill>
                  <a:srgbClr val="6F4EB0"/>
                </a:solidFill>
                <a:latin typeface="Aptos"/>
              </a:defRPr>
            </a:pPr>
            <a:r>
              <a:t>27 passed</a:t>
            </a:r>
          </a:p>
        </p:txBody>
      </p:sp>
      <p:sp>
        <p:nvSpPr>
          <p:cNvPr id="18" name="TextBox 17"/>
          <p:cNvSpPr txBox="1"/>
          <p:nvPr/>
        </p:nvSpPr>
        <p:spPr>
          <a:xfrm>
            <a:off x="777240" y="4800600"/>
            <a:ext cx="6949440" cy="438912"/>
          </a:xfrm>
          <a:prstGeom prst="rect">
            <a:avLst/>
          </a:prstGeom>
          <a:noFill/>
        </p:spPr>
        <p:txBody>
          <a:bodyPr wrap="square" anchor="t">
            <a:spAutoFit/>
          </a:bodyPr>
          <a:lstStyle/>
          <a:p>
            <a:pPr algn="l">
              <a:defRPr sz="2600" b="1">
                <a:solidFill>
                  <a:srgbClr val="133344"/>
                </a:solidFill>
                <a:latin typeface="Aptos"/>
              </a:defRPr>
            </a:pPr>
            <a:r>
              <a:t>42 automated tests passed</a:t>
            </a:r>
          </a:p>
        </p:txBody>
      </p:sp>
      <p:sp>
        <p:nvSpPr>
          <p:cNvPr id="19" name="Rounded Rectangle 18"/>
          <p:cNvSpPr/>
          <p:nvPr/>
        </p:nvSpPr>
        <p:spPr>
          <a:xfrm>
            <a:off x="777240" y="5486400"/>
            <a:ext cx="1600200" cy="393192"/>
          </a:xfrm>
          <a:prstGeom prst="roundRect">
            <a:avLst/>
          </a:prstGeom>
          <a:solidFill>
            <a:srgbClr val="1E8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504688"/>
            <a:ext cx="1600200" cy="310896"/>
          </a:xfrm>
          <a:prstGeom prst="rect">
            <a:avLst/>
          </a:prstGeom>
          <a:noFill/>
        </p:spPr>
        <p:txBody>
          <a:bodyPr wrap="square" anchor="ctr">
            <a:spAutoFit/>
          </a:bodyPr>
          <a:lstStyle/>
          <a:p>
            <a:pPr algn="ctr">
              <a:defRPr sz="1000" b="1">
                <a:solidFill>
                  <a:srgbClr val="FFFFFF"/>
                </a:solidFill>
                <a:latin typeface="Aptos"/>
              </a:defRPr>
            </a:pPr>
            <a:r>
              <a:t>TypeScript passed</a:t>
            </a:r>
          </a:p>
        </p:txBody>
      </p:sp>
      <p:sp>
        <p:nvSpPr>
          <p:cNvPr id="21" name="Rounded Rectangle 20"/>
          <p:cNvSpPr/>
          <p:nvPr/>
        </p:nvSpPr>
        <p:spPr>
          <a:xfrm>
            <a:off x="2560320" y="5486400"/>
            <a:ext cx="1417320" cy="393192"/>
          </a:xfrm>
          <a:prstGeom prst="roundRect">
            <a:avLst/>
          </a:prstGeom>
          <a:solidFill>
            <a:srgbClr val="1E8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60320" y="5504688"/>
            <a:ext cx="1417320" cy="310896"/>
          </a:xfrm>
          <a:prstGeom prst="rect">
            <a:avLst/>
          </a:prstGeom>
          <a:noFill/>
        </p:spPr>
        <p:txBody>
          <a:bodyPr wrap="square" anchor="ctr">
            <a:spAutoFit/>
          </a:bodyPr>
          <a:lstStyle/>
          <a:p>
            <a:pPr algn="ctr">
              <a:defRPr sz="1000" b="1">
                <a:solidFill>
                  <a:srgbClr val="FFFFFF"/>
                </a:solidFill>
                <a:latin typeface="Aptos"/>
              </a:defRPr>
            </a:pPr>
            <a:r>
              <a:t>ESLint passed</a:t>
            </a:r>
          </a:p>
        </p:txBody>
      </p:sp>
      <p:sp>
        <p:nvSpPr>
          <p:cNvPr id="23" name="Rounded Rectangle 22"/>
          <p:cNvSpPr/>
          <p:nvPr/>
        </p:nvSpPr>
        <p:spPr>
          <a:xfrm>
            <a:off x="4160520" y="5486400"/>
            <a:ext cx="2240280" cy="393192"/>
          </a:xfrm>
          <a:prstGeom prst="roundRect">
            <a:avLst/>
          </a:prstGeom>
          <a:solidFill>
            <a:srgbClr val="1E8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60520" y="5504688"/>
            <a:ext cx="2240280" cy="310896"/>
          </a:xfrm>
          <a:prstGeom prst="rect">
            <a:avLst/>
          </a:prstGeom>
          <a:noFill/>
        </p:spPr>
        <p:txBody>
          <a:bodyPr wrap="square" anchor="ctr">
            <a:spAutoFit/>
          </a:bodyPr>
          <a:lstStyle/>
          <a:p>
            <a:pPr algn="ctr">
              <a:defRPr sz="1000" b="1">
                <a:solidFill>
                  <a:srgbClr val="FFFFFF"/>
                </a:solidFill>
                <a:latin typeface="Aptos"/>
              </a:defRPr>
            </a:pPr>
            <a:r>
              <a:t>Services healthy</a:t>
            </a:r>
          </a:p>
        </p:txBody>
      </p:sp>
      <p:sp>
        <p:nvSpPr>
          <p:cNvPr id="25" name="Rounded Rectangle 24"/>
          <p:cNvSpPr/>
          <p:nvPr/>
        </p:nvSpPr>
        <p:spPr>
          <a:xfrm>
            <a:off x="8458200" y="1417320"/>
            <a:ext cx="2880360" cy="4160520"/>
          </a:xfrm>
          <a:prstGeom prst="roundRect">
            <a:avLst/>
          </a:prstGeom>
          <a:solidFill>
            <a:srgbClr val="FFFFFF"/>
          </a:solidFill>
          <a:ln>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58200" y="1417320"/>
            <a:ext cx="64008" cy="4160520"/>
          </a:xfrm>
          <a:prstGeom prst="rect">
            <a:avLst/>
          </a:prstGeom>
          <a:solidFill>
            <a:srgbClr val="B96C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0" y="1600200"/>
            <a:ext cx="2468879" cy="365760"/>
          </a:xfrm>
          <a:prstGeom prst="rect">
            <a:avLst/>
          </a:prstGeom>
          <a:noFill/>
        </p:spPr>
        <p:txBody>
          <a:bodyPr wrap="square" anchor="t">
            <a:spAutoFit/>
          </a:bodyPr>
          <a:lstStyle/>
          <a:p>
            <a:pPr algn="l">
              <a:defRPr sz="1900" b="1">
                <a:solidFill>
                  <a:srgbClr val="133344"/>
                </a:solidFill>
                <a:latin typeface="Aptos"/>
              </a:defRPr>
            </a:pPr>
            <a:r>
              <a:t>Main findings</a:t>
            </a:r>
          </a:p>
        </p:txBody>
      </p:sp>
      <p:sp>
        <p:nvSpPr>
          <p:cNvPr id="28" name="TextBox 27"/>
          <p:cNvSpPr txBox="1"/>
          <p:nvPr/>
        </p:nvSpPr>
        <p:spPr>
          <a:xfrm>
            <a:off x="8686800" y="2084832"/>
            <a:ext cx="2468879" cy="3337560"/>
          </a:xfrm>
          <a:prstGeom prst="rect">
            <a:avLst/>
          </a:prstGeom>
          <a:noFill/>
        </p:spPr>
        <p:txBody>
          <a:bodyPr wrap="square" anchor="t">
            <a:spAutoFit/>
          </a:bodyPr>
          <a:lstStyle/>
          <a:p>
            <a:pPr algn="l">
              <a:defRPr sz="1400" b="0">
                <a:solidFill>
                  <a:srgbClr val="586C76"/>
                </a:solidFill>
                <a:latin typeface="Aptos"/>
              </a:defRPr>
            </a:pPr>
            <a:r>
              <a:t>• Three devices send data together</a:t>
            </a:r>
            <a:br/>
            <a:br/>
            <a:r>
              <a:t>• Live values update correctly</a:t>
            </a:r>
            <a:br/>
            <a:br/>
            <a:r>
              <a:t>• Alerts respond to test scenarios</a:t>
            </a:r>
            <a:br/>
            <a:br/>
            <a:r>
              <a:t>• Duplicate and outage handling works</a:t>
            </a:r>
            <a:br/>
            <a:br/>
            <a:r>
              <a:t>• Data remains available for history and reports</a:t>
            </a:r>
          </a:p>
        </p:txBody>
      </p:sp>
      <p:sp>
        <p:nvSpPr>
          <p:cNvPr id="29" name="TextBox 28"/>
          <p:cNvSpPr txBox="1"/>
          <p:nvPr/>
        </p:nvSpPr>
        <p:spPr>
          <a:xfrm>
            <a:off x="566928" y="6528816"/>
            <a:ext cx="3657600" cy="182880"/>
          </a:xfrm>
          <a:prstGeom prst="rect">
            <a:avLst/>
          </a:prstGeom>
          <a:noFill/>
        </p:spPr>
        <p:txBody>
          <a:bodyPr wrap="square" anchor="t">
            <a:spAutoFit/>
          </a:bodyPr>
          <a:lstStyle/>
          <a:p>
            <a:pPr algn="l">
              <a:defRPr sz="800" b="0">
                <a:solidFill>
                  <a:srgbClr val="586C76"/>
                </a:solidFill>
                <a:latin typeface="Aptos"/>
              </a:defRPr>
            </a:pPr>
            <a:r>
              <a:t>ICT304 · WeatherGrid</a:t>
            </a:r>
          </a:p>
        </p:txBody>
      </p:sp>
      <p:sp>
        <p:nvSpPr>
          <p:cNvPr id="30" name="TextBox 29"/>
          <p:cNvSpPr txBox="1"/>
          <p:nvPr/>
        </p:nvSpPr>
        <p:spPr>
          <a:xfrm>
            <a:off x="10972800" y="6528816"/>
            <a:ext cx="594360" cy="182880"/>
          </a:xfrm>
          <a:prstGeom prst="rect">
            <a:avLst/>
          </a:prstGeom>
          <a:noFill/>
        </p:spPr>
        <p:txBody>
          <a:bodyPr wrap="square" anchor="t">
            <a:spAutoFit/>
          </a:bodyPr>
          <a:lstStyle/>
          <a:p>
            <a:pPr algn="r">
              <a:defRPr sz="800" b="0">
                <a:solidFill>
                  <a:srgbClr val="586C76"/>
                </a:solidFill>
                <a:latin typeface="Aptos"/>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9FA"/>
        </a:solidFill>
        <a:effectLst/>
      </p:bgPr>
    </p:bg>
    <p:spTree>
      <p:nvGrpSpPr>
        <p:cNvPr id="1" name=""/>
        <p:cNvGrpSpPr/>
        <p:nvPr/>
      </p:nvGrpSpPr>
      <p:grpSpPr/>
      <p:sp>
        <p:nvSpPr>
          <p:cNvPr id="2" name="TextBox 1"/>
          <p:cNvSpPr txBox="1"/>
          <p:nvPr/>
        </p:nvSpPr>
        <p:spPr>
          <a:xfrm>
            <a:off x="548640" y="274320"/>
            <a:ext cx="502920" cy="320040"/>
          </a:xfrm>
          <a:prstGeom prst="rect">
            <a:avLst/>
          </a:prstGeom>
          <a:noFill/>
        </p:spPr>
        <p:txBody>
          <a:bodyPr wrap="square" anchor="t">
            <a:spAutoFit/>
          </a:bodyPr>
          <a:lstStyle/>
          <a:p>
            <a:pPr algn="l">
              <a:defRPr sz="1200" b="1">
                <a:solidFill>
                  <a:srgbClr val="047F8C"/>
                </a:solidFill>
                <a:latin typeface="Aptos"/>
              </a:defRPr>
            </a:pPr>
            <a:r>
              <a:t>10</a:t>
            </a:r>
          </a:p>
        </p:txBody>
      </p:sp>
      <p:sp>
        <p:nvSpPr>
          <p:cNvPr id="3" name="TextBox 2"/>
          <p:cNvSpPr txBox="1"/>
          <p:nvPr/>
        </p:nvSpPr>
        <p:spPr>
          <a:xfrm>
            <a:off x="1051560" y="182880"/>
            <a:ext cx="10424160" cy="457200"/>
          </a:xfrm>
          <a:prstGeom prst="rect">
            <a:avLst/>
          </a:prstGeom>
          <a:noFill/>
        </p:spPr>
        <p:txBody>
          <a:bodyPr wrap="square" anchor="t">
            <a:spAutoFit/>
          </a:bodyPr>
          <a:lstStyle/>
          <a:p>
            <a:pPr algn="l">
              <a:defRPr sz="2600" b="1">
                <a:solidFill>
                  <a:srgbClr val="133344"/>
                </a:solidFill>
                <a:latin typeface="Aptos"/>
              </a:defRPr>
            </a:pPr>
            <a:r>
              <a:t>How our five-person team worked</a:t>
            </a:r>
          </a:p>
        </p:txBody>
      </p:sp>
      <p:sp>
        <p:nvSpPr>
          <p:cNvPr id="4" name="TextBox 3"/>
          <p:cNvSpPr txBox="1"/>
          <p:nvPr/>
        </p:nvSpPr>
        <p:spPr>
          <a:xfrm>
            <a:off x="1051560" y="658368"/>
            <a:ext cx="10241280" cy="320040"/>
          </a:xfrm>
          <a:prstGeom prst="rect">
            <a:avLst/>
          </a:prstGeom>
          <a:noFill/>
        </p:spPr>
        <p:txBody>
          <a:bodyPr wrap="square" anchor="t">
            <a:spAutoFit/>
          </a:bodyPr>
          <a:lstStyle/>
          <a:p>
            <a:pPr algn="l">
              <a:defRPr sz="1200" b="0">
                <a:solidFill>
                  <a:srgbClr val="586C76"/>
                </a:solidFill>
                <a:latin typeface="Aptos"/>
              </a:defRPr>
            </a:pPr>
            <a:r>
              <a:t>Clear ownership with shared integration and testing</a:t>
            </a:r>
          </a:p>
        </p:txBody>
      </p:sp>
      <p:sp>
        <p:nvSpPr>
          <p:cNvPr id="5" name="Rectangle 4"/>
          <p:cNvSpPr/>
          <p:nvPr/>
        </p:nvSpPr>
        <p:spPr>
          <a:xfrm>
            <a:off x="548640" y="1042415"/>
            <a:ext cx="11064240" cy="22860"/>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07592"/>
            <a:ext cx="1417320" cy="393192"/>
          </a:xfrm>
          <a:prstGeom prst="round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25880"/>
            <a:ext cx="1417320" cy="310896"/>
          </a:xfrm>
          <a:prstGeom prst="rect">
            <a:avLst/>
          </a:prstGeom>
          <a:noFill/>
        </p:spPr>
        <p:txBody>
          <a:bodyPr wrap="square" anchor="ctr">
            <a:spAutoFit/>
          </a:bodyPr>
          <a:lstStyle/>
          <a:p>
            <a:pPr algn="ctr">
              <a:defRPr sz="1000" b="1">
                <a:solidFill>
                  <a:srgbClr val="FFFFFF"/>
                </a:solidFill>
                <a:latin typeface="Aptos"/>
              </a:defRPr>
            </a:pPr>
            <a:r>
              <a:t>Member 1</a:t>
            </a:r>
          </a:p>
        </p:txBody>
      </p:sp>
      <p:sp>
        <p:nvSpPr>
          <p:cNvPr id="8" name="TextBox 7"/>
          <p:cNvSpPr txBox="1"/>
          <p:nvPr/>
        </p:nvSpPr>
        <p:spPr>
          <a:xfrm>
            <a:off x="2423160" y="1335024"/>
            <a:ext cx="8732520" cy="365760"/>
          </a:xfrm>
          <a:prstGeom prst="rect">
            <a:avLst/>
          </a:prstGeom>
          <a:noFill/>
        </p:spPr>
        <p:txBody>
          <a:bodyPr wrap="square" anchor="t">
            <a:spAutoFit/>
          </a:bodyPr>
          <a:lstStyle/>
          <a:p>
            <a:pPr algn="l">
              <a:defRPr sz="1600" b="1">
                <a:solidFill>
                  <a:srgbClr val="1F323D"/>
                </a:solidFill>
                <a:latin typeface="Aptos"/>
              </a:defRPr>
            </a:pPr>
            <a:r>
              <a:t>Leadership, requirements, architecture and report</a:t>
            </a:r>
          </a:p>
        </p:txBody>
      </p:sp>
      <p:sp>
        <p:nvSpPr>
          <p:cNvPr id="9" name="Rounded Rectangle 8"/>
          <p:cNvSpPr/>
          <p:nvPr/>
        </p:nvSpPr>
        <p:spPr>
          <a:xfrm>
            <a:off x="731520" y="2240280"/>
            <a:ext cx="1417320" cy="393192"/>
          </a:xfrm>
          <a:prstGeom prst="roundRect">
            <a:avLst/>
          </a:prstGeom>
          <a:solidFill>
            <a:srgbClr val="6F4E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258568"/>
            <a:ext cx="1417320" cy="310896"/>
          </a:xfrm>
          <a:prstGeom prst="rect">
            <a:avLst/>
          </a:prstGeom>
          <a:noFill/>
        </p:spPr>
        <p:txBody>
          <a:bodyPr wrap="square" anchor="ctr">
            <a:spAutoFit/>
          </a:bodyPr>
          <a:lstStyle/>
          <a:p>
            <a:pPr algn="ctr">
              <a:defRPr sz="1000" b="1">
                <a:solidFill>
                  <a:srgbClr val="FFFFFF"/>
                </a:solidFill>
                <a:latin typeface="Aptos"/>
              </a:defRPr>
            </a:pPr>
            <a:r>
              <a:t>Member 2</a:t>
            </a:r>
          </a:p>
        </p:txBody>
      </p:sp>
      <p:sp>
        <p:nvSpPr>
          <p:cNvPr id="11" name="TextBox 10"/>
          <p:cNvSpPr txBox="1"/>
          <p:nvPr/>
        </p:nvSpPr>
        <p:spPr>
          <a:xfrm>
            <a:off x="2423160" y="2267712"/>
            <a:ext cx="8732520" cy="365760"/>
          </a:xfrm>
          <a:prstGeom prst="rect">
            <a:avLst/>
          </a:prstGeom>
          <a:noFill/>
        </p:spPr>
        <p:txBody>
          <a:bodyPr wrap="square" anchor="t">
            <a:spAutoFit/>
          </a:bodyPr>
          <a:lstStyle/>
          <a:p>
            <a:pPr algn="l">
              <a:defRPr sz="1600" b="1">
                <a:solidFill>
                  <a:srgbClr val="1F323D"/>
                </a:solidFill>
                <a:latin typeface="Aptos"/>
              </a:defRPr>
            </a:pPr>
            <a:r>
              <a:t>Device simulator and MQTT communication</a:t>
            </a:r>
          </a:p>
        </p:txBody>
      </p:sp>
      <p:sp>
        <p:nvSpPr>
          <p:cNvPr id="12" name="Rounded Rectangle 11"/>
          <p:cNvSpPr/>
          <p:nvPr/>
        </p:nvSpPr>
        <p:spPr>
          <a:xfrm>
            <a:off x="731520" y="3172968"/>
            <a:ext cx="1417320" cy="393192"/>
          </a:xfrm>
          <a:prstGeom prst="roundRect">
            <a:avLst/>
          </a:prstGeom>
          <a:solidFill>
            <a:srgbClr val="04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91256"/>
            <a:ext cx="1417320" cy="310896"/>
          </a:xfrm>
          <a:prstGeom prst="rect">
            <a:avLst/>
          </a:prstGeom>
          <a:noFill/>
        </p:spPr>
        <p:txBody>
          <a:bodyPr wrap="square" anchor="ctr">
            <a:spAutoFit/>
          </a:bodyPr>
          <a:lstStyle/>
          <a:p>
            <a:pPr algn="ctr">
              <a:defRPr sz="1000" b="1">
                <a:solidFill>
                  <a:srgbClr val="FFFFFF"/>
                </a:solidFill>
                <a:latin typeface="Aptos"/>
              </a:defRPr>
            </a:pPr>
            <a:r>
              <a:t>Member 3</a:t>
            </a:r>
          </a:p>
        </p:txBody>
      </p:sp>
      <p:sp>
        <p:nvSpPr>
          <p:cNvPr id="14" name="TextBox 13"/>
          <p:cNvSpPr txBox="1"/>
          <p:nvPr/>
        </p:nvSpPr>
        <p:spPr>
          <a:xfrm>
            <a:off x="2423160" y="3200399"/>
            <a:ext cx="8732520" cy="365760"/>
          </a:xfrm>
          <a:prstGeom prst="rect">
            <a:avLst/>
          </a:prstGeom>
          <a:noFill/>
        </p:spPr>
        <p:txBody>
          <a:bodyPr wrap="square" anchor="t">
            <a:spAutoFit/>
          </a:bodyPr>
          <a:lstStyle/>
          <a:p>
            <a:pPr algn="l">
              <a:defRPr sz="1600" b="1">
                <a:solidFill>
                  <a:srgbClr val="1F323D"/>
                </a:solidFill>
                <a:latin typeface="Aptos"/>
              </a:defRPr>
            </a:pPr>
            <a:r>
              <a:t>Edge gateway, buffering and retry</a:t>
            </a:r>
          </a:p>
        </p:txBody>
      </p:sp>
      <p:sp>
        <p:nvSpPr>
          <p:cNvPr id="15" name="Rounded Rectangle 14"/>
          <p:cNvSpPr/>
          <p:nvPr/>
        </p:nvSpPr>
        <p:spPr>
          <a:xfrm>
            <a:off x="731520" y="4105656"/>
            <a:ext cx="1417320" cy="393192"/>
          </a:xfrm>
          <a:prstGeom prst="roundRect">
            <a:avLst/>
          </a:prstGeom>
          <a:solidFill>
            <a:srgbClr val="B96C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123944"/>
            <a:ext cx="1417320" cy="310896"/>
          </a:xfrm>
          <a:prstGeom prst="rect">
            <a:avLst/>
          </a:prstGeom>
          <a:noFill/>
        </p:spPr>
        <p:txBody>
          <a:bodyPr wrap="square" anchor="ctr">
            <a:spAutoFit/>
          </a:bodyPr>
          <a:lstStyle/>
          <a:p>
            <a:pPr algn="ctr">
              <a:defRPr sz="1000" b="1">
                <a:solidFill>
                  <a:srgbClr val="FFFFFF"/>
                </a:solidFill>
                <a:latin typeface="Aptos"/>
              </a:defRPr>
            </a:pPr>
            <a:r>
              <a:t>Member 4</a:t>
            </a:r>
          </a:p>
        </p:txBody>
      </p:sp>
      <p:sp>
        <p:nvSpPr>
          <p:cNvPr id="17" name="TextBox 16"/>
          <p:cNvSpPr txBox="1"/>
          <p:nvPr/>
        </p:nvSpPr>
        <p:spPr>
          <a:xfrm>
            <a:off x="2423160" y="4133088"/>
            <a:ext cx="8732520" cy="365760"/>
          </a:xfrm>
          <a:prstGeom prst="rect">
            <a:avLst/>
          </a:prstGeom>
          <a:noFill/>
        </p:spPr>
        <p:txBody>
          <a:bodyPr wrap="square" anchor="t">
            <a:spAutoFit/>
          </a:bodyPr>
          <a:lstStyle/>
          <a:p>
            <a:pPr algn="l">
              <a:defRPr sz="1600" b="1">
                <a:solidFill>
                  <a:srgbClr val="1F323D"/>
                </a:solidFill>
                <a:latin typeface="Aptos"/>
              </a:defRPr>
            </a:pPr>
            <a:r>
              <a:t>Backend, database, security and alerts</a:t>
            </a:r>
          </a:p>
        </p:txBody>
      </p:sp>
      <p:sp>
        <p:nvSpPr>
          <p:cNvPr id="18" name="Rounded Rectangle 17"/>
          <p:cNvSpPr/>
          <p:nvPr/>
        </p:nvSpPr>
        <p:spPr>
          <a:xfrm>
            <a:off x="731520" y="5038344"/>
            <a:ext cx="1417320" cy="393192"/>
          </a:xfrm>
          <a:prstGeom prst="roundRect">
            <a:avLst/>
          </a:prstGeom>
          <a:solidFill>
            <a:srgbClr val="1E8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056631"/>
            <a:ext cx="1417320" cy="310896"/>
          </a:xfrm>
          <a:prstGeom prst="rect">
            <a:avLst/>
          </a:prstGeom>
          <a:noFill/>
        </p:spPr>
        <p:txBody>
          <a:bodyPr wrap="square" anchor="ctr">
            <a:spAutoFit/>
          </a:bodyPr>
          <a:lstStyle/>
          <a:p>
            <a:pPr algn="ctr">
              <a:defRPr sz="1000" b="1">
                <a:solidFill>
                  <a:srgbClr val="FFFFFF"/>
                </a:solidFill>
                <a:latin typeface="Aptos"/>
              </a:defRPr>
            </a:pPr>
            <a:r>
              <a:t>Member 5</a:t>
            </a:r>
          </a:p>
        </p:txBody>
      </p:sp>
      <p:sp>
        <p:nvSpPr>
          <p:cNvPr id="20" name="TextBox 19"/>
          <p:cNvSpPr txBox="1"/>
          <p:nvPr/>
        </p:nvSpPr>
        <p:spPr>
          <a:xfrm>
            <a:off x="2423160" y="5065776"/>
            <a:ext cx="8732520" cy="365760"/>
          </a:xfrm>
          <a:prstGeom prst="rect">
            <a:avLst/>
          </a:prstGeom>
          <a:noFill/>
        </p:spPr>
        <p:txBody>
          <a:bodyPr wrap="square" anchor="t">
            <a:spAutoFit/>
          </a:bodyPr>
          <a:lstStyle/>
          <a:p>
            <a:pPr algn="l">
              <a:defRPr sz="1600" b="1">
                <a:solidFill>
                  <a:srgbClr val="1F323D"/>
                </a:solidFill>
                <a:latin typeface="Aptos"/>
              </a:defRPr>
            </a:pPr>
            <a:r>
              <a:t>Frontend, testing and demonstration</a:t>
            </a:r>
          </a:p>
        </p:txBody>
      </p:sp>
      <p:sp>
        <p:nvSpPr>
          <p:cNvPr id="21" name="TextBox 20"/>
          <p:cNvSpPr txBox="1"/>
          <p:nvPr/>
        </p:nvSpPr>
        <p:spPr>
          <a:xfrm>
            <a:off x="822960" y="6080760"/>
            <a:ext cx="10515600" cy="292608"/>
          </a:xfrm>
          <a:prstGeom prst="rect">
            <a:avLst/>
          </a:prstGeom>
          <a:noFill/>
        </p:spPr>
        <p:txBody>
          <a:bodyPr wrap="square" anchor="t">
            <a:spAutoFit/>
          </a:bodyPr>
          <a:lstStyle/>
          <a:p>
            <a:pPr algn="ctr">
              <a:defRPr sz="1600" b="1">
                <a:solidFill>
                  <a:srgbClr val="133344"/>
                </a:solidFill>
                <a:latin typeface="Aptos"/>
              </a:defRPr>
            </a:pPr>
            <a:r>
              <a:t>Shared work: integration, testing, documentation, rehearsal and problem solving</a:t>
            </a:r>
          </a:p>
        </p:txBody>
      </p:sp>
      <p:sp>
        <p:nvSpPr>
          <p:cNvPr id="22" name="TextBox 21"/>
          <p:cNvSpPr txBox="1"/>
          <p:nvPr/>
        </p:nvSpPr>
        <p:spPr>
          <a:xfrm>
            <a:off x="566928" y="6528816"/>
            <a:ext cx="3657600" cy="182880"/>
          </a:xfrm>
          <a:prstGeom prst="rect">
            <a:avLst/>
          </a:prstGeom>
          <a:noFill/>
        </p:spPr>
        <p:txBody>
          <a:bodyPr wrap="square" anchor="t">
            <a:spAutoFit/>
          </a:bodyPr>
          <a:lstStyle/>
          <a:p>
            <a:pPr algn="l">
              <a:defRPr sz="800" b="0">
                <a:solidFill>
                  <a:srgbClr val="586C76"/>
                </a:solidFill>
                <a:latin typeface="Aptos"/>
              </a:defRPr>
            </a:pPr>
            <a:r>
              <a:t>ICT304 · WeatherGrid</a:t>
            </a:r>
          </a:p>
        </p:txBody>
      </p:sp>
      <p:sp>
        <p:nvSpPr>
          <p:cNvPr id="23" name="TextBox 22"/>
          <p:cNvSpPr txBox="1"/>
          <p:nvPr/>
        </p:nvSpPr>
        <p:spPr>
          <a:xfrm>
            <a:off x="10972800" y="6528816"/>
            <a:ext cx="594360" cy="182880"/>
          </a:xfrm>
          <a:prstGeom prst="rect">
            <a:avLst/>
          </a:prstGeom>
          <a:noFill/>
        </p:spPr>
        <p:txBody>
          <a:bodyPr wrap="square" anchor="t">
            <a:spAutoFit/>
          </a:bodyPr>
          <a:lstStyle/>
          <a:p>
            <a:pPr algn="r">
              <a:defRPr sz="800" b="0">
                <a:solidFill>
                  <a:srgbClr val="586C76"/>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33344"/>
        </a:solidFill>
        <a:effectLst/>
      </p:bgPr>
    </p:bg>
    <p:spTree>
      <p:nvGrpSpPr>
        <p:cNvPr id="1" name=""/>
        <p:cNvGrpSpPr/>
        <p:nvPr/>
      </p:nvGrpSpPr>
      <p:grpSpPr/>
      <p:sp>
        <p:nvSpPr>
          <p:cNvPr id="2" name="TextBox 1"/>
          <p:cNvSpPr txBox="1"/>
          <p:nvPr/>
        </p:nvSpPr>
        <p:spPr>
          <a:xfrm>
            <a:off x="685800" y="411480"/>
            <a:ext cx="10789920" cy="457200"/>
          </a:xfrm>
          <a:prstGeom prst="rect">
            <a:avLst/>
          </a:prstGeom>
          <a:noFill/>
        </p:spPr>
        <p:txBody>
          <a:bodyPr wrap="square" anchor="t">
            <a:spAutoFit/>
          </a:bodyPr>
          <a:lstStyle/>
          <a:p>
            <a:pPr algn="l">
              <a:defRPr sz="2800" b="1">
                <a:solidFill>
                  <a:srgbClr val="FFFFFF"/>
                </a:solidFill>
                <a:latin typeface="Aptos"/>
              </a:defRPr>
            </a:pPr>
            <a:r>
              <a:t>LIVE PROTOTYPE DEMONSTRATION</a:t>
            </a:r>
          </a:p>
        </p:txBody>
      </p:sp>
      <p:sp>
        <p:nvSpPr>
          <p:cNvPr id="3" name="TextBox 2"/>
          <p:cNvSpPr txBox="1"/>
          <p:nvPr/>
        </p:nvSpPr>
        <p:spPr>
          <a:xfrm>
            <a:off x="685800" y="960120"/>
            <a:ext cx="9509760" cy="320040"/>
          </a:xfrm>
          <a:prstGeom prst="rect">
            <a:avLst/>
          </a:prstGeom>
          <a:noFill/>
        </p:spPr>
        <p:txBody>
          <a:bodyPr wrap="square" anchor="t">
            <a:spAutoFit/>
          </a:bodyPr>
          <a:lstStyle/>
          <a:p>
            <a:pPr algn="l">
              <a:defRPr sz="1400" b="0">
                <a:solidFill>
                  <a:srgbClr val="BED9E0"/>
                </a:solidFill>
                <a:latin typeface="Aptos"/>
              </a:defRPr>
            </a:pPr>
            <a:r>
              <a:t>A clear four-minute demonstration</a:t>
            </a:r>
          </a:p>
        </p:txBody>
      </p:sp>
      <p:sp>
        <p:nvSpPr>
          <p:cNvPr id="4" name="Oval 3"/>
          <p:cNvSpPr/>
          <p:nvPr/>
        </p:nvSpPr>
        <p:spPr>
          <a:xfrm>
            <a:off x="777240" y="1490472"/>
            <a:ext cx="475488" cy="475488"/>
          </a:xfrm>
          <a:prstGeom prst="ellipse">
            <a:avLst/>
          </a:prstGeom>
          <a:solidFill>
            <a:srgbClr val="04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54480"/>
            <a:ext cx="475488" cy="274320"/>
          </a:xfrm>
          <a:prstGeom prst="rect">
            <a:avLst/>
          </a:prstGeom>
          <a:noFill/>
        </p:spPr>
        <p:txBody>
          <a:bodyPr wrap="square" anchor="t">
            <a:spAutoFit/>
          </a:bodyPr>
          <a:lstStyle/>
          <a:p>
            <a:pPr algn="ctr">
              <a:defRPr sz="1200" b="1">
                <a:solidFill>
                  <a:srgbClr val="FFFFFF"/>
                </a:solidFill>
                <a:latin typeface="Aptos"/>
              </a:defRPr>
            </a:pPr>
            <a:r>
              <a:t>1</a:t>
            </a:r>
          </a:p>
        </p:txBody>
      </p:sp>
      <p:sp>
        <p:nvSpPr>
          <p:cNvPr id="6" name="TextBox 5"/>
          <p:cNvSpPr txBox="1"/>
          <p:nvPr/>
        </p:nvSpPr>
        <p:spPr>
          <a:xfrm>
            <a:off x="1481328" y="1472184"/>
            <a:ext cx="1691640" cy="365760"/>
          </a:xfrm>
          <a:prstGeom prst="rect">
            <a:avLst/>
          </a:prstGeom>
          <a:noFill/>
        </p:spPr>
        <p:txBody>
          <a:bodyPr wrap="square" anchor="t">
            <a:spAutoFit/>
          </a:bodyPr>
          <a:lstStyle/>
          <a:p>
            <a:pPr algn="l">
              <a:defRPr sz="1800" b="1">
                <a:solidFill>
                  <a:srgbClr val="FFFFFF"/>
                </a:solidFill>
                <a:latin typeface="Aptos"/>
              </a:defRPr>
            </a:pPr>
            <a:r>
              <a:t>Overview</a:t>
            </a:r>
          </a:p>
        </p:txBody>
      </p:sp>
      <p:sp>
        <p:nvSpPr>
          <p:cNvPr id="7" name="TextBox 6"/>
          <p:cNvSpPr txBox="1"/>
          <p:nvPr/>
        </p:nvSpPr>
        <p:spPr>
          <a:xfrm>
            <a:off x="3246120" y="1508760"/>
            <a:ext cx="7178040" cy="384048"/>
          </a:xfrm>
          <a:prstGeom prst="rect">
            <a:avLst/>
          </a:prstGeom>
          <a:noFill/>
        </p:spPr>
        <p:txBody>
          <a:bodyPr wrap="square" anchor="t">
            <a:spAutoFit/>
          </a:bodyPr>
          <a:lstStyle/>
          <a:p>
            <a:pPr algn="l">
              <a:defRPr sz="1400" b="0">
                <a:solidFill>
                  <a:srgbClr val="D8E8ED"/>
                </a:solidFill>
                <a:latin typeface="Aptos"/>
              </a:defRPr>
            </a:pPr>
            <a:r>
              <a:t>Confirm Sydney, Melbourne and Brisbane are online</a:t>
            </a:r>
          </a:p>
        </p:txBody>
      </p:sp>
      <p:sp>
        <p:nvSpPr>
          <p:cNvPr id="8" name="Oval 7"/>
          <p:cNvSpPr/>
          <p:nvPr/>
        </p:nvSpPr>
        <p:spPr>
          <a:xfrm>
            <a:off x="777240" y="2350008"/>
            <a:ext cx="475488" cy="475488"/>
          </a:xfrm>
          <a:prstGeom prst="ellipse">
            <a:avLst/>
          </a:prstGeom>
          <a:solidFill>
            <a:srgbClr val="04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414015"/>
            <a:ext cx="475488" cy="274320"/>
          </a:xfrm>
          <a:prstGeom prst="rect">
            <a:avLst/>
          </a:prstGeom>
          <a:noFill/>
        </p:spPr>
        <p:txBody>
          <a:bodyPr wrap="square" anchor="t">
            <a:spAutoFit/>
          </a:bodyPr>
          <a:lstStyle/>
          <a:p>
            <a:pPr algn="ctr">
              <a:defRPr sz="1200" b="1">
                <a:solidFill>
                  <a:srgbClr val="FFFFFF"/>
                </a:solidFill>
                <a:latin typeface="Aptos"/>
              </a:defRPr>
            </a:pPr>
            <a:r>
              <a:t>2</a:t>
            </a:r>
          </a:p>
        </p:txBody>
      </p:sp>
      <p:sp>
        <p:nvSpPr>
          <p:cNvPr id="10" name="TextBox 9"/>
          <p:cNvSpPr txBox="1"/>
          <p:nvPr/>
        </p:nvSpPr>
        <p:spPr>
          <a:xfrm>
            <a:off x="1481328" y="2331720"/>
            <a:ext cx="1691640" cy="365760"/>
          </a:xfrm>
          <a:prstGeom prst="rect">
            <a:avLst/>
          </a:prstGeom>
          <a:noFill/>
        </p:spPr>
        <p:txBody>
          <a:bodyPr wrap="square" anchor="t">
            <a:spAutoFit/>
          </a:bodyPr>
          <a:lstStyle/>
          <a:p>
            <a:pPr algn="l">
              <a:defRPr sz="1800" b="1">
                <a:solidFill>
                  <a:srgbClr val="FFFFFF"/>
                </a:solidFill>
                <a:latin typeface="Aptos"/>
              </a:defRPr>
            </a:pPr>
            <a:r>
              <a:t>Live monitoring</a:t>
            </a:r>
          </a:p>
        </p:txBody>
      </p:sp>
      <p:sp>
        <p:nvSpPr>
          <p:cNvPr id="11" name="TextBox 10"/>
          <p:cNvSpPr txBox="1"/>
          <p:nvPr/>
        </p:nvSpPr>
        <p:spPr>
          <a:xfrm>
            <a:off x="3246120" y="2368296"/>
            <a:ext cx="7178040" cy="384048"/>
          </a:xfrm>
          <a:prstGeom prst="rect">
            <a:avLst/>
          </a:prstGeom>
          <a:noFill/>
        </p:spPr>
        <p:txBody>
          <a:bodyPr wrap="square" anchor="t">
            <a:spAutoFit/>
          </a:bodyPr>
          <a:lstStyle/>
          <a:p>
            <a:pPr algn="l">
              <a:defRPr sz="1400" b="0">
                <a:solidFill>
                  <a:srgbClr val="D8E8ED"/>
                </a:solidFill>
                <a:latin typeface="Aptos"/>
              </a:defRPr>
            </a:pPr>
            <a:r>
              <a:t>Show changing values and explain the units</a:t>
            </a:r>
          </a:p>
        </p:txBody>
      </p:sp>
      <p:sp>
        <p:nvSpPr>
          <p:cNvPr id="12" name="Oval 11"/>
          <p:cNvSpPr/>
          <p:nvPr/>
        </p:nvSpPr>
        <p:spPr>
          <a:xfrm>
            <a:off x="777240" y="3209544"/>
            <a:ext cx="475488" cy="475488"/>
          </a:xfrm>
          <a:prstGeom prst="ellipse">
            <a:avLst/>
          </a:prstGeom>
          <a:solidFill>
            <a:srgbClr val="04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273551"/>
            <a:ext cx="475488" cy="274320"/>
          </a:xfrm>
          <a:prstGeom prst="rect">
            <a:avLst/>
          </a:prstGeom>
          <a:noFill/>
        </p:spPr>
        <p:txBody>
          <a:bodyPr wrap="square" anchor="t">
            <a:spAutoFit/>
          </a:bodyPr>
          <a:lstStyle/>
          <a:p>
            <a:pPr algn="ctr">
              <a:defRPr sz="1200" b="1">
                <a:solidFill>
                  <a:srgbClr val="FFFFFF"/>
                </a:solidFill>
                <a:latin typeface="Aptos"/>
              </a:defRPr>
            </a:pPr>
            <a:r>
              <a:t>3</a:t>
            </a:r>
          </a:p>
        </p:txBody>
      </p:sp>
      <p:sp>
        <p:nvSpPr>
          <p:cNvPr id="14" name="TextBox 13"/>
          <p:cNvSpPr txBox="1"/>
          <p:nvPr/>
        </p:nvSpPr>
        <p:spPr>
          <a:xfrm>
            <a:off x="1481328" y="3191256"/>
            <a:ext cx="1691640" cy="365760"/>
          </a:xfrm>
          <a:prstGeom prst="rect">
            <a:avLst/>
          </a:prstGeom>
          <a:noFill/>
        </p:spPr>
        <p:txBody>
          <a:bodyPr wrap="square" anchor="t">
            <a:spAutoFit/>
          </a:bodyPr>
          <a:lstStyle/>
          <a:p>
            <a:pPr algn="l">
              <a:defRPr sz="1800" b="1">
                <a:solidFill>
                  <a:srgbClr val="FFFFFF"/>
                </a:solidFill>
                <a:latin typeface="Aptos"/>
              </a:defRPr>
            </a:pPr>
            <a:r>
              <a:t>Simulation</a:t>
            </a:r>
          </a:p>
        </p:txBody>
      </p:sp>
      <p:sp>
        <p:nvSpPr>
          <p:cNvPr id="15" name="TextBox 14"/>
          <p:cNvSpPr txBox="1"/>
          <p:nvPr/>
        </p:nvSpPr>
        <p:spPr>
          <a:xfrm>
            <a:off x="3246120" y="3227832"/>
            <a:ext cx="7178040" cy="384048"/>
          </a:xfrm>
          <a:prstGeom prst="rect">
            <a:avLst/>
          </a:prstGeom>
          <a:noFill/>
        </p:spPr>
        <p:txBody>
          <a:bodyPr wrap="square" anchor="t">
            <a:spAutoFit/>
          </a:bodyPr>
          <a:lstStyle/>
          <a:p>
            <a:pPr algn="l">
              <a:defRPr sz="1400" b="0">
                <a:solidFill>
                  <a:srgbClr val="D8E8ED"/>
                </a:solidFill>
                <a:latin typeface="Aptos"/>
              </a:defRPr>
            </a:pPr>
            <a:r>
              <a:t>Send Temperature critical to Sydney</a:t>
            </a:r>
          </a:p>
        </p:txBody>
      </p:sp>
      <p:sp>
        <p:nvSpPr>
          <p:cNvPr id="16" name="Oval 15"/>
          <p:cNvSpPr/>
          <p:nvPr/>
        </p:nvSpPr>
        <p:spPr>
          <a:xfrm>
            <a:off x="777240" y="4069079"/>
            <a:ext cx="475488" cy="475488"/>
          </a:xfrm>
          <a:prstGeom prst="ellipse">
            <a:avLst/>
          </a:prstGeom>
          <a:solidFill>
            <a:srgbClr val="04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133087"/>
            <a:ext cx="475488" cy="274320"/>
          </a:xfrm>
          <a:prstGeom prst="rect">
            <a:avLst/>
          </a:prstGeom>
          <a:noFill/>
        </p:spPr>
        <p:txBody>
          <a:bodyPr wrap="square" anchor="t">
            <a:spAutoFit/>
          </a:bodyPr>
          <a:lstStyle/>
          <a:p>
            <a:pPr algn="ctr">
              <a:defRPr sz="1200" b="1">
                <a:solidFill>
                  <a:srgbClr val="FFFFFF"/>
                </a:solidFill>
                <a:latin typeface="Aptos"/>
              </a:defRPr>
            </a:pPr>
            <a:r>
              <a:t>4</a:t>
            </a:r>
          </a:p>
        </p:txBody>
      </p:sp>
      <p:sp>
        <p:nvSpPr>
          <p:cNvPr id="18" name="TextBox 17"/>
          <p:cNvSpPr txBox="1"/>
          <p:nvPr/>
        </p:nvSpPr>
        <p:spPr>
          <a:xfrm>
            <a:off x="1481328" y="4050791"/>
            <a:ext cx="1691640" cy="365760"/>
          </a:xfrm>
          <a:prstGeom prst="rect">
            <a:avLst/>
          </a:prstGeom>
          <a:noFill/>
        </p:spPr>
        <p:txBody>
          <a:bodyPr wrap="square" anchor="t">
            <a:spAutoFit/>
          </a:bodyPr>
          <a:lstStyle/>
          <a:p>
            <a:pPr algn="l">
              <a:defRPr sz="1800" b="1">
                <a:solidFill>
                  <a:srgbClr val="FFFFFF"/>
                </a:solidFill>
                <a:latin typeface="Aptos"/>
              </a:defRPr>
            </a:pPr>
            <a:r>
              <a:t>Alert</a:t>
            </a:r>
          </a:p>
        </p:txBody>
      </p:sp>
      <p:sp>
        <p:nvSpPr>
          <p:cNvPr id="19" name="TextBox 18"/>
          <p:cNvSpPr txBox="1"/>
          <p:nvPr/>
        </p:nvSpPr>
        <p:spPr>
          <a:xfrm>
            <a:off x="3246120" y="4087367"/>
            <a:ext cx="7178040" cy="384048"/>
          </a:xfrm>
          <a:prstGeom prst="rect">
            <a:avLst/>
          </a:prstGeom>
          <a:noFill/>
        </p:spPr>
        <p:txBody>
          <a:bodyPr wrap="square" anchor="t">
            <a:spAutoFit/>
          </a:bodyPr>
          <a:lstStyle/>
          <a:p>
            <a:pPr algn="l">
              <a:defRPr sz="1400" b="0">
                <a:solidFill>
                  <a:srgbClr val="D8E8ED"/>
                </a:solidFill>
                <a:latin typeface="Aptos"/>
              </a:defRPr>
            </a:pPr>
            <a:r>
              <a:t>Show the new critical alert and acknowledge it</a:t>
            </a:r>
          </a:p>
        </p:txBody>
      </p:sp>
      <p:sp>
        <p:nvSpPr>
          <p:cNvPr id="20" name="Oval 19"/>
          <p:cNvSpPr/>
          <p:nvPr/>
        </p:nvSpPr>
        <p:spPr>
          <a:xfrm>
            <a:off x="777240" y="4928616"/>
            <a:ext cx="475488" cy="475488"/>
          </a:xfrm>
          <a:prstGeom prst="ellipse">
            <a:avLst/>
          </a:prstGeom>
          <a:solidFill>
            <a:srgbClr val="04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992624"/>
            <a:ext cx="475488" cy="274320"/>
          </a:xfrm>
          <a:prstGeom prst="rect">
            <a:avLst/>
          </a:prstGeom>
          <a:noFill/>
        </p:spPr>
        <p:txBody>
          <a:bodyPr wrap="square" anchor="t">
            <a:spAutoFit/>
          </a:bodyPr>
          <a:lstStyle/>
          <a:p>
            <a:pPr algn="ctr">
              <a:defRPr sz="1200" b="1">
                <a:solidFill>
                  <a:srgbClr val="FFFFFF"/>
                </a:solidFill>
                <a:latin typeface="Aptos"/>
              </a:defRPr>
            </a:pPr>
            <a:r>
              <a:t>5</a:t>
            </a:r>
          </a:p>
        </p:txBody>
      </p:sp>
      <p:sp>
        <p:nvSpPr>
          <p:cNvPr id="22" name="TextBox 21"/>
          <p:cNvSpPr txBox="1"/>
          <p:nvPr/>
        </p:nvSpPr>
        <p:spPr>
          <a:xfrm>
            <a:off x="1481328" y="4910328"/>
            <a:ext cx="1691640" cy="365760"/>
          </a:xfrm>
          <a:prstGeom prst="rect">
            <a:avLst/>
          </a:prstGeom>
          <a:noFill/>
        </p:spPr>
        <p:txBody>
          <a:bodyPr wrap="square" anchor="t">
            <a:spAutoFit/>
          </a:bodyPr>
          <a:lstStyle/>
          <a:p>
            <a:pPr algn="l">
              <a:defRPr sz="1800" b="1">
                <a:solidFill>
                  <a:srgbClr val="FFFFFF"/>
                </a:solidFill>
                <a:latin typeface="Aptos"/>
              </a:defRPr>
            </a:pPr>
            <a:r>
              <a:t>Recovery</a:t>
            </a:r>
          </a:p>
        </p:txBody>
      </p:sp>
      <p:sp>
        <p:nvSpPr>
          <p:cNvPr id="23" name="TextBox 22"/>
          <p:cNvSpPr txBox="1"/>
          <p:nvPr/>
        </p:nvSpPr>
        <p:spPr>
          <a:xfrm>
            <a:off x="3246120" y="4946903"/>
            <a:ext cx="7178040" cy="384048"/>
          </a:xfrm>
          <a:prstGeom prst="rect">
            <a:avLst/>
          </a:prstGeom>
          <a:noFill/>
        </p:spPr>
        <p:txBody>
          <a:bodyPr wrap="square" anchor="t">
            <a:spAutoFit/>
          </a:bodyPr>
          <a:lstStyle/>
          <a:p>
            <a:pPr algn="l">
              <a:defRPr sz="1400" b="0">
                <a:solidFill>
                  <a:srgbClr val="D8E8ED"/>
                </a:solidFill>
                <a:latin typeface="Aptos"/>
              </a:defRPr>
            </a:pPr>
            <a:r>
              <a:t>Send Reset to normal and show history/report evidence</a:t>
            </a:r>
          </a:p>
        </p:txBody>
      </p:sp>
      <p:sp>
        <p:nvSpPr>
          <p:cNvPr id="24" name="Rounded Rectangle 23"/>
          <p:cNvSpPr/>
          <p:nvPr/>
        </p:nvSpPr>
        <p:spPr>
          <a:xfrm>
            <a:off x="8686800" y="5486400"/>
            <a:ext cx="2514600" cy="640080"/>
          </a:xfrm>
          <a:prstGeom prst="roundRect">
            <a:avLst/>
          </a:prstGeom>
          <a:solidFill>
            <a:srgbClr val="FFFFFF"/>
          </a:solidFill>
          <a:ln>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86800" y="5486400"/>
            <a:ext cx="64008" cy="640080"/>
          </a:xfrm>
          <a:prstGeom prst="rect">
            <a:avLst/>
          </a:prstGeom>
          <a:solidFill>
            <a:srgbClr val="BE3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15400" y="5669280"/>
            <a:ext cx="2103120" cy="365760"/>
          </a:xfrm>
          <a:prstGeom prst="rect">
            <a:avLst/>
          </a:prstGeom>
          <a:noFill/>
        </p:spPr>
        <p:txBody>
          <a:bodyPr wrap="square" anchor="t">
            <a:spAutoFit/>
          </a:bodyPr>
          <a:lstStyle/>
          <a:p>
            <a:pPr algn="l">
              <a:defRPr sz="1200" b="1">
                <a:solidFill>
                  <a:srgbClr val="133344"/>
                </a:solidFill>
                <a:latin typeface="Aptos"/>
              </a:defRPr>
            </a:pPr>
            <a:r>
              <a:t>Backup</a:t>
            </a:r>
          </a:p>
        </p:txBody>
      </p:sp>
      <p:sp>
        <p:nvSpPr>
          <p:cNvPr id="27" name="TextBox 26"/>
          <p:cNvSpPr txBox="1"/>
          <p:nvPr/>
        </p:nvSpPr>
        <p:spPr>
          <a:xfrm>
            <a:off x="8915400" y="6153912"/>
            <a:ext cx="2103120" cy="-182880"/>
          </a:xfrm>
          <a:prstGeom prst="rect">
            <a:avLst/>
          </a:prstGeom>
          <a:noFill/>
        </p:spPr>
        <p:txBody>
          <a:bodyPr wrap="square" anchor="t">
            <a:spAutoFit/>
          </a:bodyPr>
          <a:lstStyle/>
          <a:p>
            <a:pPr algn="l">
              <a:defRPr sz="900" b="0">
                <a:solidFill>
                  <a:srgbClr val="586C76"/>
                </a:solidFill>
                <a:latin typeface="Aptos"/>
              </a:defRPr>
            </a:pPr>
            <a:r>
              <a:t>Use screenshots if needed</a:t>
            </a:r>
          </a:p>
        </p:txBody>
      </p:sp>
      <p:sp>
        <p:nvSpPr>
          <p:cNvPr id="28" name="TextBox 27"/>
          <p:cNvSpPr txBox="1"/>
          <p:nvPr/>
        </p:nvSpPr>
        <p:spPr>
          <a:xfrm>
            <a:off x="731520" y="6144768"/>
            <a:ext cx="7498079" cy="274320"/>
          </a:xfrm>
          <a:prstGeom prst="rect">
            <a:avLst/>
          </a:prstGeom>
          <a:noFill/>
        </p:spPr>
        <p:txBody>
          <a:bodyPr wrap="square" anchor="t">
            <a:spAutoFit/>
          </a:bodyPr>
          <a:lstStyle/>
          <a:p>
            <a:pPr algn="l">
              <a:defRPr sz="1100" b="1">
                <a:solidFill>
                  <a:srgbClr val="F7BFC6"/>
                </a:solidFill>
                <a:latin typeface="Aptos"/>
              </a:defRPr>
            </a:pPr>
            <a:r>
              <a:t>Do not show passwords, API keys or the .env file.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9FA"/>
        </a:solidFill>
        <a:effectLst/>
      </p:bgPr>
    </p:bg>
    <p:spTree>
      <p:nvGrpSpPr>
        <p:cNvPr id="1" name=""/>
        <p:cNvGrpSpPr/>
        <p:nvPr/>
      </p:nvGrpSpPr>
      <p:grpSpPr/>
      <p:sp>
        <p:nvSpPr>
          <p:cNvPr id="2" name="TextBox 1"/>
          <p:cNvSpPr txBox="1"/>
          <p:nvPr/>
        </p:nvSpPr>
        <p:spPr>
          <a:xfrm>
            <a:off x="548640" y="274320"/>
            <a:ext cx="502920" cy="320040"/>
          </a:xfrm>
          <a:prstGeom prst="rect">
            <a:avLst/>
          </a:prstGeom>
          <a:noFill/>
        </p:spPr>
        <p:txBody>
          <a:bodyPr wrap="square" anchor="t">
            <a:spAutoFit/>
          </a:bodyPr>
          <a:lstStyle/>
          <a:p>
            <a:pPr algn="l">
              <a:defRPr sz="1200" b="1">
                <a:solidFill>
                  <a:srgbClr val="047F8C"/>
                </a:solidFill>
                <a:latin typeface="Aptos"/>
              </a:defRPr>
            </a:pPr>
            <a:r>
              <a:t>12</a:t>
            </a:r>
          </a:p>
        </p:txBody>
      </p:sp>
      <p:sp>
        <p:nvSpPr>
          <p:cNvPr id="3" name="TextBox 2"/>
          <p:cNvSpPr txBox="1"/>
          <p:nvPr/>
        </p:nvSpPr>
        <p:spPr>
          <a:xfrm>
            <a:off x="1051560" y="182880"/>
            <a:ext cx="10424160" cy="457200"/>
          </a:xfrm>
          <a:prstGeom prst="rect">
            <a:avLst/>
          </a:prstGeom>
          <a:noFill/>
        </p:spPr>
        <p:txBody>
          <a:bodyPr wrap="square" anchor="t">
            <a:spAutoFit/>
          </a:bodyPr>
          <a:lstStyle/>
          <a:p>
            <a:pPr algn="l">
              <a:defRPr sz="2600" b="1">
                <a:solidFill>
                  <a:srgbClr val="133344"/>
                </a:solidFill>
                <a:latin typeface="Aptos"/>
              </a:defRPr>
            </a:pPr>
            <a:r>
              <a:t>Conclusion and future work</a:t>
            </a:r>
          </a:p>
        </p:txBody>
      </p:sp>
      <p:sp>
        <p:nvSpPr>
          <p:cNvPr id="4" name="TextBox 3"/>
          <p:cNvSpPr txBox="1"/>
          <p:nvPr/>
        </p:nvSpPr>
        <p:spPr>
          <a:xfrm>
            <a:off x="1051560" y="658368"/>
            <a:ext cx="10241280" cy="320040"/>
          </a:xfrm>
          <a:prstGeom prst="rect">
            <a:avLst/>
          </a:prstGeom>
          <a:noFill/>
        </p:spPr>
        <p:txBody>
          <a:bodyPr wrap="square" anchor="t">
            <a:spAutoFit/>
          </a:bodyPr>
          <a:lstStyle/>
          <a:p>
            <a:pPr algn="l">
              <a:defRPr sz="1200" b="0">
                <a:solidFill>
                  <a:srgbClr val="586C76"/>
                </a:solidFill>
                <a:latin typeface="Aptos"/>
              </a:defRPr>
            </a:pPr>
            <a:r>
              <a:t>What we achieved and what comes next</a:t>
            </a:r>
          </a:p>
        </p:txBody>
      </p:sp>
      <p:sp>
        <p:nvSpPr>
          <p:cNvPr id="5" name="Rectangle 4"/>
          <p:cNvSpPr/>
          <p:nvPr/>
        </p:nvSpPr>
        <p:spPr>
          <a:xfrm>
            <a:off x="548640" y="1042415"/>
            <a:ext cx="11064240" cy="22860"/>
          </a:xfrm>
          <a:prstGeom prst="rect">
            <a:avLst/>
          </a:prstGeom>
          <a:solidFill>
            <a:srgbClr val="D8E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371600"/>
            <a:ext cx="5303520" cy="4343400"/>
          </a:xfrm>
          <a:prstGeom prst="roundRect">
            <a:avLst/>
          </a:prstGeom>
          <a:solidFill>
            <a:srgbClr val="FFFFFF"/>
          </a:solidFill>
          <a:ln>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371600"/>
            <a:ext cx="64008" cy="4343400"/>
          </a:xfrm>
          <a:prstGeom prst="rect">
            <a:avLst/>
          </a:prstGeom>
          <a:solidFill>
            <a:srgbClr val="1E82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54480"/>
            <a:ext cx="4892040" cy="365760"/>
          </a:xfrm>
          <a:prstGeom prst="rect">
            <a:avLst/>
          </a:prstGeom>
          <a:noFill/>
        </p:spPr>
        <p:txBody>
          <a:bodyPr wrap="square" anchor="t">
            <a:spAutoFit/>
          </a:bodyPr>
          <a:lstStyle/>
          <a:p>
            <a:pPr algn="l">
              <a:defRPr sz="2100" b="1">
                <a:solidFill>
                  <a:srgbClr val="133344"/>
                </a:solidFill>
                <a:latin typeface="Aptos"/>
              </a:defRPr>
            </a:pPr>
            <a:r>
              <a:t>What we achieved</a:t>
            </a:r>
          </a:p>
        </p:txBody>
      </p:sp>
      <p:sp>
        <p:nvSpPr>
          <p:cNvPr id="9" name="TextBox 8"/>
          <p:cNvSpPr txBox="1"/>
          <p:nvPr/>
        </p:nvSpPr>
        <p:spPr>
          <a:xfrm>
            <a:off x="914400" y="2039112"/>
            <a:ext cx="4892040" cy="3520440"/>
          </a:xfrm>
          <a:prstGeom prst="rect">
            <a:avLst/>
          </a:prstGeom>
          <a:noFill/>
        </p:spPr>
        <p:txBody>
          <a:bodyPr wrap="square" anchor="t">
            <a:spAutoFit/>
          </a:bodyPr>
          <a:lstStyle/>
          <a:p>
            <a:pPr algn="l">
              <a:defRPr sz="1600" b="0">
                <a:solidFill>
                  <a:srgbClr val="586C76"/>
                </a:solidFill>
                <a:latin typeface="Aptos"/>
              </a:defRPr>
            </a:pPr>
            <a:r>
              <a:t>✓ Complete device-to-dashboard flow</a:t>
            </a:r>
            <a:br/>
            <a:br/>
            <a:r>
              <a:t>✓ Live and historical monitoring</a:t>
            </a:r>
            <a:br/>
            <a:br/>
            <a:r>
              <a:t>✓ Alerts, reports and admin controls</a:t>
            </a:r>
            <a:br/>
            <a:br/>
            <a:r>
              <a:t>✓ Buffering and duplicate protection</a:t>
            </a:r>
            <a:br/>
            <a:br/>
            <a:r>
              <a:t>✓ Tested working prototype</a:t>
            </a:r>
          </a:p>
        </p:txBody>
      </p:sp>
      <p:sp>
        <p:nvSpPr>
          <p:cNvPr id="10" name="Rounded Rectangle 9"/>
          <p:cNvSpPr/>
          <p:nvPr/>
        </p:nvSpPr>
        <p:spPr>
          <a:xfrm>
            <a:off x="6236208" y="1371600"/>
            <a:ext cx="5303520" cy="4343400"/>
          </a:xfrm>
          <a:prstGeom prst="roundRect">
            <a:avLst/>
          </a:prstGeom>
          <a:solidFill>
            <a:srgbClr val="FFFFFF"/>
          </a:solidFill>
          <a:ln>
            <a:solidFill>
              <a:srgbClr val="D8E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6208" y="1371600"/>
            <a:ext cx="64008" cy="43434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1554480"/>
            <a:ext cx="4892040" cy="365760"/>
          </a:xfrm>
          <a:prstGeom prst="rect">
            <a:avLst/>
          </a:prstGeom>
          <a:noFill/>
        </p:spPr>
        <p:txBody>
          <a:bodyPr wrap="square" anchor="t">
            <a:spAutoFit/>
          </a:bodyPr>
          <a:lstStyle/>
          <a:p>
            <a:pPr algn="l">
              <a:defRPr sz="2100" b="1">
                <a:solidFill>
                  <a:srgbClr val="133344"/>
                </a:solidFill>
                <a:latin typeface="Aptos"/>
              </a:defRPr>
            </a:pPr>
            <a:r>
              <a:t>Future improvements</a:t>
            </a:r>
          </a:p>
        </p:txBody>
      </p:sp>
      <p:sp>
        <p:nvSpPr>
          <p:cNvPr id="13" name="TextBox 12"/>
          <p:cNvSpPr txBox="1"/>
          <p:nvPr/>
        </p:nvSpPr>
        <p:spPr>
          <a:xfrm>
            <a:off x="6464808" y="2039112"/>
            <a:ext cx="4892040" cy="3520440"/>
          </a:xfrm>
          <a:prstGeom prst="rect">
            <a:avLst/>
          </a:prstGeom>
          <a:noFill/>
        </p:spPr>
        <p:txBody>
          <a:bodyPr wrap="square" anchor="t">
            <a:spAutoFit/>
          </a:bodyPr>
          <a:lstStyle/>
          <a:p>
            <a:pPr algn="l">
              <a:defRPr sz="1600" b="0">
                <a:solidFill>
                  <a:srgbClr val="586C76"/>
                </a:solidFill>
                <a:latin typeface="Aptos"/>
              </a:defRPr>
            </a:pPr>
            <a:r>
              <a:t>1. Connect calibrated ESP32 sensors</a:t>
            </a:r>
            <a:br/>
            <a:br/>
            <a:r>
              <a:t>2. Add MQTT over TLS</a:t>
            </a:r>
            <a:br/>
            <a:br/>
            <a:r>
              <a:t>3. Deploy to cloud infrastructure</a:t>
            </a:r>
            <a:br/>
            <a:br/>
            <a:r>
              <a:t>4. Test larger numbers of devices</a:t>
            </a:r>
            <a:br/>
            <a:br/>
            <a:r>
              <a:t>5. Add predictive weather analysis</a:t>
            </a:r>
          </a:p>
        </p:txBody>
      </p:sp>
      <p:sp>
        <p:nvSpPr>
          <p:cNvPr id="14" name="TextBox 13"/>
          <p:cNvSpPr txBox="1"/>
          <p:nvPr/>
        </p:nvSpPr>
        <p:spPr>
          <a:xfrm>
            <a:off x="822960" y="5989320"/>
            <a:ext cx="10515600" cy="365760"/>
          </a:xfrm>
          <a:prstGeom prst="rect">
            <a:avLst/>
          </a:prstGeom>
          <a:noFill/>
        </p:spPr>
        <p:txBody>
          <a:bodyPr wrap="square" anchor="t">
            <a:spAutoFit/>
          </a:bodyPr>
          <a:lstStyle/>
          <a:p>
            <a:pPr algn="ctr">
              <a:defRPr sz="1800" b="1">
                <a:solidFill>
                  <a:srgbClr val="133344"/>
                </a:solidFill>
                <a:latin typeface="Aptos"/>
              </a:defRPr>
            </a:pPr>
            <a:r>
              <a:t>WeatherGrid turns distributed sensor messages into useful and reliable information.</a:t>
            </a:r>
          </a:p>
        </p:txBody>
      </p:sp>
      <p:sp>
        <p:nvSpPr>
          <p:cNvPr id="15" name="TextBox 14"/>
          <p:cNvSpPr txBox="1"/>
          <p:nvPr/>
        </p:nvSpPr>
        <p:spPr>
          <a:xfrm>
            <a:off x="566928" y="6528816"/>
            <a:ext cx="3657600" cy="182880"/>
          </a:xfrm>
          <a:prstGeom prst="rect">
            <a:avLst/>
          </a:prstGeom>
          <a:noFill/>
        </p:spPr>
        <p:txBody>
          <a:bodyPr wrap="square" anchor="t">
            <a:spAutoFit/>
          </a:bodyPr>
          <a:lstStyle/>
          <a:p>
            <a:pPr algn="l">
              <a:defRPr sz="800" b="0">
                <a:solidFill>
                  <a:srgbClr val="586C76"/>
                </a:solidFill>
                <a:latin typeface="Aptos"/>
              </a:defRPr>
            </a:pPr>
            <a:r>
              <a:t>ICT304 · WeatherGrid</a:t>
            </a:r>
          </a:p>
        </p:txBody>
      </p:sp>
      <p:sp>
        <p:nvSpPr>
          <p:cNvPr id="16" name="TextBox 15"/>
          <p:cNvSpPr txBox="1"/>
          <p:nvPr/>
        </p:nvSpPr>
        <p:spPr>
          <a:xfrm>
            <a:off x="10972800" y="6528816"/>
            <a:ext cx="594360" cy="182880"/>
          </a:xfrm>
          <a:prstGeom prst="rect">
            <a:avLst/>
          </a:prstGeom>
          <a:noFill/>
        </p:spPr>
        <p:txBody>
          <a:bodyPr wrap="square" anchor="t">
            <a:spAutoFit/>
          </a:bodyPr>
          <a:lstStyle/>
          <a:p>
            <a:pPr algn="r">
              <a:defRPr sz="800" b="0">
                <a:solidFill>
                  <a:srgbClr val="586C76"/>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33344"/>
        </a:solidFill>
        <a:effectLst/>
      </p:bgPr>
    </p:bg>
    <p:spTree>
      <p:nvGrpSpPr>
        <p:cNvPr id="1" name=""/>
        <p:cNvGrpSpPr/>
        <p:nvPr/>
      </p:nvGrpSpPr>
      <p:grpSpPr/>
      <p:sp>
        <p:nvSpPr>
          <p:cNvPr id="2" name="TextBox 1"/>
          <p:cNvSpPr txBox="1"/>
          <p:nvPr/>
        </p:nvSpPr>
        <p:spPr>
          <a:xfrm>
            <a:off x="731520" y="1051560"/>
            <a:ext cx="10698480" cy="594360"/>
          </a:xfrm>
          <a:prstGeom prst="rect">
            <a:avLst/>
          </a:prstGeom>
          <a:noFill/>
        </p:spPr>
        <p:txBody>
          <a:bodyPr wrap="square" anchor="t">
            <a:spAutoFit/>
          </a:bodyPr>
          <a:lstStyle/>
          <a:p>
            <a:pPr algn="ctr">
              <a:defRPr sz="4000" b="1">
                <a:solidFill>
                  <a:srgbClr val="FFFFFF"/>
                </a:solidFill>
                <a:latin typeface="Aptos"/>
              </a:defRPr>
            </a:pPr>
            <a:r>
              <a:t>Questions?</a:t>
            </a:r>
          </a:p>
        </p:txBody>
      </p:sp>
      <p:sp>
        <p:nvSpPr>
          <p:cNvPr id="3" name="TextBox 2"/>
          <p:cNvSpPr txBox="1"/>
          <p:nvPr/>
        </p:nvSpPr>
        <p:spPr>
          <a:xfrm>
            <a:off x="1280160" y="1874519"/>
            <a:ext cx="9601200" cy="411480"/>
          </a:xfrm>
          <a:prstGeom prst="rect">
            <a:avLst/>
          </a:prstGeom>
          <a:noFill/>
        </p:spPr>
        <p:txBody>
          <a:bodyPr wrap="square" anchor="t">
            <a:spAutoFit/>
          </a:bodyPr>
          <a:lstStyle/>
          <a:p>
            <a:pPr algn="ctr">
              <a:defRPr sz="2300" b="1">
                <a:solidFill>
                  <a:srgbClr val="77DCD3"/>
                </a:solidFill>
                <a:latin typeface="Aptos"/>
              </a:defRPr>
            </a:pPr>
            <a:r>
              <a:t>Thank you</a:t>
            </a:r>
          </a:p>
        </p:txBody>
      </p:sp>
      <p:sp>
        <p:nvSpPr>
          <p:cNvPr id="4" name="TextBox 3"/>
          <p:cNvSpPr txBox="1"/>
          <p:nvPr/>
        </p:nvSpPr>
        <p:spPr>
          <a:xfrm>
            <a:off x="1005840" y="2880360"/>
            <a:ext cx="10149840" cy="365760"/>
          </a:xfrm>
          <a:prstGeom prst="rect">
            <a:avLst/>
          </a:prstGeom>
          <a:noFill/>
        </p:spPr>
        <p:txBody>
          <a:bodyPr wrap="square" anchor="t">
            <a:spAutoFit/>
          </a:bodyPr>
          <a:lstStyle/>
          <a:p>
            <a:pPr algn="ctr">
              <a:defRPr sz="1400" b="1">
                <a:solidFill>
                  <a:srgbClr val="FFFFFF"/>
                </a:solidFill>
                <a:latin typeface="Aptos"/>
              </a:defRPr>
            </a:pPr>
            <a:r>
              <a:t>Key references</a:t>
            </a:r>
          </a:p>
        </p:txBody>
      </p:sp>
      <p:sp>
        <p:nvSpPr>
          <p:cNvPr id="5" name="TextBox 4"/>
          <p:cNvSpPr txBox="1"/>
          <p:nvPr/>
        </p:nvSpPr>
        <p:spPr>
          <a:xfrm>
            <a:off x="1280160" y="3429000"/>
            <a:ext cx="9601200" cy="1554480"/>
          </a:xfrm>
          <a:prstGeom prst="rect">
            <a:avLst/>
          </a:prstGeom>
          <a:noFill/>
        </p:spPr>
        <p:txBody>
          <a:bodyPr wrap="square" anchor="t">
            <a:spAutoFit/>
          </a:bodyPr>
          <a:lstStyle/>
          <a:p>
            <a:pPr algn="ctr">
              <a:defRPr sz="1200" b="0">
                <a:solidFill>
                  <a:srgbClr val="C7DCE2"/>
                </a:solidFill>
                <a:latin typeface="Aptos"/>
              </a:defRPr>
            </a:pPr>
            <a:r>
              <a:t>OASIS Open. (2019). MQTT Version 5.0.</a:t>
            </a:r>
            <a:br/>
            <a:r>
              <a:t>Gubbi et al. (2013). Internet of Things: A vision, architectural elements, and future directions.</a:t>
            </a:r>
            <a:br/>
            <a:r>
              <a:t>Kodali and Mandal. (2016). IoT based weather station.</a:t>
            </a:r>
            <a:br/>
            <a:r>
              <a:t>Satyanarayanan. (2017). The emergence of edge computing.</a:t>
            </a:r>
          </a:p>
        </p:txBody>
      </p:sp>
      <p:sp>
        <p:nvSpPr>
          <p:cNvPr id="6" name="TextBox 5"/>
          <p:cNvSpPr txBox="1"/>
          <p:nvPr/>
        </p:nvSpPr>
        <p:spPr>
          <a:xfrm>
            <a:off x="1828800" y="5852160"/>
            <a:ext cx="8503920" cy="320040"/>
          </a:xfrm>
          <a:prstGeom prst="rect">
            <a:avLst/>
          </a:prstGeom>
          <a:noFill/>
        </p:spPr>
        <p:txBody>
          <a:bodyPr wrap="square" anchor="t">
            <a:spAutoFit/>
          </a:bodyPr>
          <a:lstStyle/>
          <a:p>
            <a:pPr algn="ctr">
              <a:defRPr sz="1300" b="1">
                <a:solidFill>
                  <a:srgbClr val="A6C5CF"/>
                </a:solidFill>
                <a:latin typeface="Aptos"/>
              </a:defRPr>
            </a:pPr>
            <a:r>
              <a:t>WeatherGrid · Distributed IoT Weather Monitoring 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WeatherGrid Final ICT304 Presentation</dc:title>
  <dc:subject>15-minute group presentation</dc:subject>
  <dc:creator>WeatherGrid Project Group</dc:creator>
  <cp:keywords>WeatherGrid, IoT, MQTT, distributed computing</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